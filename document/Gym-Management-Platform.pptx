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67" r:id="rId3"/>
    <p:sldId id="257" r:id="rId4"/>
    <p:sldId id="268" r:id="rId5"/>
    <p:sldId id="259" r:id="rId6"/>
    <p:sldId id="258" r:id="rId7"/>
    <p:sldId id="260" r:id="rId8"/>
    <p:sldId id="261" r:id="rId9"/>
    <p:sldId id="262" r:id="rId10"/>
    <p:sldId id="276" r:id="rId11"/>
    <p:sldId id="263" r:id="rId12"/>
    <p:sldId id="275" r:id="rId13"/>
    <p:sldId id="265" r:id="rId14"/>
  </p:sldIdLst>
  <p:sldSz cx="14630400" cy="8229600"/>
  <p:notesSz cx="8229600" cy="14630400"/>
  <p:embeddedFontLst>
    <p:embeddedFont>
      <p:font typeface="DM Sans" pitchFamily="2" charset="0"/>
      <p:regular r:id="rId16"/>
      <p:bold r:id="rId17"/>
      <p:italic r:id="rId18"/>
      <p:boldItalic r:id="rId19"/>
    </p:embeddedFont>
    <p:embeddedFont>
      <p:font typeface="DM Sans Bold" charset="0"/>
      <p:regular r:id="rId20"/>
    </p:embeddedFont>
    <p:embeddedFont>
      <p:font typeface="Instrument Sans Medium" panose="020B0604020202020204" charset="0"/>
      <p:regular r:id="rId21"/>
    </p:embeddedFont>
    <p:embeddedFont>
      <p:font typeface="Yekan Bakh FaNum" panose="00000500000000000000" pitchFamily="2" charset="-78"/>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1F1F"/>
    <a:srgbClr val="3E3E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rzin Hamzehi" userId="5bed7f29030a5825" providerId="LiveId" clId="{9F9EE36F-4DB8-4E83-A377-33176EB64D08}"/>
    <pc:docChg chg="modSld">
      <pc:chgData name="Farzin Hamzehi" userId="5bed7f29030a5825" providerId="LiveId" clId="{9F9EE36F-4DB8-4E83-A377-33176EB64D08}" dt="2025-09-07T05:43:02.959" v="36" actId="113"/>
      <pc:docMkLst>
        <pc:docMk/>
      </pc:docMkLst>
      <pc:sldChg chg="modAnim">
        <pc:chgData name="Farzin Hamzehi" userId="5bed7f29030a5825" providerId="LiveId" clId="{9F9EE36F-4DB8-4E83-A377-33176EB64D08}" dt="2025-09-07T01:30:26.658" v="4"/>
        <pc:sldMkLst>
          <pc:docMk/>
          <pc:sldMk cId="0" sldId="256"/>
        </pc:sldMkLst>
      </pc:sldChg>
      <pc:sldChg chg="modAnim">
        <pc:chgData name="Farzin Hamzehi" userId="5bed7f29030a5825" providerId="LiveId" clId="{9F9EE36F-4DB8-4E83-A377-33176EB64D08}" dt="2025-09-07T01:33:29.433" v="12"/>
        <pc:sldMkLst>
          <pc:docMk/>
          <pc:sldMk cId="0" sldId="257"/>
        </pc:sldMkLst>
      </pc:sldChg>
      <pc:sldChg chg="modAnim">
        <pc:chgData name="Farzin Hamzehi" userId="5bed7f29030a5825" providerId="LiveId" clId="{9F9EE36F-4DB8-4E83-A377-33176EB64D08}" dt="2025-09-07T01:34:05.228" v="16"/>
        <pc:sldMkLst>
          <pc:docMk/>
          <pc:sldMk cId="0" sldId="258"/>
        </pc:sldMkLst>
      </pc:sldChg>
      <pc:sldChg chg="modAnim">
        <pc:chgData name="Farzin Hamzehi" userId="5bed7f29030a5825" providerId="LiveId" clId="{9F9EE36F-4DB8-4E83-A377-33176EB64D08}" dt="2025-09-07T01:33:50.016" v="14"/>
        <pc:sldMkLst>
          <pc:docMk/>
          <pc:sldMk cId="3717134944" sldId="259"/>
        </pc:sldMkLst>
      </pc:sldChg>
      <pc:sldChg chg="modSp">
        <pc:chgData name="Farzin Hamzehi" userId="5bed7f29030a5825" providerId="LiveId" clId="{9F9EE36F-4DB8-4E83-A377-33176EB64D08}" dt="2025-09-07T05:41:23.595" v="35" actId="20577"/>
        <pc:sldMkLst>
          <pc:docMk/>
          <pc:sldMk cId="0" sldId="262"/>
        </pc:sldMkLst>
        <pc:spChg chg="mod">
          <ac:chgData name="Farzin Hamzehi" userId="5bed7f29030a5825" providerId="LiveId" clId="{9F9EE36F-4DB8-4E83-A377-33176EB64D08}" dt="2025-09-07T05:40:13.842" v="17" actId="20578"/>
          <ac:spMkLst>
            <pc:docMk/>
            <pc:sldMk cId="0" sldId="262"/>
            <ac:spMk id="9" creationId="{00000000-0000-0000-0000-000000000000}"/>
          </ac:spMkLst>
        </pc:spChg>
        <pc:spChg chg="mod">
          <ac:chgData name="Farzin Hamzehi" userId="5bed7f29030a5825" providerId="LiveId" clId="{9F9EE36F-4DB8-4E83-A377-33176EB64D08}" dt="2025-09-07T05:40:40.958" v="19" actId="20577"/>
          <ac:spMkLst>
            <pc:docMk/>
            <pc:sldMk cId="0" sldId="262"/>
            <ac:spMk id="14" creationId="{00000000-0000-0000-0000-000000000000}"/>
          </ac:spMkLst>
        </pc:spChg>
        <pc:spChg chg="mod">
          <ac:chgData name="Farzin Hamzehi" userId="5bed7f29030a5825" providerId="LiveId" clId="{9F9EE36F-4DB8-4E83-A377-33176EB64D08}" dt="2025-09-07T05:41:23.595" v="35" actId="20577"/>
          <ac:spMkLst>
            <pc:docMk/>
            <pc:sldMk cId="0" sldId="262"/>
            <ac:spMk id="15" creationId="{00000000-0000-0000-0000-000000000000}"/>
          </ac:spMkLst>
        </pc:spChg>
      </pc:sldChg>
      <pc:sldChg chg="modAnim">
        <pc:chgData name="Farzin Hamzehi" userId="5bed7f29030a5825" providerId="LiveId" clId="{9F9EE36F-4DB8-4E83-A377-33176EB64D08}" dt="2025-09-07T01:33:19.615" v="11"/>
        <pc:sldMkLst>
          <pc:docMk/>
          <pc:sldMk cId="3340498059" sldId="267"/>
        </pc:sldMkLst>
      </pc:sldChg>
      <pc:sldChg chg="modAnim">
        <pc:chgData name="Farzin Hamzehi" userId="5bed7f29030a5825" providerId="LiveId" clId="{9F9EE36F-4DB8-4E83-A377-33176EB64D08}" dt="2025-09-07T01:33:37.394" v="13"/>
        <pc:sldMkLst>
          <pc:docMk/>
          <pc:sldMk cId="185962084" sldId="268"/>
        </pc:sldMkLst>
      </pc:sldChg>
      <pc:sldChg chg="delSp modSp mod">
        <pc:chgData name="Farzin Hamzehi" userId="5bed7f29030a5825" providerId="LiveId" clId="{9F9EE36F-4DB8-4E83-A377-33176EB64D08}" dt="2025-09-07T05:43:02.959" v="36" actId="113"/>
        <pc:sldMkLst>
          <pc:docMk/>
          <pc:sldMk cId="274186851" sldId="275"/>
        </pc:sldMkLst>
        <pc:spChg chg="del mod">
          <ac:chgData name="Farzin Hamzehi" userId="5bed7f29030a5825" providerId="LiveId" clId="{9F9EE36F-4DB8-4E83-A377-33176EB64D08}" dt="2025-09-07T01:29:47.526" v="3"/>
          <ac:spMkLst>
            <pc:docMk/>
            <pc:sldMk cId="274186851" sldId="275"/>
            <ac:spMk id="83" creationId="{C4EA12E4-39BF-4975-BE71-C753CB220B2B}"/>
          </ac:spMkLst>
        </pc:spChg>
        <pc:spChg chg="mod">
          <ac:chgData name="Farzin Hamzehi" userId="5bed7f29030a5825" providerId="LiveId" clId="{9F9EE36F-4DB8-4E83-A377-33176EB64D08}" dt="2025-09-07T05:43:02.959" v="36" actId="113"/>
          <ac:spMkLst>
            <pc:docMk/>
            <pc:sldMk cId="274186851" sldId="275"/>
            <ac:spMk id="277" creationId="{72FBACA0-47D5-7FC7-D210-97390E00375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9667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6A4F96-B4DB-4A0E-BD08-306BDED4B3A6}" type="slidenum">
              <a:rPr lang="en-US" smtClean="0"/>
              <a:t>4</a:t>
            </a:fld>
            <a:endParaRPr lang="en-US"/>
          </a:p>
        </p:txBody>
      </p:sp>
    </p:spTree>
    <p:extLst>
      <p:ext uri="{BB962C8B-B14F-4D97-AF65-F5344CB8AC3E}">
        <p14:creationId xmlns:p14="http://schemas.microsoft.com/office/powerpoint/2010/main" val="786779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1D2D55-8AA3-45AB-A43B-5930455A4774}" type="datetimeFigureOut">
              <a:rPr lang="en-US" smtClean="0"/>
              <a:t>9/7/2025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71CAB4-9708-4980-A69F-CEDCC77C58B5}" type="slidenum">
              <a:rPr lang="en-US" smtClean="0"/>
              <a:t>‹#›</a:t>
            </a:fld>
            <a:endParaRPr lang="en-US"/>
          </a:p>
        </p:txBody>
      </p:sp>
    </p:spTree>
    <p:extLst>
      <p:ext uri="{BB962C8B-B14F-4D97-AF65-F5344CB8AC3E}">
        <p14:creationId xmlns:p14="http://schemas.microsoft.com/office/powerpoint/2010/main" val="24144085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9769558"/>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svg"/><Relationship Id="rId18" Type="http://schemas.openxmlformats.org/officeDocument/2006/relationships/image" Target="../media/image39.png"/><Relationship Id="rId3" Type="http://schemas.openxmlformats.org/officeDocument/2006/relationships/image" Target="../media/image24.svg"/><Relationship Id="rId7" Type="http://schemas.openxmlformats.org/officeDocument/2006/relationships/image" Target="../media/image28.svg"/><Relationship Id="rId12" Type="http://schemas.openxmlformats.org/officeDocument/2006/relationships/image" Target="../media/image33.png"/><Relationship Id="rId17" Type="http://schemas.openxmlformats.org/officeDocument/2006/relationships/image" Target="../media/image38.svg"/><Relationship Id="rId2" Type="http://schemas.openxmlformats.org/officeDocument/2006/relationships/image" Target="../media/image23.png"/><Relationship Id="rId16" Type="http://schemas.openxmlformats.org/officeDocument/2006/relationships/image" Target="../media/image37.png"/><Relationship Id="rId1" Type="http://schemas.openxmlformats.org/officeDocument/2006/relationships/slideLayout" Target="../slideLayouts/slideLayout13.xml"/><Relationship Id="rId6" Type="http://schemas.openxmlformats.org/officeDocument/2006/relationships/image" Target="../media/image27.png"/><Relationship Id="rId11" Type="http://schemas.openxmlformats.org/officeDocument/2006/relationships/image" Target="../media/image32.svg"/><Relationship Id="rId5" Type="http://schemas.openxmlformats.org/officeDocument/2006/relationships/image" Target="../media/image26.svg"/><Relationship Id="rId15" Type="http://schemas.openxmlformats.org/officeDocument/2006/relationships/image" Target="../media/image36.svg"/><Relationship Id="rId10" Type="http://schemas.openxmlformats.org/officeDocument/2006/relationships/image" Target="../media/image31.png"/><Relationship Id="rId19" Type="http://schemas.openxmlformats.org/officeDocument/2006/relationships/image" Target="../media/image40.svg"/><Relationship Id="rId4" Type="http://schemas.openxmlformats.org/officeDocument/2006/relationships/image" Target="../media/image25.png"/><Relationship Id="rId9" Type="http://schemas.openxmlformats.org/officeDocument/2006/relationships/image" Target="../media/image30.svg"/><Relationship Id="rId1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41.jpeg"/><Relationship Id="rId7" Type="http://schemas.openxmlformats.org/officeDocument/2006/relationships/image" Target="../media/image4.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3.png"/><Relationship Id="rId5" Type="http://schemas.openxmlformats.org/officeDocument/2006/relationships/image" Target="../media/image43.sv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3" name="Text 0"/>
          <p:cNvSpPr/>
          <p:nvPr/>
        </p:nvSpPr>
        <p:spPr>
          <a:xfrm>
            <a:off x="6280190" y="3497104"/>
            <a:ext cx="6424493" cy="620078"/>
          </a:xfrm>
          <a:prstGeom prst="rect">
            <a:avLst/>
          </a:prstGeom>
          <a:noFill/>
          <a:ln/>
        </p:spPr>
        <p:txBody>
          <a:bodyPr wrap="none" lIns="0" tIns="0" rIns="0" bIns="0" rtlCol="0" anchor="t"/>
          <a:lstStyle/>
          <a:p>
            <a:pPr marL="0" indent="0" algn="l">
              <a:lnSpc>
                <a:spcPts val="4850"/>
              </a:lnSpc>
              <a:buNone/>
            </a:pPr>
            <a:endParaRPr lang="en-US" sz="3900" dirty="0"/>
          </a:p>
        </p:txBody>
      </p:sp>
      <p:pic>
        <p:nvPicPr>
          <p:cNvPr id="5" name="Picture 2" descr="a gym with a row of exercise machines">
            <a:extLst>
              <a:ext uri="{FF2B5EF4-FFF2-40B4-BE49-F238E27FC236}">
                <a16:creationId xmlns:a16="http://schemas.microsoft.com/office/drawing/2014/main" id="{22AD444F-935B-E1A1-F0D5-D54DC307B4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2382"/>
            <a:ext cx="6146525" cy="8229600"/>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6" name="Graphic 5">
            <a:extLst>
              <a:ext uri="{FF2B5EF4-FFF2-40B4-BE49-F238E27FC236}">
                <a16:creationId xmlns:a16="http://schemas.microsoft.com/office/drawing/2014/main" id="{76582F1F-E47C-C0B2-E7D8-B30B4122600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369299" y="538677"/>
            <a:ext cx="914400" cy="914400"/>
          </a:xfrm>
          <a:prstGeom prst="rect">
            <a:avLst/>
          </a:prstGeom>
        </p:spPr>
      </p:pic>
      <p:sp>
        <p:nvSpPr>
          <p:cNvPr id="7" name="TextBox 6">
            <a:extLst>
              <a:ext uri="{FF2B5EF4-FFF2-40B4-BE49-F238E27FC236}">
                <a16:creationId xmlns:a16="http://schemas.microsoft.com/office/drawing/2014/main" id="{CA157588-F97F-E2C5-4514-EC0B02726BBE}"/>
              </a:ext>
            </a:extLst>
          </p:cNvPr>
          <p:cNvSpPr txBox="1"/>
          <p:nvPr/>
        </p:nvSpPr>
        <p:spPr>
          <a:xfrm>
            <a:off x="10917185" y="470637"/>
            <a:ext cx="2677336" cy="769441"/>
          </a:xfrm>
          <a:prstGeom prst="rect">
            <a:avLst/>
          </a:prstGeom>
          <a:noFill/>
        </p:spPr>
        <p:txBody>
          <a:bodyPr wrap="none" rtlCol="0">
            <a:spAutoFit/>
          </a:bodyPr>
          <a:lstStyle/>
          <a:p>
            <a:pPr algn="r" rtl="1"/>
            <a:r>
              <a:rPr lang="fa-IR" sz="4400" b="1" dirty="0">
                <a:solidFill>
                  <a:srgbClr val="FFFF00"/>
                </a:solidFill>
                <a:effectLst>
                  <a:outerShdw blurRad="38100" dist="38100" dir="2700000" algn="tl">
                    <a:srgbClr val="000000">
                      <a:alpha val="43137"/>
                    </a:srgbClr>
                  </a:outerShdw>
                </a:effectLst>
                <a:latin typeface="Yekan Bakh FaNum" panose="00000500000000000000" pitchFamily="2" charset="-78"/>
                <a:cs typeface="Yekan Bakh FaNum" panose="00000500000000000000" pitchFamily="2" charset="-78"/>
              </a:rPr>
              <a:t> باشگاه یار</a:t>
            </a:r>
            <a:endParaRPr lang="en-US" sz="4400" b="1" dirty="0">
              <a:solidFill>
                <a:srgbClr val="FFFF00"/>
              </a:solidFill>
              <a:effectLst>
                <a:outerShdw blurRad="38100" dist="38100" dir="2700000" algn="tl">
                  <a:srgbClr val="000000">
                    <a:alpha val="43137"/>
                  </a:srgbClr>
                </a:outerShdw>
              </a:effectLst>
              <a:latin typeface="Yekan Bakh FaNum" panose="00000500000000000000" pitchFamily="2" charset="-78"/>
              <a:cs typeface="Yekan Bakh FaNum" panose="00000500000000000000" pitchFamily="2" charset="-78"/>
            </a:endParaRPr>
          </a:p>
        </p:txBody>
      </p:sp>
      <p:sp>
        <p:nvSpPr>
          <p:cNvPr id="8" name="TextBox 7">
            <a:extLst>
              <a:ext uri="{FF2B5EF4-FFF2-40B4-BE49-F238E27FC236}">
                <a16:creationId xmlns:a16="http://schemas.microsoft.com/office/drawing/2014/main" id="{0501A8C9-A820-6FA4-A10D-83F20FB9A54D}"/>
              </a:ext>
            </a:extLst>
          </p:cNvPr>
          <p:cNvSpPr txBox="1"/>
          <p:nvPr/>
        </p:nvSpPr>
        <p:spPr>
          <a:xfrm>
            <a:off x="11142407" y="1175397"/>
            <a:ext cx="2226892" cy="276999"/>
          </a:xfrm>
          <a:prstGeom prst="rect">
            <a:avLst/>
          </a:prstGeom>
          <a:noFill/>
        </p:spPr>
        <p:txBody>
          <a:bodyPr wrap="none" rtlCol="0">
            <a:spAutoFit/>
          </a:bodyPr>
          <a:lstStyle/>
          <a:p>
            <a:r>
              <a:rPr lang="fa-IR" sz="1200" dirty="0">
                <a:solidFill>
                  <a:srgbClr val="FFFF00"/>
                </a:solidFill>
                <a:latin typeface="Yekan Bakh FaNum" panose="00000500000000000000" pitchFamily="2" charset="-78"/>
                <a:cs typeface="Yekan Bakh FaNum" panose="00000500000000000000" pitchFamily="2" charset="-78"/>
              </a:rPr>
              <a:t>باشگاه هوشمند؛ همیشه آنلاین</a:t>
            </a:r>
            <a:endParaRPr lang="en-US" sz="1200" dirty="0">
              <a:solidFill>
                <a:srgbClr val="FFFF00"/>
              </a:solidFill>
              <a:latin typeface="Yekan Bakh FaNum" panose="00000500000000000000" pitchFamily="2" charset="-78"/>
              <a:cs typeface="Yekan Bakh FaNum" panose="00000500000000000000" pitchFamily="2" charset="-78"/>
            </a:endParaRPr>
          </a:p>
        </p:txBody>
      </p:sp>
      <p:sp>
        <p:nvSpPr>
          <p:cNvPr id="9" name="TextBox 8">
            <a:extLst>
              <a:ext uri="{FF2B5EF4-FFF2-40B4-BE49-F238E27FC236}">
                <a16:creationId xmlns:a16="http://schemas.microsoft.com/office/drawing/2014/main" id="{676900B1-D014-8B0D-7493-B7364D2DA984}"/>
              </a:ext>
            </a:extLst>
          </p:cNvPr>
          <p:cNvSpPr txBox="1"/>
          <p:nvPr/>
        </p:nvSpPr>
        <p:spPr>
          <a:xfrm>
            <a:off x="9492436" y="3846187"/>
            <a:ext cx="4560630" cy="646331"/>
          </a:xfrm>
          <a:prstGeom prst="rect">
            <a:avLst/>
          </a:prstGeom>
          <a:noFill/>
        </p:spPr>
        <p:txBody>
          <a:bodyPr wrap="square">
            <a:spAutoFit/>
          </a:bodyPr>
          <a:lstStyle/>
          <a:p>
            <a:pPr algn="r" rtl="1"/>
            <a:r>
              <a:rPr lang="fa-IR" sz="3600" b="1" dirty="0">
                <a:solidFill>
                  <a:srgbClr val="FFFF00"/>
                </a:solidFill>
                <a:latin typeface="Yekan Bakh FaNum" panose="00000500000000000000" pitchFamily="2" charset="-78"/>
                <a:cs typeface="Yekan Bakh FaNum" panose="00000500000000000000" pitchFamily="2" charset="-78"/>
              </a:rPr>
              <a:t>مدیریت باشگاه</a:t>
            </a:r>
            <a:endParaRPr lang="en-US" sz="3600" b="1" dirty="0">
              <a:solidFill>
                <a:srgbClr val="FFFF00"/>
              </a:solidFill>
              <a:latin typeface="Yekan Bakh FaNum" panose="00000500000000000000" pitchFamily="2" charset="-78"/>
              <a:cs typeface="Yekan Bakh FaNum" panose="00000500000000000000" pitchFamily="2" charset="-78"/>
            </a:endParaRPr>
          </a:p>
        </p:txBody>
      </p:sp>
      <p:sp>
        <p:nvSpPr>
          <p:cNvPr id="10" name="TextBox 9">
            <a:extLst>
              <a:ext uri="{FF2B5EF4-FFF2-40B4-BE49-F238E27FC236}">
                <a16:creationId xmlns:a16="http://schemas.microsoft.com/office/drawing/2014/main" id="{F4115B7A-066B-0954-0668-0CC6AB7EB5F8}"/>
              </a:ext>
            </a:extLst>
          </p:cNvPr>
          <p:cNvSpPr txBox="1"/>
          <p:nvPr/>
        </p:nvSpPr>
        <p:spPr>
          <a:xfrm>
            <a:off x="8544552" y="2922857"/>
            <a:ext cx="5642179" cy="923330"/>
          </a:xfrm>
          <a:prstGeom prst="rect">
            <a:avLst/>
          </a:prstGeom>
          <a:noFill/>
        </p:spPr>
        <p:txBody>
          <a:bodyPr wrap="square">
            <a:spAutoFit/>
          </a:bodyPr>
          <a:lstStyle/>
          <a:p>
            <a:pPr algn="r" rtl="1"/>
            <a:r>
              <a:rPr lang="fa-IR" sz="5400" b="1" dirty="0">
                <a:solidFill>
                  <a:srgbClr val="FFFF00"/>
                </a:solidFill>
                <a:latin typeface="Yekan Bakh FaNum" panose="00000500000000000000" pitchFamily="2" charset="-78"/>
                <a:cs typeface="Yekan Bakh FaNum" panose="00000500000000000000" pitchFamily="2" charset="-78"/>
              </a:rPr>
              <a:t>پلتفرم هوشمند</a:t>
            </a:r>
            <a:endParaRPr lang="en-US" sz="5400" b="1" dirty="0">
              <a:solidFill>
                <a:srgbClr val="FFFF00"/>
              </a:solidFill>
              <a:latin typeface="Yekan Bakh FaNum" panose="00000500000000000000" pitchFamily="2" charset="-78"/>
              <a:cs typeface="Yekan Bakh FaNum" panose="00000500000000000000" pitchFamily="2"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2" presetClass="entr" presetSubtype="8"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F1F1F"/>
        </a:solidFill>
        <a:effectLst/>
      </p:bgPr>
    </p:bg>
    <p:spTree>
      <p:nvGrpSpPr>
        <p:cNvPr id="1" name=""/>
        <p:cNvGrpSpPr/>
        <p:nvPr/>
      </p:nvGrpSpPr>
      <p:grpSpPr>
        <a:xfrm>
          <a:off x="0" y="0"/>
          <a:ext cx="0" cy="0"/>
          <a:chOff x="0" y="0"/>
          <a:chExt cx="0" cy="0"/>
        </a:xfrm>
      </p:grpSpPr>
      <p:sp>
        <p:nvSpPr>
          <p:cNvPr id="15" name="Freeform 15"/>
          <p:cNvSpPr/>
          <p:nvPr/>
        </p:nvSpPr>
        <p:spPr>
          <a:xfrm>
            <a:off x="943899" y="645979"/>
            <a:ext cx="5875756" cy="6937642"/>
          </a:xfrm>
          <a:custGeom>
            <a:avLst/>
            <a:gdLst/>
            <a:ahLst/>
            <a:cxnLst/>
            <a:rect l="l" t="t" r="r" b="b"/>
            <a:pathLst>
              <a:path w="5499100" h="6350000">
                <a:moveTo>
                  <a:pt x="2749550" y="6350000"/>
                </a:moveTo>
                <a:lnTo>
                  <a:pt x="0" y="4762500"/>
                </a:lnTo>
                <a:lnTo>
                  <a:pt x="0" y="1587500"/>
                </a:lnTo>
                <a:lnTo>
                  <a:pt x="2749550" y="0"/>
                </a:lnTo>
                <a:lnTo>
                  <a:pt x="5499100" y="1587500"/>
                </a:lnTo>
                <a:lnTo>
                  <a:pt x="5499100" y="4762500"/>
                </a:lnTo>
                <a:lnTo>
                  <a:pt x="2749550" y="6350000"/>
                </a:lnTo>
                <a:close/>
              </a:path>
            </a:pathLst>
          </a:custGeom>
          <a:blipFill dpi="0" rotWithShape="1">
            <a:blip r:embed="rId2"/>
            <a:srcRect/>
            <a:tile tx="0" ty="0" sx="100000" sy="100000" flip="none" algn="tl"/>
          </a:blipFill>
          <a:ln w="12700">
            <a:solidFill>
              <a:srgbClr val="000000"/>
            </a:solidFill>
          </a:ln>
        </p:spPr>
        <p:txBody>
          <a:bodyPr/>
          <a:lstStyle/>
          <a:p>
            <a:endParaRPr lang="en-US" sz="2160" dirty="0"/>
          </a:p>
        </p:txBody>
      </p:sp>
      <p:sp>
        <p:nvSpPr>
          <p:cNvPr id="8" name="TextBox 7">
            <a:extLst>
              <a:ext uri="{FF2B5EF4-FFF2-40B4-BE49-F238E27FC236}">
                <a16:creationId xmlns:a16="http://schemas.microsoft.com/office/drawing/2014/main" id="{F53F81B6-E7CB-A9F1-6885-4DF490F58E66}"/>
              </a:ext>
            </a:extLst>
          </p:cNvPr>
          <p:cNvSpPr txBox="1"/>
          <p:nvPr/>
        </p:nvSpPr>
        <p:spPr>
          <a:xfrm>
            <a:off x="9353652" y="814112"/>
            <a:ext cx="2751074" cy="904863"/>
          </a:xfrm>
          <a:prstGeom prst="rect">
            <a:avLst/>
          </a:prstGeom>
          <a:noFill/>
        </p:spPr>
        <p:txBody>
          <a:bodyPr wrap="none" rtlCol="0">
            <a:spAutoFit/>
          </a:bodyPr>
          <a:lstStyle/>
          <a:p>
            <a:r>
              <a:rPr lang="fa-IR" sz="5280" b="1" dirty="0">
                <a:solidFill>
                  <a:srgbClr val="FFFF00"/>
                </a:solidFill>
                <a:latin typeface="Yekan Bakh FaNum" panose="00000500000000000000" pitchFamily="2" charset="-78"/>
                <a:ea typeface="Now Bold"/>
                <a:cs typeface="Yekan Bakh FaNum" panose="00000500000000000000" pitchFamily="2" charset="-78"/>
                <a:sym typeface="Now Bold"/>
              </a:rPr>
              <a:t>نمای کلی</a:t>
            </a:r>
            <a:endParaRPr lang="en-US" sz="5280" b="1" dirty="0">
              <a:solidFill>
                <a:srgbClr val="FFFF00"/>
              </a:solidFill>
              <a:latin typeface="Yekan Bakh FaNum" panose="00000500000000000000" pitchFamily="2" charset="-78"/>
              <a:ea typeface="Now Bold"/>
              <a:cs typeface="Yekan Bakh FaNum" panose="00000500000000000000" pitchFamily="2" charset="-78"/>
              <a:sym typeface="Now Bold"/>
            </a:endParaRPr>
          </a:p>
        </p:txBody>
      </p:sp>
      <p:sp>
        <p:nvSpPr>
          <p:cNvPr id="14" name="TextBox 4">
            <a:extLst>
              <a:ext uri="{FF2B5EF4-FFF2-40B4-BE49-F238E27FC236}">
                <a16:creationId xmlns:a16="http://schemas.microsoft.com/office/drawing/2014/main" id="{EE0D0124-5B9B-E312-2C8D-8DE22ED6415C}"/>
              </a:ext>
            </a:extLst>
          </p:cNvPr>
          <p:cNvSpPr txBox="1"/>
          <p:nvPr/>
        </p:nvSpPr>
        <p:spPr>
          <a:xfrm>
            <a:off x="7315201" y="1893308"/>
            <a:ext cx="3135673" cy="2848265"/>
          </a:xfrm>
          <a:prstGeom prst="rect">
            <a:avLst/>
          </a:prstGeom>
        </p:spPr>
        <p:txBody>
          <a:bodyPr lIns="60960" tIns="60960" rIns="60960" bIns="60960" rtlCol="0" anchor="ctr"/>
          <a:lstStyle/>
          <a:p>
            <a:pPr algn="ctr">
              <a:lnSpc>
                <a:spcPts val="4180"/>
              </a:lnSpc>
            </a:pPr>
            <a:endParaRPr sz="2160"/>
          </a:p>
        </p:txBody>
      </p:sp>
      <p:sp>
        <p:nvSpPr>
          <p:cNvPr id="16" name="Freeform 3">
            <a:extLst>
              <a:ext uri="{FF2B5EF4-FFF2-40B4-BE49-F238E27FC236}">
                <a16:creationId xmlns:a16="http://schemas.microsoft.com/office/drawing/2014/main" id="{9E68899C-1AA3-E00F-6081-7951F1E516CF}"/>
              </a:ext>
            </a:extLst>
          </p:cNvPr>
          <p:cNvSpPr/>
          <p:nvPr/>
        </p:nvSpPr>
        <p:spPr>
          <a:xfrm>
            <a:off x="7409650" y="2049152"/>
            <a:ext cx="1944002" cy="1879818"/>
          </a:xfrm>
          <a:custGeom>
            <a:avLst/>
            <a:gdLst/>
            <a:ahLst/>
            <a:cxnLst/>
            <a:rect l="l" t="t" r="r" b="b"/>
            <a:pathLst>
              <a:path w="991873" h="862860">
                <a:moveTo>
                  <a:pt x="0" y="0"/>
                </a:moveTo>
                <a:lnTo>
                  <a:pt x="991873" y="0"/>
                </a:lnTo>
                <a:lnTo>
                  <a:pt x="991873" y="862860"/>
                </a:lnTo>
                <a:lnTo>
                  <a:pt x="0" y="862860"/>
                </a:lnTo>
                <a:close/>
              </a:path>
            </a:pathLst>
          </a:custGeom>
          <a:noFill/>
          <a:ln w="9525" cap="sq">
            <a:solidFill>
              <a:srgbClr val="FFFF00"/>
            </a:solidFill>
            <a:prstDash val="solid"/>
            <a:miter/>
          </a:ln>
        </p:spPr>
      </p:sp>
      <p:sp>
        <p:nvSpPr>
          <p:cNvPr id="17" name="Freeform 3">
            <a:extLst>
              <a:ext uri="{FF2B5EF4-FFF2-40B4-BE49-F238E27FC236}">
                <a16:creationId xmlns:a16="http://schemas.microsoft.com/office/drawing/2014/main" id="{C94F82D9-5974-3348-5266-5BF627AD91EB}"/>
              </a:ext>
            </a:extLst>
          </p:cNvPr>
          <p:cNvSpPr/>
          <p:nvPr/>
        </p:nvSpPr>
        <p:spPr>
          <a:xfrm>
            <a:off x="9573322" y="2049152"/>
            <a:ext cx="1944002" cy="1879818"/>
          </a:xfrm>
          <a:custGeom>
            <a:avLst/>
            <a:gdLst/>
            <a:ahLst/>
            <a:cxnLst/>
            <a:rect l="l" t="t" r="r" b="b"/>
            <a:pathLst>
              <a:path w="991873" h="862860">
                <a:moveTo>
                  <a:pt x="0" y="0"/>
                </a:moveTo>
                <a:lnTo>
                  <a:pt x="991873" y="0"/>
                </a:lnTo>
                <a:lnTo>
                  <a:pt x="991873" y="862860"/>
                </a:lnTo>
                <a:lnTo>
                  <a:pt x="0" y="862860"/>
                </a:lnTo>
                <a:close/>
              </a:path>
            </a:pathLst>
          </a:custGeom>
          <a:noFill/>
          <a:ln w="9525" cap="sq">
            <a:solidFill>
              <a:srgbClr val="FFFF00"/>
            </a:solidFill>
            <a:prstDash val="solid"/>
            <a:miter/>
          </a:ln>
        </p:spPr>
      </p:sp>
      <p:sp>
        <p:nvSpPr>
          <p:cNvPr id="18" name="Freeform 3">
            <a:extLst>
              <a:ext uri="{FF2B5EF4-FFF2-40B4-BE49-F238E27FC236}">
                <a16:creationId xmlns:a16="http://schemas.microsoft.com/office/drawing/2014/main" id="{F5A8110C-7C24-7A0D-6C61-C4BE1DA0609D}"/>
              </a:ext>
            </a:extLst>
          </p:cNvPr>
          <p:cNvSpPr/>
          <p:nvPr/>
        </p:nvSpPr>
        <p:spPr>
          <a:xfrm>
            <a:off x="9573322" y="4207967"/>
            <a:ext cx="1944002" cy="1879818"/>
          </a:xfrm>
          <a:custGeom>
            <a:avLst/>
            <a:gdLst/>
            <a:ahLst/>
            <a:cxnLst/>
            <a:rect l="l" t="t" r="r" b="b"/>
            <a:pathLst>
              <a:path w="991873" h="862860">
                <a:moveTo>
                  <a:pt x="0" y="0"/>
                </a:moveTo>
                <a:lnTo>
                  <a:pt x="991873" y="0"/>
                </a:lnTo>
                <a:lnTo>
                  <a:pt x="991873" y="862860"/>
                </a:lnTo>
                <a:lnTo>
                  <a:pt x="0" y="862860"/>
                </a:lnTo>
                <a:close/>
              </a:path>
            </a:pathLst>
          </a:custGeom>
          <a:noFill/>
          <a:ln w="9525" cap="sq">
            <a:solidFill>
              <a:srgbClr val="FFFF00"/>
            </a:solidFill>
            <a:prstDash val="solid"/>
            <a:miter/>
          </a:ln>
        </p:spPr>
      </p:sp>
      <p:sp>
        <p:nvSpPr>
          <p:cNvPr id="19" name="Freeform 3">
            <a:extLst>
              <a:ext uri="{FF2B5EF4-FFF2-40B4-BE49-F238E27FC236}">
                <a16:creationId xmlns:a16="http://schemas.microsoft.com/office/drawing/2014/main" id="{6AF5B9E7-C752-7323-F324-DD103770724D}"/>
              </a:ext>
            </a:extLst>
          </p:cNvPr>
          <p:cNvSpPr/>
          <p:nvPr/>
        </p:nvSpPr>
        <p:spPr>
          <a:xfrm>
            <a:off x="11742499" y="4207966"/>
            <a:ext cx="1944002" cy="1879818"/>
          </a:xfrm>
          <a:custGeom>
            <a:avLst/>
            <a:gdLst/>
            <a:ahLst/>
            <a:cxnLst/>
            <a:rect l="l" t="t" r="r" b="b"/>
            <a:pathLst>
              <a:path w="991873" h="862860">
                <a:moveTo>
                  <a:pt x="0" y="0"/>
                </a:moveTo>
                <a:lnTo>
                  <a:pt x="991873" y="0"/>
                </a:lnTo>
                <a:lnTo>
                  <a:pt x="991873" y="862860"/>
                </a:lnTo>
                <a:lnTo>
                  <a:pt x="0" y="862860"/>
                </a:lnTo>
                <a:close/>
              </a:path>
            </a:pathLst>
          </a:custGeom>
          <a:noFill/>
          <a:ln w="9525" cap="sq">
            <a:solidFill>
              <a:srgbClr val="FFFF00"/>
            </a:solidFill>
            <a:prstDash val="solid"/>
            <a:miter/>
          </a:ln>
        </p:spPr>
      </p:sp>
      <p:sp>
        <p:nvSpPr>
          <p:cNvPr id="27" name="TextBox 26">
            <a:extLst>
              <a:ext uri="{FF2B5EF4-FFF2-40B4-BE49-F238E27FC236}">
                <a16:creationId xmlns:a16="http://schemas.microsoft.com/office/drawing/2014/main" id="{11C4B173-4D89-5D6B-A8A9-76447522C5B4}"/>
              </a:ext>
            </a:extLst>
          </p:cNvPr>
          <p:cNvSpPr txBox="1"/>
          <p:nvPr/>
        </p:nvSpPr>
        <p:spPr>
          <a:xfrm>
            <a:off x="8063341" y="2310265"/>
            <a:ext cx="766460" cy="609398"/>
          </a:xfrm>
          <a:prstGeom prst="rect">
            <a:avLst/>
          </a:prstGeom>
          <a:noFill/>
        </p:spPr>
        <p:txBody>
          <a:bodyPr wrap="square">
            <a:spAutoFit/>
          </a:bodyPr>
          <a:lstStyle/>
          <a:p>
            <a:r>
              <a:rPr lang="en-US" sz="3360" b="1" dirty="0">
                <a:solidFill>
                  <a:srgbClr val="FFFFFF"/>
                </a:solidFill>
                <a:latin typeface="DM Sans Bold"/>
                <a:ea typeface="DM Sans Bold"/>
                <a:cs typeface="DM Sans Bold"/>
                <a:sym typeface="DM Sans Bold"/>
              </a:rPr>
              <a:t>0</a:t>
            </a:r>
            <a:r>
              <a:rPr lang="fa-IR" sz="3360" b="1" dirty="0">
                <a:solidFill>
                  <a:srgbClr val="FFFFFF"/>
                </a:solidFill>
                <a:latin typeface="DM Sans Bold"/>
                <a:ea typeface="DM Sans Bold"/>
                <a:cs typeface="DM Sans Bold"/>
                <a:sym typeface="DM Sans Bold"/>
              </a:rPr>
              <a:t>1</a:t>
            </a:r>
            <a:endParaRPr lang="en-US" sz="3360" dirty="0"/>
          </a:p>
        </p:txBody>
      </p:sp>
      <p:sp>
        <p:nvSpPr>
          <p:cNvPr id="28" name="TextBox 27">
            <a:extLst>
              <a:ext uri="{FF2B5EF4-FFF2-40B4-BE49-F238E27FC236}">
                <a16:creationId xmlns:a16="http://schemas.microsoft.com/office/drawing/2014/main" id="{CD6CA758-372F-9C4C-44BD-29B207AF02FC}"/>
              </a:ext>
            </a:extLst>
          </p:cNvPr>
          <p:cNvSpPr txBox="1"/>
          <p:nvPr/>
        </p:nvSpPr>
        <p:spPr>
          <a:xfrm>
            <a:off x="10025112" y="2310265"/>
            <a:ext cx="851522" cy="609398"/>
          </a:xfrm>
          <a:prstGeom prst="rect">
            <a:avLst/>
          </a:prstGeom>
          <a:noFill/>
        </p:spPr>
        <p:txBody>
          <a:bodyPr wrap="square">
            <a:spAutoFit/>
          </a:bodyPr>
          <a:lstStyle/>
          <a:p>
            <a:r>
              <a:rPr lang="en-US" sz="3360" b="1" dirty="0">
                <a:solidFill>
                  <a:srgbClr val="FFFFFF"/>
                </a:solidFill>
                <a:latin typeface="DM Sans Bold"/>
                <a:ea typeface="DM Sans Bold"/>
                <a:cs typeface="DM Sans Bold"/>
                <a:sym typeface="DM Sans Bold"/>
              </a:rPr>
              <a:t>0</a:t>
            </a:r>
            <a:r>
              <a:rPr lang="fa-IR" sz="3360" b="1" dirty="0">
                <a:solidFill>
                  <a:srgbClr val="FFFFFF"/>
                </a:solidFill>
                <a:latin typeface="DM Sans Bold"/>
                <a:ea typeface="DM Sans Bold"/>
                <a:cs typeface="DM Sans Bold"/>
                <a:sym typeface="DM Sans Bold"/>
              </a:rPr>
              <a:t>2</a:t>
            </a:r>
            <a:endParaRPr lang="en-US" sz="3360" dirty="0"/>
          </a:p>
        </p:txBody>
      </p:sp>
      <p:sp>
        <p:nvSpPr>
          <p:cNvPr id="29" name="TextBox 28">
            <a:extLst>
              <a:ext uri="{FF2B5EF4-FFF2-40B4-BE49-F238E27FC236}">
                <a16:creationId xmlns:a16="http://schemas.microsoft.com/office/drawing/2014/main" id="{0689B484-E8CD-5362-2D2D-882D59A0295C}"/>
              </a:ext>
            </a:extLst>
          </p:cNvPr>
          <p:cNvSpPr txBox="1"/>
          <p:nvPr/>
        </p:nvSpPr>
        <p:spPr>
          <a:xfrm>
            <a:off x="10025113" y="4392707"/>
            <a:ext cx="809495" cy="609398"/>
          </a:xfrm>
          <a:prstGeom prst="rect">
            <a:avLst/>
          </a:prstGeom>
          <a:noFill/>
        </p:spPr>
        <p:txBody>
          <a:bodyPr wrap="square">
            <a:spAutoFit/>
          </a:bodyPr>
          <a:lstStyle/>
          <a:p>
            <a:r>
              <a:rPr lang="en-US" sz="3360" b="1" dirty="0">
                <a:solidFill>
                  <a:srgbClr val="FFFFFF"/>
                </a:solidFill>
                <a:latin typeface="DM Sans Bold"/>
                <a:ea typeface="DM Sans Bold"/>
                <a:cs typeface="DM Sans Bold"/>
                <a:sym typeface="DM Sans Bold"/>
              </a:rPr>
              <a:t>0</a:t>
            </a:r>
            <a:r>
              <a:rPr lang="fa-IR" sz="3360" b="1" dirty="0">
                <a:solidFill>
                  <a:srgbClr val="FFFFFF"/>
                </a:solidFill>
                <a:latin typeface="DM Sans Bold"/>
                <a:ea typeface="DM Sans Bold"/>
                <a:cs typeface="DM Sans Bold"/>
                <a:sym typeface="DM Sans Bold"/>
              </a:rPr>
              <a:t>3</a:t>
            </a:r>
            <a:endParaRPr lang="en-US" sz="3360" dirty="0"/>
          </a:p>
        </p:txBody>
      </p:sp>
      <p:sp>
        <p:nvSpPr>
          <p:cNvPr id="30" name="TextBox 29">
            <a:extLst>
              <a:ext uri="{FF2B5EF4-FFF2-40B4-BE49-F238E27FC236}">
                <a16:creationId xmlns:a16="http://schemas.microsoft.com/office/drawing/2014/main" id="{1EB18457-C7EC-A791-C873-9A6485269658}"/>
              </a:ext>
            </a:extLst>
          </p:cNvPr>
          <p:cNvSpPr txBox="1"/>
          <p:nvPr/>
        </p:nvSpPr>
        <p:spPr>
          <a:xfrm>
            <a:off x="12304034" y="4392707"/>
            <a:ext cx="809922" cy="609398"/>
          </a:xfrm>
          <a:prstGeom prst="rect">
            <a:avLst/>
          </a:prstGeom>
          <a:noFill/>
        </p:spPr>
        <p:txBody>
          <a:bodyPr wrap="square">
            <a:spAutoFit/>
          </a:bodyPr>
          <a:lstStyle/>
          <a:p>
            <a:r>
              <a:rPr lang="en-US" sz="3360" b="1" dirty="0">
                <a:solidFill>
                  <a:srgbClr val="FFFFFF"/>
                </a:solidFill>
                <a:latin typeface="DM Sans Bold"/>
                <a:ea typeface="DM Sans Bold"/>
                <a:cs typeface="DM Sans Bold"/>
                <a:sym typeface="DM Sans Bold"/>
              </a:rPr>
              <a:t>0</a:t>
            </a:r>
            <a:r>
              <a:rPr lang="fa-IR" sz="3360" b="1" dirty="0">
                <a:solidFill>
                  <a:srgbClr val="FFFFFF"/>
                </a:solidFill>
                <a:latin typeface="DM Sans Bold"/>
                <a:ea typeface="DM Sans Bold"/>
                <a:cs typeface="DM Sans Bold"/>
                <a:sym typeface="DM Sans Bold"/>
              </a:rPr>
              <a:t>4</a:t>
            </a:r>
            <a:endParaRPr lang="en-US" sz="3360" dirty="0"/>
          </a:p>
        </p:txBody>
      </p:sp>
      <p:sp>
        <p:nvSpPr>
          <p:cNvPr id="31" name="TextBox 30">
            <a:extLst>
              <a:ext uri="{FF2B5EF4-FFF2-40B4-BE49-F238E27FC236}">
                <a16:creationId xmlns:a16="http://schemas.microsoft.com/office/drawing/2014/main" id="{491AAE04-9D24-568D-9E3F-39949DCB4C8F}"/>
              </a:ext>
            </a:extLst>
          </p:cNvPr>
          <p:cNvSpPr txBox="1"/>
          <p:nvPr/>
        </p:nvSpPr>
        <p:spPr>
          <a:xfrm>
            <a:off x="7650866" y="2946917"/>
            <a:ext cx="1438794" cy="830997"/>
          </a:xfrm>
          <a:prstGeom prst="rect">
            <a:avLst/>
          </a:prstGeom>
          <a:noFill/>
        </p:spPr>
        <p:txBody>
          <a:bodyPr wrap="square" rtlCol="0">
            <a:spAutoFit/>
          </a:bodyPr>
          <a:lstStyle/>
          <a:p>
            <a:pPr algn="ctr"/>
            <a:r>
              <a:rPr lang="fa-IR" sz="2400" dirty="0">
                <a:solidFill>
                  <a:srgbClr val="FFFF00"/>
                </a:solidFill>
                <a:latin typeface="Yekan Bakh FaNum" panose="00000500000000000000" pitchFamily="2" charset="-78"/>
                <a:cs typeface="Yekan Bakh FaNum" panose="00000500000000000000" pitchFamily="2" charset="-78"/>
              </a:rPr>
              <a:t>مشکلات باشگاه‌ها</a:t>
            </a:r>
            <a:endParaRPr lang="en-US" sz="2400" dirty="0">
              <a:solidFill>
                <a:srgbClr val="FFFF00"/>
              </a:solidFill>
              <a:latin typeface="Yekan Bakh FaNum" panose="00000500000000000000" pitchFamily="2" charset="-78"/>
              <a:cs typeface="Yekan Bakh FaNum" panose="00000500000000000000" pitchFamily="2" charset="-78"/>
            </a:endParaRPr>
          </a:p>
        </p:txBody>
      </p:sp>
      <p:sp>
        <p:nvSpPr>
          <p:cNvPr id="32" name="TextBox 31">
            <a:extLst>
              <a:ext uri="{FF2B5EF4-FFF2-40B4-BE49-F238E27FC236}">
                <a16:creationId xmlns:a16="http://schemas.microsoft.com/office/drawing/2014/main" id="{28FAA17D-E01F-67AB-F51B-E0DE306CEF7C}"/>
              </a:ext>
            </a:extLst>
          </p:cNvPr>
          <p:cNvSpPr txBox="1"/>
          <p:nvPr/>
        </p:nvSpPr>
        <p:spPr>
          <a:xfrm>
            <a:off x="9799734" y="3040441"/>
            <a:ext cx="1454244" cy="535531"/>
          </a:xfrm>
          <a:prstGeom prst="rect">
            <a:avLst/>
          </a:prstGeom>
          <a:noFill/>
        </p:spPr>
        <p:txBody>
          <a:bodyPr wrap="none" rtlCol="0">
            <a:spAutoFit/>
          </a:bodyPr>
          <a:lstStyle/>
          <a:p>
            <a:r>
              <a:rPr lang="fa-IR" sz="2880" dirty="0">
                <a:solidFill>
                  <a:srgbClr val="FFFF00"/>
                </a:solidFill>
                <a:latin typeface="Yekan Bakh FaNum" panose="00000500000000000000" pitchFamily="2" charset="-78"/>
                <a:cs typeface="Yekan Bakh FaNum" panose="00000500000000000000" pitchFamily="2" charset="-78"/>
              </a:rPr>
              <a:t>درباره ما</a:t>
            </a:r>
            <a:endParaRPr lang="en-US" sz="2880" dirty="0">
              <a:solidFill>
                <a:srgbClr val="FFFF00"/>
              </a:solidFill>
              <a:latin typeface="Yekan Bakh FaNum" panose="00000500000000000000" pitchFamily="2" charset="-78"/>
              <a:cs typeface="Yekan Bakh FaNum" panose="00000500000000000000" pitchFamily="2" charset="-78"/>
            </a:endParaRPr>
          </a:p>
        </p:txBody>
      </p:sp>
      <p:sp>
        <p:nvSpPr>
          <p:cNvPr id="33" name="TextBox 32">
            <a:extLst>
              <a:ext uri="{FF2B5EF4-FFF2-40B4-BE49-F238E27FC236}">
                <a16:creationId xmlns:a16="http://schemas.microsoft.com/office/drawing/2014/main" id="{61FD7AA3-009D-501D-D25C-AC3E08D43541}"/>
              </a:ext>
            </a:extLst>
          </p:cNvPr>
          <p:cNvSpPr txBox="1"/>
          <p:nvPr/>
        </p:nvSpPr>
        <p:spPr>
          <a:xfrm>
            <a:off x="9799734" y="5261754"/>
            <a:ext cx="1425390" cy="535531"/>
          </a:xfrm>
          <a:prstGeom prst="rect">
            <a:avLst/>
          </a:prstGeom>
          <a:noFill/>
        </p:spPr>
        <p:txBody>
          <a:bodyPr wrap="none" rtlCol="0">
            <a:spAutoFit/>
          </a:bodyPr>
          <a:lstStyle/>
          <a:p>
            <a:r>
              <a:rPr lang="fa-IR" sz="2880" dirty="0">
                <a:solidFill>
                  <a:srgbClr val="FFFF00"/>
                </a:solidFill>
                <a:latin typeface="Yekan Bakh FaNum" panose="00000500000000000000" pitchFamily="2" charset="-78"/>
                <a:cs typeface="Yekan Bakh FaNum" panose="00000500000000000000" pitchFamily="2" charset="-78"/>
              </a:rPr>
              <a:t>هدف ما</a:t>
            </a:r>
            <a:endParaRPr lang="en-US" sz="2880" dirty="0">
              <a:solidFill>
                <a:srgbClr val="FFFF00"/>
              </a:solidFill>
              <a:latin typeface="Yekan Bakh FaNum" panose="00000500000000000000" pitchFamily="2" charset="-78"/>
              <a:cs typeface="Yekan Bakh FaNum" panose="00000500000000000000" pitchFamily="2" charset="-78"/>
            </a:endParaRPr>
          </a:p>
        </p:txBody>
      </p:sp>
      <p:sp>
        <p:nvSpPr>
          <p:cNvPr id="34" name="TextBox 33">
            <a:extLst>
              <a:ext uri="{FF2B5EF4-FFF2-40B4-BE49-F238E27FC236}">
                <a16:creationId xmlns:a16="http://schemas.microsoft.com/office/drawing/2014/main" id="{B72AB654-4B55-E432-FB3F-992EFC52D108}"/>
              </a:ext>
            </a:extLst>
          </p:cNvPr>
          <p:cNvSpPr txBox="1"/>
          <p:nvPr/>
        </p:nvSpPr>
        <p:spPr>
          <a:xfrm>
            <a:off x="11963405" y="5277178"/>
            <a:ext cx="1609736" cy="535531"/>
          </a:xfrm>
          <a:prstGeom prst="rect">
            <a:avLst/>
          </a:prstGeom>
          <a:noFill/>
        </p:spPr>
        <p:txBody>
          <a:bodyPr wrap="none" rtlCol="0">
            <a:spAutoFit/>
          </a:bodyPr>
          <a:lstStyle/>
          <a:p>
            <a:r>
              <a:rPr lang="fa-IR" sz="2880" dirty="0">
                <a:solidFill>
                  <a:srgbClr val="FFFF00"/>
                </a:solidFill>
                <a:latin typeface="Yekan Bakh FaNum" panose="00000500000000000000" pitchFamily="2" charset="-78"/>
                <a:cs typeface="Yekan Bakh FaNum" panose="00000500000000000000" pitchFamily="2" charset="-78"/>
              </a:rPr>
              <a:t>مارکتینگ</a:t>
            </a:r>
            <a:endParaRPr lang="en-US" sz="2880" dirty="0">
              <a:solidFill>
                <a:srgbClr val="FFFF00"/>
              </a:solidFill>
              <a:latin typeface="Yekan Bakh FaNum" panose="00000500000000000000" pitchFamily="2" charset="-78"/>
              <a:cs typeface="Yekan Bakh FaNum" panose="00000500000000000000" pitchFamily="2" charset="-78"/>
            </a:endParaRPr>
          </a:p>
        </p:txBody>
      </p:sp>
    </p:spTree>
    <p:extLst>
      <p:ext uri="{BB962C8B-B14F-4D97-AF65-F5344CB8AC3E}">
        <p14:creationId xmlns:p14="http://schemas.microsoft.com/office/powerpoint/2010/main" val="3340498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25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50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75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F1F1F"/>
        </a:solidFill>
        <a:effectLst/>
      </p:bgPr>
    </p:bg>
    <p:spTree>
      <p:nvGrpSpPr>
        <p:cNvPr id="1" name=""/>
        <p:cNvGrpSpPr/>
        <p:nvPr/>
      </p:nvGrpSpPr>
      <p:grpSpPr>
        <a:xfrm>
          <a:off x="0" y="0"/>
          <a:ext cx="0" cy="0"/>
          <a:chOff x="0" y="0"/>
          <a:chExt cx="0" cy="0"/>
        </a:xfrm>
      </p:grpSpPr>
      <p:sp>
        <p:nvSpPr>
          <p:cNvPr id="2" name="Text 0"/>
          <p:cNvSpPr/>
          <p:nvPr/>
        </p:nvSpPr>
        <p:spPr>
          <a:xfrm>
            <a:off x="3234332" y="822365"/>
            <a:ext cx="10609898" cy="620078"/>
          </a:xfrm>
          <a:prstGeom prst="rect">
            <a:avLst/>
          </a:prstGeom>
          <a:noFill/>
          <a:ln/>
        </p:spPr>
        <p:txBody>
          <a:bodyPr wrap="none" lIns="0" tIns="0" rIns="0" bIns="0" rtlCol="0" anchor="t"/>
          <a:lstStyle/>
          <a:p>
            <a:pPr algn="r">
              <a:lnSpc>
                <a:spcPts val="4850"/>
              </a:lnSpc>
            </a:pPr>
            <a:r>
              <a:rPr lang="fa-IR" sz="4400" b="1" dirty="0">
                <a:solidFill>
                  <a:srgbClr val="FFFF00"/>
                </a:solidFill>
                <a:latin typeface="Yekan Bakh FaNum" panose="00000500000000000000" pitchFamily="2" charset="-78"/>
                <a:cs typeface="Yekan Bakh FaNum" panose="00000500000000000000" pitchFamily="2" charset="-78"/>
              </a:rPr>
              <a:t>مشکلات باشگاه‌های ورزشی امروزی</a:t>
            </a:r>
            <a:endParaRPr lang="en-US" sz="4000" b="1" dirty="0">
              <a:solidFill>
                <a:srgbClr val="FFFF00"/>
              </a:solidFill>
              <a:latin typeface="Yekan Bakh FaNum" panose="00000500000000000000" pitchFamily="2" charset="-78"/>
              <a:cs typeface="Yekan Bakh FaNum" panose="00000500000000000000" pitchFamily="2" charset="-78"/>
            </a:endParaRPr>
          </a:p>
        </p:txBody>
      </p:sp>
      <p:sp>
        <p:nvSpPr>
          <p:cNvPr id="3" name="Text 1"/>
          <p:cNvSpPr/>
          <p:nvPr/>
        </p:nvSpPr>
        <p:spPr>
          <a:xfrm>
            <a:off x="793790" y="1938457"/>
            <a:ext cx="6279356" cy="459055"/>
          </a:xfrm>
          <a:prstGeom prst="rect">
            <a:avLst/>
          </a:prstGeom>
          <a:noFill/>
          <a:ln/>
        </p:spPr>
        <p:txBody>
          <a:bodyPr wrap="square" lIns="0" tIns="0" rIns="0" bIns="0" rtlCol="0" anchor="t"/>
          <a:lstStyle/>
          <a:p>
            <a:pPr algn="r">
              <a:lnSpc>
                <a:spcPts val="2900"/>
              </a:lnSpc>
            </a:pPr>
            <a:r>
              <a:rPr lang="fa-IR" sz="2800" dirty="0">
                <a:solidFill>
                  <a:srgbClr val="FFFF00"/>
                </a:solidFill>
                <a:latin typeface="Yekan Bakh FaNum" panose="00000500000000000000" pitchFamily="2" charset="-78"/>
                <a:cs typeface="Yekan Bakh FaNum" panose="00000500000000000000" pitchFamily="2" charset="-78"/>
              </a:rPr>
              <a:t>باشگاهداری سنتی، محدودیت امروز شما</a:t>
            </a:r>
            <a:endParaRPr lang="en-US" sz="2400" dirty="0">
              <a:solidFill>
                <a:srgbClr val="FFFF00"/>
              </a:solidFill>
              <a:latin typeface="Yekan Bakh FaNum" panose="00000500000000000000" pitchFamily="2" charset="-78"/>
              <a:cs typeface="Yekan Bakh FaNum" panose="00000500000000000000" pitchFamily="2" charset="-78"/>
            </a:endParaRPr>
          </a:p>
        </p:txBody>
      </p:sp>
      <p:sp>
        <p:nvSpPr>
          <p:cNvPr id="4" name="Text 2"/>
          <p:cNvSpPr/>
          <p:nvPr/>
        </p:nvSpPr>
        <p:spPr>
          <a:xfrm>
            <a:off x="793790" y="2880955"/>
            <a:ext cx="6279356" cy="1905238"/>
          </a:xfrm>
          <a:prstGeom prst="rect">
            <a:avLst/>
          </a:prstGeom>
          <a:noFill/>
          <a:ln/>
        </p:spPr>
        <p:txBody>
          <a:bodyPr wrap="square" lIns="0" tIns="0" rIns="0" bIns="0" rtlCol="0" anchor="t"/>
          <a:lstStyle/>
          <a:p>
            <a:pPr algn="r" rtl="1">
              <a:lnSpc>
                <a:spcPts val="2500"/>
              </a:lnSpc>
            </a:pPr>
            <a:r>
              <a:rPr lang="fa-IR" sz="1600" dirty="0">
                <a:solidFill>
                  <a:schemeClr val="bg1"/>
                </a:solidFill>
                <a:latin typeface="Yekan Bakh FaNum" panose="00000500000000000000" pitchFamily="2" charset="-78"/>
                <a:cs typeface="Yekan Bakh FaNum" panose="00000500000000000000" pitchFamily="2" charset="-78"/>
              </a:rPr>
              <a:t>دنیای فیتنس هر روز داره جلو میره، ولی خیلی از باشگاه‌ها هنوز با روش‌های قدیمی کار می‌کنن. این کار هم وقت پرسنل رو می‌گیره، هم اعضا رو کلافه می‌کنه. ثبت‌نام دستی باعث صف و اشتباه میشه و وقتی همه‌چی روی کاغذ ثبت بشه، نه میشه پیشرفت ورزشکارها رو درست دید و نه میشه اوضاع باشگاه رو دقیق تحلیل کرد.</a:t>
            </a:r>
            <a:endParaRPr lang="en-US" sz="1550" dirty="0">
              <a:solidFill>
                <a:schemeClr val="bg1"/>
              </a:solidFill>
              <a:latin typeface="Yekan Bakh FaNum" panose="00000500000000000000" pitchFamily="2" charset="-78"/>
              <a:cs typeface="Yekan Bakh FaNum" panose="00000500000000000000" pitchFamily="2" charset="-78"/>
            </a:endParaRPr>
          </a:p>
        </p:txBody>
      </p:sp>
      <p:sp>
        <p:nvSpPr>
          <p:cNvPr id="5" name="Text 3"/>
          <p:cNvSpPr/>
          <p:nvPr/>
        </p:nvSpPr>
        <p:spPr>
          <a:xfrm>
            <a:off x="793790" y="4786193"/>
            <a:ext cx="6279356" cy="1905238"/>
          </a:xfrm>
          <a:prstGeom prst="rect">
            <a:avLst/>
          </a:prstGeom>
          <a:noFill/>
          <a:ln/>
        </p:spPr>
        <p:txBody>
          <a:bodyPr wrap="square" lIns="0" tIns="0" rIns="0" bIns="0" rtlCol="0" anchor="t"/>
          <a:lstStyle/>
          <a:p>
            <a:pPr algn="r" rtl="1">
              <a:lnSpc>
                <a:spcPts val="2500"/>
              </a:lnSpc>
            </a:pPr>
            <a:r>
              <a:rPr lang="fa-IR" sz="1600" dirty="0">
                <a:solidFill>
                  <a:schemeClr val="bg1"/>
                </a:solidFill>
                <a:latin typeface="Yekan Bakh FaNum" panose="00000500000000000000" pitchFamily="2" charset="-78"/>
                <a:cs typeface="Yekan Bakh FaNum" panose="00000500000000000000" pitchFamily="2" charset="-78"/>
              </a:rPr>
              <a:t>ارتباط ضعیف بین پرسنل، مربیان و اعضا باعث میشه نوبت‌ها از دست بره، برنامه کلاس‌ها قاطی بشه و در نهایت اعضا ناراضی بشن. وقتی سیستم مدیریت یکپارچه وجود نداشته باشه، مدیران باشگاه به سختی می‌تونن روی کارها نظارت کنن و همین موضوع باعث از دست رفتن درآمد و فرصت‌های رشد میشه.</a:t>
            </a:r>
            <a:endParaRPr lang="en-US" sz="1550" dirty="0">
              <a:solidFill>
                <a:schemeClr val="bg1"/>
              </a:solidFill>
              <a:latin typeface="Yekan Bakh FaNum" panose="00000500000000000000" pitchFamily="2" charset="-78"/>
              <a:cs typeface="Yekan Bakh FaNum" panose="00000500000000000000" pitchFamily="2" charset="-78"/>
            </a:endParaRPr>
          </a:p>
        </p:txBody>
      </p:sp>
      <p:pic>
        <p:nvPicPr>
          <p:cNvPr id="6" name="Image 0" descr="preencoded.png"/>
          <p:cNvPicPr>
            <a:picLocks noChangeAspect="1"/>
          </p:cNvPicPr>
          <p:nvPr/>
        </p:nvPicPr>
        <p:blipFill>
          <a:blip r:embed="rId3"/>
          <a:stretch>
            <a:fillRect/>
          </a:stretch>
        </p:blipFill>
        <p:spPr>
          <a:xfrm>
            <a:off x="7564874" y="1963341"/>
            <a:ext cx="6279356" cy="3519130"/>
          </a:xfrm>
          <a:prstGeom prst="rect">
            <a:avLst/>
          </a:prstGeom>
        </p:spPr>
      </p:pic>
      <p:sp>
        <p:nvSpPr>
          <p:cNvPr id="7" name="Shape 4"/>
          <p:cNvSpPr/>
          <p:nvPr/>
        </p:nvSpPr>
        <p:spPr>
          <a:xfrm>
            <a:off x="7564874" y="5705713"/>
            <a:ext cx="6279356" cy="1478280"/>
          </a:xfrm>
          <a:prstGeom prst="roundRect">
            <a:avLst>
              <a:gd name="adj" fmla="val 2014"/>
            </a:avLst>
          </a:prstGeom>
          <a:solidFill>
            <a:srgbClr val="4B3F02"/>
          </a:solidFill>
          <a:ln/>
        </p:spPr>
      </p:sp>
      <p:pic>
        <p:nvPicPr>
          <p:cNvPr id="8" name="Image 1" descr="preencoded.png"/>
          <p:cNvPicPr>
            <a:picLocks noChangeAspect="1"/>
          </p:cNvPicPr>
          <p:nvPr/>
        </p:nvPicPr>
        <p:blipFill>
          <a:blip r:embed="rId4"/>
          <a:stretch>
            <a:fillRect/>
          </a:stretch>
        </p:blipFill>
        <p:spPr>
          <a:xfrm>
            <a:off x="13249037" y="6107787"/>
            <a:ext cx="248007" cy="198358"/>
          </a:xfrm>
          <a:prstGeom prst="rect">
            <a:avLst/>
          </a:prstGeom>
        </p:spPr>
      </p:pic>
      <p:sp>
        <p:nvSpPr>
          <p:cNvPr id="9" name="Text 5"/>
          <p:cNvSpPr/>
          <p:nvPr/>
        </p:nvSpPr>
        <p:spPr>
          <a:xfrm>
            <a:off x="7961591" y="6029761"/>
            <a:ext cx="5436275" cy="737830"/>
          </a:xfrm>
          <a:prstGeom prst="rect">
            <a:avLst/>
          </a:prstGeom>
          <a:noFill/>
          <a:ln/>
        </p:spPr>
        <p:txBody>
          <a:bodyPr wrap="square" lIns="0" tIns="0" rIns="0" bIns="0" rtlCol="0" anchor="t"/>
          <a:lstStyle/>
          <a:p>
            <a:pPr algn="l" rtl="1">
              <a:lnSpc>
                <a:spcPts val="2500"/>
              </a:lnSpc>
            </a:pPr>
            <a:r>
              <a:rPr lang="fa-IR" sz="1600" b="1" dirty="0">
                <a:solidFill>
                  <a:schemeClr val="bg1"/>
                </a:solidFill>
                <a:latin typeface="Yekan Bakh FaNum" panose="00000500000000000000" pitchFamily="2" charset="-78"/>
                <a:cs typeface="Yekan Bakh FaNum" panose="00000500000000000000" pitchFamily="2" charset="-78"/>
              </a:rPr>
              <a:t>هزینه ناکارآمدی:</a:t>
            </a:r>
            <a:r>
              <a:rPr lang="fa-IR" sz="1600" dirty="0">
                <a:solidFill>
                  <a:schemeClr val="bg1"/>
                </a:solidFill>
                <a:latin typeface="Yekan Bakh FaNum" panose="00000500000000000000" pitchFamily="2" charset="-78"/>
                <a:cs typeface="Yekan Bakh FaNum" panose="00000500000000000000" pitchFamily="2" charset="-78"/>
              </a:rPr>
              <a:t> استفاده از روش‌های دستی می‌تونه بهره‌وری باشگاه رو تا ۴۰٪ کم کنه و باعث افزایش جدی ریزش اعضا بشه.</a:t>
            </a:r>
            <a:endParaRPr lang="en-US" sz="1550" dirty="0">
              <a:solidFill>
                <a:schemeClr val="bg1"/>
              </a:solidFill>
              <a:latin typeface="Yekan Bakh FaNum" panose="00000500000000000000" pitchFamily="2" charset="-78"/>
              <a:cs typeface="Yekan Bakh FaNum" panose="00000500000000000000" pitchFamily="2"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bg/>
                                          </p:spTgt>
                                        </p:tgtEl>
                                        <p:attrNameLst>
                                          <p:attrName>style.visibility</p:attrName>
                                        </p:attrNameLst>
                                      </p:cBhvr>
                                      <p:to>
                                        <p:strVal val="visible"/>
                                      </p:to>
                                    </p:set>
                                    <p:animEffect transition="in" filter="fade">
                                      <p:cBhvr>
                                        <p:cTn id="10" dur="500"/>
                                        <p:tgtEl>
                                          <p:spTgt spid="4">
                                            <p:bg/>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500"/>
                                        <p:tgtEl>
                                          <p:spTgt spid="4">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animBg="1"/>
      <p:bldP spid="5"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F1F1F"/>
        </a:solidFill>
        <a:effectLst/>
      </p:bgPr>
    </p:bg>
    <p:spTree>
      <p:nvGrpSpPr>
        <p:cNvPr id="1" name=""/>
        <p:cNvGrpSpPr/>
        <p:nvPr/>
      </p:nvGrpSpPr>
      <p:grpSpPr>
        <a:xfrm>
          <a:off x="0" y="0"/>
          <a:ext cx="0" cy="0"/>
          <a:chOff x="0" y="0"/>
          <a:chExt cx="0" cy="0"/>
        </a:xfrm>
      </p:grpSpPr>
      <p:sp>
        <p:nvSpPr>
          <p:cNvPr id="4" name="AutoShape 2" descr="a black and white photo of a gym">
            <a:extLst>
              <a:ext uri="{FF2B5EF4-FFF2-40B4-BE49-F238E27FC236}">
                <a16:creationId xmlns:a16="http://schemas.microsoft.com/office/drawing/2014/main" id="{3F31F3C3-29C4-59A9-0B88-3413CC1C3746}"/>
              </a:ext>
            </a:extLst>
          </p:cNvPr>
          <p:cNvSpPr>
            <a:spLocks noChangeAspect="1" noChangeArrowheads="1"/>
          </p:cNvSpPr>
          <p:nvPr/>
        </p:nvSpPr>
        <p:spPr bwMode="auto">
          <a:xfrm>
            <a:off x="4572000" y="0"/>
            <a:ext cx="5486400" cy="8229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9728" tIns="54864" rIns="109728" bIns="54864" numCol="1" anchor="t" anchorCtr="0" compatLnSpc="1">
            <a:prstTxWarp prst="textNoShape">
              <a:avLst/>
            </a:prstTxWarp>
          </a:bodyPr>
          <a:lstStyle/>
          <a:p>
            <a:endParaRPr lang="en-US" sz="2160"/>
          </a:p>
        </p:txBody>
      </p:sp>
      <p:pic>
        <p:nvPicPr>
          <p:cNvPr id="3076" name="Picture 4" descr="a black and white photo of a gym">
            <a:extLst>
              <a:ext uri="{FF2B5EF4-FFF2-40B4-BE49-F238E27FC236}">
                <a16:creationId xmlns:a16="http://schemas.microsoft.com/office/drawing/2014/main" id="{595D5D0C-D13C-20DB-43A7-6D43E46BB8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0" y="0"/>
            <a:ext cx="5486400" cy="82296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372925F-1284-6378-ECB8-18959019E4C8}"/>
              </a:ext>
            </a:extLst>
          </p:cNvPr>
          <p:cNvSpPr txBox="1"/>
          <p:nvPr/>
        </p:nvSpPr>
        <p:spPr>
          <a:xfrm>
            <a:off x="4822724" y="1713389"/>
            <a:ext cx="4070555" cy="683264"/>
          </a:xfrm>
          <a:prstGeom prst="rect">
            <a:avLst/>
          </a:prstGeom>
          <a:noFill/>
        </p:spPr>
        <p:txBody>
          <a:bodyPr wrap="square">
            <a:spAutoFit/>
          </a:bodyPr>
          <a:lstStyle/>
          <a:p>
            <a:pPr algn="r" rtl="1"/>
            <a:r>
              <a:rPr lang="fa-IR" sz="3840" b="1" dirty="0">
                <a:solidFill>
                  <a:srgbClr val="FFFF00"/>
                </a:solidFill>
                <a:latin typeface="Yekan Bakh FaNum" panose="00000500000000000000" pitchFamily="2" charset="-78"/>
                <a:ea typeface="Now Bold"/>
                <a:cs typeface="Yekan Bakh FaNum" panose="00000500000000000000" pitchFamily="2" charset="-78"/>
                <a:sym typeface="Now Bold"/>
              </a:rPr>
              <a:t>درباره باشگاه یار</a:t>
            </a:r>
            <a:endParaRPr lang="en-US" sz="3840" b="1" dirty="0">
              <a:solidFill>
                <a:srgbClr val="FFFF00"/>
              </a:solidFill>
              <a:latin typeface="Yekan Bakh FaNum" panose="00000500000000000000" pitchFamily="2" charset="-78"/>
              <a:ea typeface="Now Bold"/>
              <a:cs typeface="Yekan Bakh FaNum" panose="00000500000000000000" pitchFamily="2" charset="-78"/>
              <a:sym typeface="Now Bold"/>
            </a:endParaRPr>
          </a:p>
        </p:txBody>
      </p:sp>
      <p:sp>
        <p:nvSpPr>
          <p:cNvPr id="7" name="TextBox 6">
            <a:extLst>
              <a:ext uri="{FF2B5EF4-FFF2-40B4-BE49-F238E27FC236}">
                <a16:creationId xmlns:a16="http://schemas.microsoft.com/office/drawing/2014/main" id="{E456AFC0-F73D-1588-BCFF-B0727ADF21F7}"/>
              </a:ext>
            </a:extLst>
          </p:cNvPr>
          <p:cNvSpPr txBox="1"/>
          <p:nvPr/>
        </p:nvSpPr>
        <p:spPr>
          <a:xfrm>
            <a:off x="353962" y="2503382"/>
            <a:ext cx="8539316" cy="2677656"/>
          </a:xfrm>
          <a:prstGeom prst="rect">
            <a:avLst/>
          </a:prstGeom>
          <a:noFill/>
        </p:spPr>
        <p:txBody>
          <a:bodyPr wrap="square">
            <a:spAutoFit/>
          </a:bodyPr>
          <a:lstStyle/>
          <a:p>
            <a:pPr algn="r" rtl="1"/>
            <a:r>
              <a:rPr lang="fa-IR" sz="2400" dirty="0">
                <a:solidFill>
                  <a:schemeClr val="bg1"/>
                </a:solidFill>
                <a:latin typeface="Yekan Bakh FaNum" panose="00000500000000000000" pitchFamily="2" charset="-78"/>
                <a:cs typeface="Yekan Bakh FaNum" panose="00000500000000000000" pitchFamily="2" charset="-78"/>
              </a:rPr>
              <a:t>پلتفرم مدیریت باشگاه یک راهکار دیجیتال یکپارچه است که هم فرآیندهای مدیریتی باشگاه را ساده و بهینه می‌کند و هم تجربه‌ای سریع و مدرن برای کاربران فراهم می‌سازد. از دید بیزنسی، این سیستم موجب کاهش هزینه‌ها، افزایش بهره‌وری و رشد درآمد باشگاه می‌شود. از دید کاربر نیز، ثبت‌نام آسان، مدیریت پروفایل، درخواست مربی و دسترسی همیشگی از طریق گوشی همراه، تجربه‌ای نوین و لذت‌بخش را رقم می‌زند.</a:t>
            </a:r>
          </a:p>
        </p:txBody>
      </p:sp>
    </p:spTree>
    <p:extLst>
      <p:ext uri="{BB962C8B-B14F-4D97-AF65-F5344CB8AC3E}">
        <p14:creationId xmlns:p14="http://schemas.microsoft.com/office/powerpoint/2010/main" val="185962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076"/>
                                        </p:tgtEl>
                                        <p:attrNameLst>
                                          <p:attrName>style.visibility</p:attrName>
                                        </p:attrNameLst>
                                      </p:cBhvr>
                                      <p:to>
                                        <p:strVal val="visible"/>
                                      </p:to>
                                    </p:set>
                                    <p:anim calcmode="lin" valueType="num">
                                      <p:cBhvr additive="base">
                                        <p:cTn id="7" dur="500" fill="hold"/>
                                        <p:tgtEl>
                                          <p:spTgt spid="3076"/>
                                        </p:tgtEl>
                                        <p:attrNameLst>
                                          <p:attrName>ppt_x</p:attrName>
                                        </p:attrNameLst>
                                      </p:cBhvr>
                                      <p:tavLst>
                                        <p:tav tm="0">
                                          <p:val>
                                            <p:strVal val="1+#ppt_w/2"/>
                                          </p:val>
                                        </p:tav>
                                        <p:tav tm="100000">
                                          <p:val>
                                            <p:strVal val="#ppt_x"/>
                                          </p:val>
                                        </p:tav>
                                      </p:tavLst>
                                    </p:anim>
                                    <p:anim calcmode="lin" valueType="num">
                                      <p:cBhvr additive="base">
                                        <p:cTn id="8" dur="500" fill="hold"/>
                                        <p:tgtEl>
                                          <p:spTgt spid="3076"/>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E3E3E"/>
        </a:solidFill>
        <a:effectLst/>
      </p:bgPr>
    </p:bg>
    <p:spTree>
      <p:nvGrpSpPr>
        <p:cNvPr id="1" name=""/>
        <p:cNvGrpSpPr/>
        <p:nvPr/>
      </p:nvGrpSpPr>
      <p:grpSpPr>
        <a:xfrm>
          <a:off x="0" y="0"/>
          <a:ext cx="0" cy="0"/>
          <a:chOff x="0" y="0"/>
          <a:chExt cx="0" cy="0"/>
        </a:xfrm>
      </p:grpSpPr>
      <p:pic>
        <p:nvPicPr>
          <p:cNvPr id="4098" name="Picture 2" descr="gym road signage">
            <a:extLst>
              <a:ext uri="{FF2B5EF4-FFF2-40B4-BE49-F238E27FC236}">
                <a16:creationId xmlns:a16="http://schemas.microsoft.com/office/drawing/2014/main" id="{DED329DD-D40B-6257-B185-2F60CB9D0E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694"/>
            <a:ext cx="14630400" cy="32800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C6A5740-1AD0-B999-0BDF-7F878D0C79BB}"/>
              </a:ext>
            </a:extLst>
          </p:cNvPr>
          <p:cNvSpPr txBox="1"/>
          <p:nvPr/>
        </p:nvSpPr>
        <p:spPr>
          <a:xfrm>
            <a:off x="6140648" y="2166352"/>
            <a:ext cx="2315057" cy="1089529"/>
          </a:xfrm>
          <a:prstGeom prst="rect">
            <a:avLst/>
          </a:prstGeom>
          <a:noFill/>
        </p:spPr>
        <p:txBody>
          <a:bodyPr wrap="none" rtlCol="0">
            <a:spAutoFit/>
          </a:bodyPr>
          <a:lstStyle/>
          <a:p>
            <a:r>
              <a:rPr lang="fa-IR" sz="6480" b="1" dirty="0">
                <a:solidFill>
                  <a:srgbClr val="FFFF00"/>
                </a:solidFill>
                <a:latin typeface="Yekan Bakh FaNum" panose="00000500000000000000" pitchFamily="2" charset="-78"/>
                <a:cs typeface="Yekan Bakh FaNum" panose="00000500000000000000" pitchFamily="2" charset="-78"/>
              </a:rPr>
              <a:t>تیم ما</a:t>
            </a:r>
            <a:endParaRPr lang="en-US" sz="6480" b="1" dirty="0">
              <a:solidFill>
                <a:srgbClr val="FFFF00"/>
              </a:solidFill>
              <a:latin typeface="Yekan Bakh FaNum" panose="00000500000000000000" pitchFamily="2" charset="-78"/>
              <a:cs typeface="Yekan Bakh FaNum" panose="00000500000000000000" pitchFamily="2" charset="-78"/>
            </a:endParaRPr>
          </a:p>
        </p:txBody>
      </p:sp>
      <p:grpSp>
        <p:nvGrpSpPr>
          <p:cNvPr id="29" name="Group 37">
            <a:extLst>
              <a:ext uri="{FF2B5EF4-FFF2-40B4-BE49-F238E27FC236}">
                <a16:creationId xmlns:a16="http://schemas.microsoft.com/office/drawing/2014/main" id="{90002141-4A83-9F5F-B3BA-B4DC9C61CDEC}"/>
              </a:ext>
            </a:extLst>
          </p:cNvPr>
          <p:cNvGrpSpPr/>
          <p:nvPr/>
        </p:nvGrpSpPr>
        <p:grpSpPr>
          <a:xfrm>
            <a:off x="4554271" y="4114800"/>
            <a:ext cx="2387906" cy="2582063"/>
            <a:chOff x="0" y="0"/>
            <a:chExt cx="862412" cy="932533"/>
          </a:xfrm>
        </p:grpSpPr>
        <p:sp>
          <p:nvSpPr>
            <p:cNvPr id="30" name="Freeform 38">
              <a:extLst>
                <a:ext uri="{FF2B5EF4-FFF2-40B4-BE49-F238E27FC236}">
                  <a16:creationId xmlns:a16="http://schemas.microsoft.com/office/drawing/2014/main" id="{465F7057-82A9-F9D1-7252-AA52119671B2}"/>
                </a:ext>
              </a:extLst>
            </p:cNvPr>
            <p:cNvSpPr/>
            <p:nvPr/>
          </p:nvSpPr>
          <p:spPr>
            <a:xfrm>
              <a:off x="0" y="0"/>
              <a:ext cx="862412" cy="932533"/>
            </a:xfrm>
            <a:custGeom>
              <a:avLst/>
              <a:gdLst/>
              <a:ahLst/>
              <a:cxnLst/>
              <a:rect l="l" t="t" r="r" b="b"/>
              <a:pathLst>
                <a:path w="862412" h="932533">
                  <a:moveTo>
                    <a:pt x="0" y="0"/>
                  </a:moveTo>
                  <a:lnTo>
                    <a:pt x="862412" y="0"/>
                  </a:lnTo>
                  <a:lnTo>
                    <a:pt x="862412" y="932533"/>
                  </a:lnTo>
                  <a:lnTo>
                    <a:pt x="0" y="932533"/>
                  </a:lnTo>
                  <a:close/>
                </a:path>
              </a:pathLst>
            </a:custGeom>
            <a:solidFill>
              <a:srgbClr val="1F1F1F"/>
            </a:solidFill>
            <a:ln cap="sq">
              <a:noFill/>
              <a:prstDash val="solid"/>
              <a:miter/>
            </a:ln>
          </p:spPr>
          <p:txBody>
            <a:bodyPr/>
            <a:lstStyle/>
            <a:p>
              <a:endParaRPr lang="en-US" dirty="0"/>
            </a:p>
          </p:txBody>
        </p:sp>
        <p:sp>
          <p:nvSpPr>
            <p:cNvPr id="31" name="TextBox 39">
              <a:extLst>
                <a:ext uri="{FF2B5EF4-FFF2-40B4-BE49-F238E27FC236}">
                  <a16:creationId xmlns:a16="http://schemas.microsoft.com/office/drawing/2014/main" id="{0962F52C-0BFA-1D57-8CBF-712DCD303E39}"/>
                </a:ext>
              </a:extLst>
            </p:cNvPr>
            <p:cNvSpPr txBox="1"/>
            <p:nvPr/>
          </p:nvSpPr>
          <p:spPr>
            <a:xfrm>
              <a:off x="0" y="-57150"/>
              <a:ext cx="862412" cy="989683"/>
            </a:xfrm>
            <a:prstGeom prst="rect">
              <a:avLst/>
            </a:prstGeom>
          </p:spPr>
          <p:txBody>
            <a:bodyPr lIns="63500" tIns="63500" rIns="63500" bIns="63500" rtlCol="0" anchor="ctr"/>
            <a:lstStyle/>
            <a:p>
              <a:pPr algn="ctr">
                <a:lnSpc>
                  <a:spcPts val="3408"/>
                </a:lnSpc>
              </a:pPr>
              <a:r>
                <a:rPr lang="en-US" sz="2400" dirty="0">
                  <a:solidFill>
                    <a:srgbClr val="FFFF00"/>
                  </a:solidFill>
                  <a:latin typeface="DM Sans"/>
                  <a:ea typeface="DM Sans"/>
                  <a:cs typeface="DM Sans"/>
                  <a:sym typeface="DM Sans"/>
                </a:rPr>
                <a:t>Farzin Hamzehi</a:t>
              </a:r>
            </a:p>
            <a:p>
              <a:pPr algn="ctr">
                <a:lnSpc>
                  <a:spcPts val="3360"/>
                </a:lnSpc>
              </a:pPr>
              <a:endParaRPr lang="en-US" sz="2400" dirty="0">
                <a:solidFill>
                  <a:srgbClr val="FFFBFB"/>
                </a:solidFill>
                <a:latin typeface="DM Sans"/>
                <a:ea typeface="DM Sans"/>
                <a:cs typeface="DM Sans"/>
                <a:sym typeface="DM Sans"/>
              </a:endParaRPr>
            </a:p>
            <a:p>
              <a:pPr marL="0" lvl="0" indent="0" algn="ctr">
                <a:lnSpc>
                  <a:spcPts val="2800"/>
                </a:lnSpc>
                <a:spcBef>
                  <a:spcPct val="0"/>
                </a:spcBef>
              </a:pPr>
              <a:r>
                <a:rPr lang="en-US" sz="2000" dirty="0">
                  <a:solidFill>
                    <a:srgbClr val="FFFF00"/>
                  </a:solidFill>
                  <a:latin typeface="DM Sans"/>
                  <a:ea typeface="DM Sans"/>
                  <a:cs typeface="DM Sans"/>
                  <a:sym typeface="DM Sans"/>
                </a:rPr>
                <a:t>Developer</a:t>
              </a:r>
            </a:p>
          </p:txBody>
        </p:sp>
      </p:grpSp>
      <p:grpSp>
        <p:nvGrpSpPr>
          <p:cNvPr id="32" name="Group 37">
            <a:extLst>
              <a:ext uri="{FF2B5EF4-FFF2-40B4-BE49-F238E27FC236}">
                <a16:creationId xmlns:a16="http://schemas.microsoft.com/office/drawing/2014/main" id="{2ABCDED7-FF6D-C0D2-3FC4-068FA39FA911}"/>
              </a:ext>
            </a:extLst>
          </p:cNvPr>
          <p:cNvGrpSpPr/>
          <p:nvPr/>
        </p:nvGrpSpPr>
        <p:grpSpPr>
          <a:xfrm>
            <a:off x="7577192" y="4259484"/>
            <a:ext cx="2387906" cy="2477941"/>
            <a:chOff x="0" y="0"/>
            <a:chExt cx="862412" cy="932533"/>
          </a:xfrm>
          <a:solidFill>
            <a:srgbClr val="1F1F1F"/>
          </a:solidFill>
        </p:grpSpPr>
        <p:sp>
          <p:nvSpPr>
            <p:cNvPr id="33" name="Freeform 38">
              <a:extLst>
                <a:ext uri="{FF2B5EF4-FFF2-40B4-BE49-F238E27FC236}">
                  <a16:creationId xmlns:a16="http://schemas.microsoft.com/office/drawing/2014/main" id="{205AABF1-9A8E-8133-55CB-3C593758312C}"/>
                </a:ext>
              </a:extLst>
            </p:cNvPr>
            <p:cNvSpPr/>
            <p:nvPr/>
          </p:nvSpPr>
          <p:spPr>
            <a:xfrm>
              <a:off x="0" y="0"/>
              <a:ext cx="862412" cy="932533"/>
            </a:xfrm>
            <a:custGeom>
              <a:avLst/>
              <a:gdLst/>
              <a:ahLst/>
              <a:cxnLst/>
              <a:rect l="l" t="t" r="r" b="b"/>
              <a:pathLst>
                <a:path w="862412" h="932533">
                  <a:moveTo>
                    <a:pt x="0" y="0"/>
                  </a:moveTo>
                  <a:lnTo>
                    <a:pt x="862412" y="0"/>
                  </a:lnTo>
                  <a:lnTo>
                    <a:pt x="862412" y="932533"/>
                  </a:lnTo>
                  <a:lnTo>
                    <a:pt x="0" y="932533"/>
                  </a:lnTo>
                  <a:close/>
                </a:path>
              </a:pathLst>
            </a:custGeom>
            <a:grpFill/>
            <a:ln cap="sq">
              <a:noFill/>
              <a:prstDash val="solid"/>
              <a:miter/>
            </a:ln>
          </p:spPr>
        </p:sp>
        <p:sp>
          <p:nvSpPr>
            <p:cNvPr id="34" name="TextBox 39">
              <a:extLst>
                <a:ext uri="{FF2B5EF4-FFF2-40B4-BE49-F238E27FC236}">
                  <a16:creationId xmlns:a16="http://schemas.microsoft.com/office/drawing/2014/main" id="{D96673FE-D3E1-9396-4F53-2032BAC7CD2B}"/>
                </a:ext>
              </a:extLst>
            </p:cNvPr>
            <p:cNvSpPr txBox="1"/>
            <p:nvPr/>
          </p:nvSpPr>
          <p:spPr>
            <a:xfrm>
              <a:off x="0" y="-57150"/>
              <a:ext cx="862412" cy="989683"/>
            </a:xfrm>
            <a:prstGeom prst="rect">
              <a:avLst/>
            </a:prstGeom>
            <a:grpFill/>
          </p:spPr>
          <p:txBody>
            <a:bodyPr lIns="63500" tIns="63500" rIns="63500" bIns="63500" rtlCol="0" anchor="ctr"/>
            <a:lstStyle/>
            <a:p>
              <a:pPr algn="ctr">
                <a:lnSpc>
                  <a:spcPts val="3408"/>
                </a:lnSpc>
              </a:pPr>
              <a:r>
                <a:rPr lang="en-US" sz="2400" dirty="0">
                  <a:solidFill>
                    <a:srgbClr val="FFFF00"/>
                  </a:solidFill>
                  <a:latin typeface="DM Sans"/>
                  <a:ea typeface="DM Sans"/>
                  <a:cs typeface="DM Sans"/>
                  <a:sym typeface="DM Sans"/>
                </a:rPr>
                <a:t>Parham </a:t>
              </a:r>
              <a:r>
                <a:rPr lang="en-US" sz="2400" dirty="0" err="1">
                  <a:solidFill>
                    <a:srgbClr val="FFFF00"/>
                  </a:solidFill>
                  <a:latin typeface="DM Sans"/>
                  <a:ea typeface="DM Sans"/>
                  <a:cs typeface="DM Sans"/>
                  <a:sym typeface="DM Sans"/>
                </a:rPr>
                <a:t>Safiyari</a:t>
              </a:r>
              <a:endParaRPr lang="en-US" sz="2400" dirty="0">
                <a:solidFill>
                  <a:srgbClr val="FFFF00"/>
                </a:solidFill>
                <a:latin typeface="DM Sans"/>
                <a:ea typeface="DM Sans"/>
                <a:cs typeface="DM Sans"/>
                <a:sym typeface="DM Sans"/>
              </a:endParaRPr>
            </a:p>
            <a:p>
              <a:pPr algn="ctr">
                <a:lnSpc>
                  <a:spcPts val="3360"/>
                </a:lnSpc>
              </a:pPr>
              <a:endParaRPr lang="en-US" sz="2400" dirty="0">
                <a:solidFill>
                  <a:srgbClr val="FFFBFB"/>
                </a:solidFill>
                <a:latin typeface="DM Sans"/>
                <a:ea typeface="DM Sans"/>
                <a:cs typeface="DM Sans"/>
                <a:sym typeface="DM Sans"/>
              </a:endParaRPr>
            </a:p>
            <a:p>
              <a:pPr lvl="0" algn="ctr">
                <a:lnSpc>
                  <a:spcPts val="2800"/>
                </a:lnSpc>
                <a:spcBef>
                  <a:spcPct val="0"/>
                </a:spcBef>
              </a:pPr>
              <a:r>
                <a:rPr lang="en-US" sz="2000" dirty="0">
                  <a:solidFill>
                    <a:srgbClr val="FFFF00"/>
                  </a:solidFill>
                  <a:latin typeface="DM Sans"/>
                  <a:ea typeface="DM Sans"/>
                  <a:cs typeface="DM Sans"/>
                  <a:sym typeface="DM Sans"/>
                </a:rPr>
                <a:t>Business Head </a:t>
              </a:r>
            </a:p>
          </p:txBody>
        </p:sp>
      </p:grpSp>
    </p:spTree>
    <p:extLst>
      <p:ext uri="{BB962C8B-B14F-4D97-AF65-F5344CB8AC3E}">
        <p14:creationId xmlns:p14="http://schemas.microsoft.com/office/powerpoint/2010/main" val="3717134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833641" y="1299448"/>
            <a:ext cx="8106911" cy="620078"/>
          </a:xfrm>
          <a:prstGeom prst="rect">
            <a:avLst/>
          </a:prstGeom>
          <a:noFill/>
          <a:ln/>
        </p:spPr>
        <p:txBody>
          <a:bodyPr wrap="none" lIns="0" tIns="0" rIns="0" bIns="0" rtlCol="0" anchor="t"/>
          <a:lstStyle/>
          <a:p>
            <a:pPr algn="r" rtl="1">
              <a:lnSpc>
                <a:spcPts val="4850"/>
              </a:lnSpc>
            </a:pPr>
            <a:r>
              <a:rPr lang="fa-IR" sz="4000" b="1" dirty="0">
                <a:solidFill>
                  <a:srgbClr val="FFFF00"/>
                </a:solidFill>
                <a:latin typeface="Yekan Bakh FaNum" panose="00000500000000000000" pitchFamily="2" charset="-78"/>
                <a:cs typeface="Yekan Bakh FaNum" panose="00000500000000000000" pitchFamily="2" charset="-78"/>
              </a:rPr>
              <a:t>هدف ما</a:t>
            </a:r>
            <a:r>
              <a:rPr lang="fa-IR" sz="4000" dirty="0">
                <a:solidFill>
                  <a:srgbClr val="FFFF00"/>
                </a:solidFill>
                <a:latin typeface="Yekan Bakh FaNum" panose="00000500000000000000" pitchFamily="2" charset="-78"/>
                <a:cs typeface="Yekan Bakh FaNum" panose="00000500000000000000" pitchFamily="2" charset="-78"/>
              </a:rPr>
              <a:t>: مدیریت باشگاه بدون دردسر</a:t>
            </a:r>
            <a:endParaRPr lang="en-US" sz="3900" b="1" dirty="0">
              <a:solidFill>
                <a:srgbClr val="FFFF00"/>
              </a:solidFill>
              <a:latin typeface="Yekan Bakh FaNum" panose="00000500000000000000" pitchFamily="2" charset="-78"/>
              <a:cs typeface="Yekan Bakh FaNum" panose="00000500000000000000" pitchFamily="2" charset="-78"/>
            </a:endParaRPr>
          </a:p>
        </p:txBody>
      </p:sp>
      <p:sp>
        <p:nvSpPr>
          <p:cNvPr id="3" name="Shape 1"/>
          <p:cNvSpPr/>
          <p:nvPr/>
        </p:nvSpPr>
        <p:spPr>
          <a:xfrm>
            <a:off x="793790" y="2316361"/>
            <a:ext cx="6422231" cy="1778556"/>
          </a:xfrm>
          <a:prstGeom prst="roundRect">
            <a:avLst>
              <a:gd name="adj" fmla="val 1674"/>
            </a:avLst>
          </a:prstGeom>
          <a:solidFill>
            <a:srgbClr val="3E3E3E"/>
          </a:solidFill>
          <a:ln/>
        </p:spPr>
        <p:txBody>
          <a:bodyPr/>
          <a:lstStyle/>
          <a:p>
            <a:pPr algn="r" rtl="1"/>
            <a:endParaRPr lang="en-US" dirty="0">
              <a:solidFill>
                <a:schemeClr val="bg1"/>
              </a:solidFill>
              <a:latin typeface="Yekan Bakh FaNum" panose="00000500000000000000" pitchFamily="2" charset="-78"/>
              <a:cs typeface="Yekan Bakh FaNum" panose="00000500000000000000" pitchFamily="2" charset="-78"/>
            </a:endParaRPr>
          </a:p>
        </p:txBody>
      </p:sp>
      <p:sp>
        <p:nvSpPr>
          <p:cNvPr id="4" name="Text 2"/>
          <p:cNvSpPr/>
          <p:nvPr/>
        </p:nvSpPr>
        <p:spPr>
          <a:xfrm>
            <a:off x="4301728" y="2596415"/>
            <a:ext cx="2715935" cy="310158"/>
          </a:xfrm>
          <a:prstGeom prst="rect">
            <a:avLst/>
          </a:prstGeom>
          <a:noFill/>
          <a:ln/>
        </p:spPr>
        <p:txBody>
          <a:bodyPr wrap="none" lIns="0" tIns="0" rIns="0" bIns="0" rtlCol="0" anchor="t"/>
          <a:lstStyle/>
          <a:p>
            <a:pPr algn="r" rtl="1">
              <a:lnSpc>
                <a:spcPts val="2400"/>
              </a:lnSpc>
            </a:pPr>
            <a:r>
              <a:rPr lang="fa-IR" sz="2000" dirty="0">
                <a:solidFill>
                  <a:schemeClr val="bg1"/>
                </a:solidFill>
                <a:latin typeface="Yekan Bakh FaNum" panose="00000500000000000000" pitchFamily="2" charset="-78"/>
                <a:cs typeface="Yekan Bakh FaNum" panose="00000500000000000000" pitchFamily="2" charset="-78"/>
              </a:rPr>
              <a:t>ثبت‌نام ساده و سریع</a:t>
            </a:r>
            <a:endParaRPr lang="en-US" sz="1950" dirty="0">
              <a:solidFill>
                <a:schemeClr val="bg1"/>
              </a:solidFill>
              <a:latin typeface="Yekan Bakh FaNum" panose="00000500000000000000" pitchFamily="2" charset="-78"/>
              <a:cs typeface="Yekan Bakh FaNum" panose="00000500000000000000" pitchFamily="2" charset="-78"/>
            </a:endParaRPr>
          </a:p>
        </p:txBody>
      </p:sp>
      <p:sp>
        <p:nvSpPr>
          <p:cNvPr id="5" name="Text 3"/>
          <p:cNvSpPr/>
          <p:nvPr/>
        </p:nvSpPr>
        <p:spPr>
          <a:xfrm>
            <a:off x="992148" y="2943939"/>
            <a:ext cx="6025515" cy="952619"/>
          </a:xfrm>
          <a:prstGeom prst="rect">
            <a:avLst/>
          </a:prstGeom>
          <a:noFill/>
          <a:ln/>
        </p:spPr>
        <p:txBody>
          <a:bodyPr wrap="square" lIns="0" tIns="0" rIns="0" bIns="0" rtlCol="0" anchor="t"/>
          <a:lstStyle/>
          <a:p>
            <a:pPr algn="r" rtl="1">
              <a:lnSpc>
                <a:spcPts val="2500"/>
              </a:lnSpc>
            </a:pPr>
            <a:r>
              <a:rPr lang="fa-IR" sz="1600" dirty="0">
                <a:solidFill>
                  <a:schemeClr val="bg1"/>
                </a:solidFill>
                <a:latin typeface="Yekan Bakh FaNum" panose="00000500000000000000" pitchFamily="2" charset="-78"/>
                <a:cs typeface="Yekan Bakh FaNum" panose="00000500000000000000" pitchFamily="2" charset="-78"/>
              </a:rPr>
              <a:t>با سیستم‌های خودکار ثبت‌نام و ورود کاربران، کارهای کاغذی و ورود دستی اطلاعات حذف می‌شوند و بار مدیریتی تا ۷۰٪ کاهش پیدا می‌کند.</a:t>
            </a:r>
            <a:endParaRPr lang="en-US" sz="1550" dirty="0">
              <a:solidFill>
                <a:schemeClr val="bg1"/>
              </a:solidFill>
              <a:latin typeface="Yekan Bakh FaNum" panose="00000500000000000000" pitchFamily="2" charset="-78"/>
              <a:cs typeface="Yekan Bakh FaNum" panose="00000500000000000000" pitchFamily="2" charset="-78"/>
            </a:endParaRPr>
          </a:p>
        </p:txBody>
      </p:sp>
      <p:sp>
        <p:nvSpPr>
          <p:cNvPr id="6" name="Shape 4"/>
          <p:cNvSpPr/>
          <p:nvPr/>
        </p:nvSpPr>
        <p:spPr>
          <a:xfrm>
            <a:off x="7414379" y="2316361"/>
            <a:ext cx="6422231" cy="1778556"/>
          </a:xfrm>
          <a:prstGeom prst="roundRect">
            <a:avLst>
              <a:gd name="adj" fmla="val 1674"/>
            </a:avLst>
          </a:prstGeom>
          <a:solidFill>
            <a:srgbClr val="3E3E3E"/>
          </a:solidFill>
          <a:ln/>
        </p:spPr>
      </p:sp>
      <p:sp>
        <p:nvSpPr>
          <p:cNvPr id="7" name="Text 5"/>
          <p:cNvSpPr/>
          <p:nvPr/>
        </p:nvSpPr>
        <p:spPr>
          <a:xfrm>
            <a:off x="10354627" y="2590501"/>
            <a:ext cx="3283625" cy="310158"/>
          </a:xfrm>
          <a:prstGeom prst="rect">
            <a:avLst/>
          </a:prstGeom>
          <a:noFill/>
          <a:ln/>
        </p:spPr>
        <p:txBody>
          <a:bodyPr wrap="none" lIns="0" tIns="0" rIns="0" bIns="0" rtlCol="0" anchor="t"/>
          <a:lstStyle/>
          <a:p>
            <a:pPr algn="r" rtl="1">
              <a:lnSpc>
                <a:spcPts val="2400"/>
              </a:lnSpc>
            </a:pPr>
            <a:r>
              <a:rPr lang="fa-IR" sz="2000" dirty="0">
                <a:solidFill>
                  <a:schemeClr val="bg1"/>
                </a:solidFill>
                <a:latin typeface="Yekan Bakh FaNum" panose="00000500000000000000" pitchFamily="2" charset="-78"/>
                <a:cs typeface="Yekan Bakh FaNum" panose="00000500000000000000" pitchFamily="2" charset="-78"/>
              </a:rPr>
              <a:t>دیجیتال کردن مدیریت پرسنل</a:t>
            </a:r>
            <a:endParaRPr lang="en-US" sz="1950" dirty="0">
              <a:solidFill>
                <a:schemeClr val="bg1"/>
              </a:solidFill>
              <a:latin typeface="Yekan Bakh FaNum" panose="00000500000000000000" pitchFamily="2" charset="-78"/>
              <a:cs typeface="Yekan Bakh FaNum" panose="00000500000000000000" pitchFamily="2" charset="-78"/>
            </a:endParaRPr>
          </a:p>
        </p:txBody>
      </p:sp>
      <p:sp>
        <p:nvSpPr>
          <p:cNvPr id="8" name="Text 6"/>
          <p:cNvSpPr/>
          <p:nvPr/>
        </p:nvSpPr>
        <p:spPr>
          <a:xfrm>
            <a:off x="7612737" y="2943939"/>
            <a:ext cx="6025515" cy="952619"/>
          </a:xfrm>
          <a:prstGeom prst="rect">
            <a:avLst/>
          </a:prstGeom>
          <a:noFill/>
          <a:ln/>
        </p:spPr>
        <p:txBody>
          <a:bodyPr wrap="square" lIns="0" tIns="0" rIns="0" bIns="0" rtlCol="0" anchor="t"/>
          <a:lstStyle/>
          <a:p>
            <a:pPr algn="r" rtl="1">
              <a:lnSpc>
                <a:spcPts val="2500"/>
              </a:lnSpc>
            </a:pPr>
            <a:r>
              <a:rPr lang="fa-IR" sz="1600" dirty="0">
                <a:solidFill>
                  <a:schemeClr val="bg1"/>
                </a:solidFill>
                <a:latin typeface="Yekan Bakh FaNum" panose="00000500000000000000" pitchFamily="2" charset="-78"/>
                <a:cs typeface="Yekan Bakh FaNum" panose="00000500000000000000" pitchFamily="2" charset="-78"/>
              </a:rPr>
              <a:t>به مربیان و پرسنل ابزارهای قدرتمندی ارائه می‌کنیم تا برنامه‌های کاری خودشون رو مدیریت کنن، تعامل با اعضا رو پیگیری کنن و کارهاشون رو به بهترین شکل سازمان‌دهی کنن.</a:t>
            </a:r>
            <a:endParaRPr lang="en-US" sz="1550" dirty="0">
              <a:solidFill>
                <a:schemeClr val="bg1"/>
              </a:solidFill>
              <a:latin typeface="Yekan Bakh FaNum" panose="00000500000000000000" pitchFamily="2" charset="-78"/>
              <a:cs typeface="Yekan Bakh FaNum" panose="00000500000000000000" pitchFamily="2" charset="-78"/>
            </a:endParaRPr>
          </a:p>
        </p:txBody>
      </p:sp>
      <p:sp>
        <p:nvSpPr>
          <p:cNvPr id="9" name="Shape 7"/>
          <p:cNvSpPr/>
          <p:nvPr/>
        </p:nvSpPr>
        <p:spPr>
          <a:xfrm>
            <a:off x="793790" y="4293275"/>
            <a:ext cx="6422231" cy="1778556"/>
          </a:xfrm>
          <a:prstGeom prst="roundRect">
            <a:avLst>
              <a:gd name="adj" fmla="val 1674"/>
            </a:avLst>
          </a:prstGeom>
          <a:solidFill>
            <a:srgbClr val="3E3E3E"/>
          </a:solidFill>
          <a:ln/>
        </p:spPr>
      </p:sp>
      <p:sp>
        <p:nvSpPr>
          <p:cNvPr id="10" name="Text 8"/>
          <p:cNvSpPr/>
          <p:nvPr/>
        </p:nvSpPr>
        <p:spPr>
          <a:xfrm>
            <a:off x="3655338" y="4567415"/>
            <a:ext cx="3362325" cy="310158"/>
          </a:xfrm>
          <a:prstGeom prst="rect">
            <a:avLst/>
          </a:prstGeom>
          <a:noFill/>
          <a:ln/>
        </p:spPr>
        <p:txBody>
          <a:bodyPr wrap="none" lIns="0" tIns="0" rIns="0" bIns="0" rtlCol="0" anchor="t"/>
          <a:lstStyle/>
          <a:p>
            <a:pPr algn="r" rtl="1">
              <a:lnSpc>
                <a:spcPts val="2400"/>
              </a:lnSpc>
            </a:pPr>
            <a:r>
              <a:rPr lang="fa-IR" sz="2000" dirty="0">
                <a:solidFill>
                  <a:schemeClr val="bg1"/>
                </a:solidFill>
                <a:latin typeface="Yekan Bakh FaNum" panose="00000500000000000000" pitchFamily="2" charset="-78"/>
                <a:cs typeface="Yekan Bakh FaNum" panose="00000500000000000000" pitchFamily="2" charset="-78"/>
              </a:rPr>
              <a:t>تجربه حرفه‌ای کاربران</a:t>
            </a:r>
            <a:endParaRPr lang="en-US" sz="1950" dirty="0">
              <a:solidFill>
                <a:schemeClr val="bg1"/>
              </a:solidFill>
              <a:latin typeface="Yekan Bakh FaNum" panose="00000500000000000000" pitchFamily="2" charset="-78"/>
              <a:cs typeface="Yekan Bakh FaNum" panose="00000500000000000000" pitchFamily="2" charset="-78"/>
            </a:endParaRPr>
          </a:p>
        </p:txBody>
      </p:sp>
      <p:sp>
        <p:nvSpPr>
          <p:cNvPr id="11" name="Text 9"/>
          <p:cNvSpPr/>
          <p:nvPr/>
        </p:nvSpPr>
        <p:spPr>
          <a:xfrm>
            <a:off x="992148" y="4920853"/>
            <a:ext cx="6025515" cy="952619"/>
          </a:xfrm>
          <a:prstGeom prst="rect">
            <a:avLst/>
          </a:prstGeom>
          <a:noFill/>
          <a:ln/>
        </p:spPr>
        <p:txBody>
          <a:bodyPr wrap="square" lIns="0" tIns="0" rIns="0" bIns="0" rtlCol="0" anchor="t"/>
          <a:lstStyle/>
          <a:p>
            <a:pPr algn="r" rtl="1">
              <a:lnSpc>
                <a:spcPts val="2500"/>
              </a:lnSpc>
            </a:pPr>
            <a:r>
              <a:rPr lang="fa-IR" sz="1600" dirty="0">
                <a:solidFill>
                  <a:schemeClr val="bg1"/>
                </a:solidFill>
                <a:latin typeface="Yekan Bakh FaNum" panose="00000500000000000000" pitchFamily="2" charset="-78"/>
                <a:cs typeface="Yekan Bakh FaNum" panose="00000500000000000000" pitchFamily="2" charset="-78"/>
              </a:rPr>
              <a:t>یک رابط کاربری مدرن و ساده ارائه می‌دهیم که حرفه‌ای بودن باشگاه شما را نشان می‌دهد و رضایت و وفاداری اعضا را افزایش می‌دهد.</a:t>
            </a:r>
            <a:endParaRPr lang="en-US" sz="1550" dirty="0">
              <a:solidFill>
                <a:schemeClr val="bg1"/>
              </a:solidFill>
              <a:latin typeface="Yekan Bakh FaNum" panose="00000500000000000000" pitchFamily="2" charset="-78"/>
              <a:cs typeface="Yekan Bakh FaNum" panose="00000500000000000000" pitchFamily="2" charset="-78"/>
            </a:endParaRPr>
          </a:p>
        </p:txBody>
      </p:sp>
      <p:sp>
        <p:nvSpPr>
          <p:cNvPr id="12" name="Shape 10"/>
          <p:cNvSpPr/>
          <p:nvPr/>
        </p:nvSpPr>
        <p:spPr>
          <a:xfrm>
            <a:off x="7414379" y="4293275"/>
            <a:ext cx="6422231" cy="1778556"/>
          </a:xfrm>
          <a:prstGeom prst="roundRect">
            <a:avLst>
              <a:gd name="adj" fmla="val 1674"/>
            </a:avLst>
          </a:prstGeom>
          <a:solidFill>
            <a:srgbClr val="3E3E3E"/>
          </a:solidFill>
          <a:ln/>
        </p:spPr>
      </p:sp>
      <p:sp>
        <p:nvSpPr>
          <p:cNvPr id="13" name="Text 11"/>
          <p:cNvSpPr/>
          <p:nvPr/>
        </p:nvSpPr>
        <p:spPr>
          <a:xfrm>
            <a:off x="11040070" y="4567415"/>
            <a:ext cx="2598182" cy="310158"/>
          </a:xfrm>
          <a:prstGeom prst="rect">
            <a:avLst/>
          </a:prstGeom>
          <a:noFill/>
          <a:ln/>
        </p:spPr>
        <p:txBody>
          <a:bodyPr wrap="none" lIns="0" tIns="0" rIns="0" bIns="0" rtlCol="0" anchor="t"/>
          <a:lstStyle/>
          <a:p>
            <a:pPr algn="r" rtl="1">
              <a:lnSpc>
                <a:spcPts val="2400"/>
              </a:lnSpc>
            </a:pPr>
            <a:r>
              <a:rPr lang="fa-IR" sz="2000" dirty="0">
                <a:solidFill>
                  <a:schemeClr val="bg1"/>
                </a:solidFill>
                <a:latin typeface="Yekan Bakh FaNum" panose="00000500000000000000" pitchFamily="2" charset="-78"/>
                <a:cs typeface="Yekan Bakh FaNum" panose="00000500000000000000" pitchFamily="2" charset="-78"/>
              </a:rPr>
              <a:t>رشد کسب‌وکار</a:t>
            </a:r>
            <a:endParaRPr lang="en-US" sz="1950" dirty="0">
              <a:solidFill>
                <a:schemeClr val="bg1"/>
              </a:solidFill>
              <a:latin typeface="Yekan Bakh FaNum" panose="00000500000000000000" pitchFamily="2" charset="-78"/>
              <a:cs typeface="Yekan Bakh FaNum" panose="00000500000000000000" pitchFamily="2" charset="-78"/>
            </a:endParaRPr>
          </a:p>
        </p:txBody>
      </p:sp>
      <p:sp>
        <p:nvSpPr>
          <p:cNvPr id="14" name="Text 12"/>
          <p:cNvSpPr/>
          <p:nvPr/>
        </p:nvSpPr>
        <p:spPr>
          <a:xfrm>
            <a:off x="7612737" y="4920853"/>
            <a:ext cx="6025515" cy="952619"/>
          </a:xfrm>
          <a:prstGeom prst="rect">
            <a:avLst/>
          </a:prstGeom>
          <a:noFill/>
          <a:ln/>
        </p:spPr>
        <p:txBody>
          <a:bodyPr wrap="square" lIns="0" tIns="0" rIns="0" bIns="0" rtlCol="0" anchor="t"/>
          <a:lstStyle/>
          <a:p>
            <a:pPr algn="r" rtl="1">
              <a:lnSpc>
                <a:spcPts val="2500"/>
              </a:lnSpc>
            </a:pPr>
            <a:r>
              <a:rPr lang="fa-IR" sz="1600" dirty="0">
                <a:solidFill>
                  <a:schemeClr val="bg1"/>
                </a:solidFill>
                <a:latin typeface="Yekan Bakh FaNum" panose="00000500000000000000" pitchFamily="2" charset="-78"/>
                <a:cs typeface="Yekan Bakh FaNum" panose="00000500000000000000" pitchFamily="2" charset="-78"/>
              </a:rPr>
              <a:t>با دسترسی به اطلاعات لحظه‌ای از عملکرد باشگاه، رفتار اعضا و جریان‌های درآمد، می‌توان تصمیم‌های مبتنی بر داده گرفت و رشد باشگاه را سرعت بخشید.</a:t>
            </a:r>
            <a:endParaRPr lang="en-US" sz="1550" dirty="0">
              <a:solidFill>
                <a:schemeClr val="bg1"/>
              </a:solidFill>
              <a:latin typeface="Yekan Bakh FaNum" panose="00000500000000000000" pitchFamily="2" charset="-78"/>
              <a:cs typeface="Yekan Bakh FaNum" panose="00000500000000000000" pitchFamily="2" charset="-78"/>
            </a:endParaRPr>
          </a:p>
        </p:txBody>
      </p:sp>
      <p:sp>
        <p:nvSpPr>
          <p:cNvPr id="15" name="Text 13"/>
          <p:cNvSpPr/>
          <p:nvPr/>
        </p:nvSpPr>
        <p:spPr>
          <a:xfrm>
            <a:off x="793790" y="6295073"/>
            <a:ext cx="13042821" cy="635079"/>
          </a:xfrm>
          <a:prstGeom prst="rect">
            <a:avLst/>
          </a:prstGeom>
          <a:noFill/>
          <a:ln/>
        </p:spPr>
        <p:txBody>
          <a:bodyPr wrap="square" lIns="0" tIns="0" rIns="0" bIns="0" rtlCol="0" anchor="t"/>
          <a:lstStyle/>
          <a:p>
            <a:pPr algn="r" rtl="1">
              <a:lnSpc>
                <a:spcPts val="2500"/>
              </a:lnSpc>
            </a:pPr>
            <a:r>
              <a:rPr lang="fa-IR" sz="1600" dirty="0">
                <a:solidFill>
                  <a:schemeClr val="bg1"/>
                </a:solidFill>
                <a:latin typeface="Yekan Bakh FaNum" panose="00000500000000000000" pitchFamily="2" charset="-78"/>
                <a:cs typeface="Yekan Bakh FaNum" panose="00000500000000000000" pitchFamily="2" charset="-78"/>
              </a:rPr>
              <a:t>پلتفرم دیجیتال جامع ما تمام جنبه‌های مدیریت باشگاه را پوشش می‌دهد، از ثبت‌نام اعضا تا تحلیل‌های پیشرفته، و اطمینان می‌دهد که باشگاه شما با حداکثر کارایی فعالیت کند و تجربه‌ای استثنایی برای اعضا فراهم شود.</a:t>
            </a:r>
            <a:endParaRPr lang="en-US" sz="1550" dirty="0">
              <a:solidFill>
                <a:schemeClr val="bg1"/>
              </a:solidFill>
              <a:latin typeface="Yekan Bakh FaNum" panose="00000500000000000000" pitchFamily="2" charset="-78"/>
              <a:cs typeface="Yekan Bakh FaNum" panose="00000500000000000000" pitchFamily="2"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bg/>
                                          </p:spTgt>
                                        </p:tgtEl>
                                        <p:attrNameLst>
                                          <p:attrName>style.visibility</p:attrName>
                                        </p:attrNameLst>
                                      </p:cBhvr>
                                      <p:to>
                                        <p:strVal val="visible"/>
                                      </p:to>
                                    </p:set>
                                    <p:animEffect transition="in" filter="fade">
                                      <p:cBhvr>
                                        <p:cTn id="15" dur="500"/>
                                        <p:tgtEl>
                                          <p:spTgt spid="7">
                                            <p:bg/>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500"/>
                                        <p:tgtEl>
                                          <p:spTgt spid="7">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500"/>
                                        <p:tgtEl>
                                          <p:spTgt spid="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build="allAtOnce" animBg="1"/>
      <p:bldP spid="8" grpId="0" animBg="1"/>
      <p:bldP spid="10" grpId="0" animBg="1"/>
      <p:bldP spid="11" grpId="0" animBg="1"/>
      <p:bldP spid="13" grpId="0" animBg="1"/>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87956"/>
            <a:ext cx="7429262" cy="589121"/>
          </a:xfrm>
          <a:prstGeom prst="rect">
            <a:avLst/>
          </a:prstGeom>
          <a:noFill/>
          <a:ln/>
        </p:spPr>
        <p:txBody>
          <a:bodyPr wrap="none" lIns="0" tIns="0" rIns="0" bIns="0" rtlCol="0" anchor="t"/>
          <a:lstStyle/>
          <a:p>
            <a:pPr algn="r" rtl="1">
              <a:lnSpc>
                <a:spcPts val="4600"/>
              </a:lnSpc>
            </a:pPr>
            <a:r>
              <a:rPr lang="fa-IR" sz="4000" b="1" dirty="0">
                <a:solidFill>
                  <a:srgbClr val="FFFF00"/>
                </a:solidFill>
                <a:latin typeface="Yekan Bakh FaNum" panose="00000500000000000000" pitchFamily="2" charset="-78"/>
                <a:cs typeface="Yekan Bakh FaNum" panose="00000500000000000000" pitchFamily="2" charset="-78"/>
              </a:rPr>
              <a:t>مربیان قدرتمند، باشگاه موفق</a:t>
            </a:r>
            <a:endParaRPr lang="en-US" sz="3700" b="1" dirty="0">
              <a:solidFill>
                <a:srgbClr val="FFFF00"/>
              </a:solidFill>
              <a:latin typeface="Yekan Bakh FaNum" panose="00000500000000000000" pitchFamily="2" charset="-78"/>
              <a:cs typeface="Yekan Bakh FaNum" panose="00000500000000000000" pitchFamily="2" charset="-78"/>
            </a:endParaRPr>
          </a:p>
        </p:txBody>
      </p:sp>
      <p:sp>
        <p:nvSpPr>
          <p:cNvPr id="4" name="Text 1"/>
          <p:cNvSpPr/>
          <p:nvPr/>
        </p:nvSpPr>
        <p:spPr>
          <a:xfrm>
            <a:off x="793790" y="1659850"/>
            <a:ext cx="188476" cy="235625"/>
          </a:xfrm>
          <a:prstGeom prst="rect">
            <a:avLst/>
          </a:prstGeom>
          <a:noFill/>
          <a:ln/>
        </p:spPr>
        <p:txBody>
          <a:bodyPr wrap="none" lIns="0" tIns="0" rIns="0" bIns="0" rtlCol="0" anchor="t"/>
          <a:lstStyle/>
          <a:p>
            <a:pPr marL="0" indent="0" algn="r" rtl="1">
              <a:lnSpc>
                <a:spcPts val="2350"/>
              </a:lnSpc>
              <a:buNone/>
            </a:pPr>
            <a:r>
              <a:rPr lang="fa-IR" sz="1450" dirty="0">
                <a:solidFill>
                  <a:schemeClr val="bg1"/>
                </a:solidFill>
                <a:latin typeface="Yekan Bakh FaNum" panose="00000500000000000000" pitchFamily="2" charset="-78"/>
                <a:ea typeface="Instrument Sans Light" pitchFamily="34" charset="-122"/>
                <a:cs typeface="Yekan Bakh FaNum" panose="00000500000000000000" pitchFamily="2" charset="-78"/>
              </a:rPr>
              <a:t>2</a:t>
            </a:r>
            <a:r>
              <a:rPr lang="en-US" sz="1450" dirty="0">
                <a:solidFill>
                  <a:schemeClr val="bg1"/>
                </a:solidFill>
                <a:latin typeface="Yekan Bakh FaNum" panose="00000500000000000000" pitchFamily="2" charset="-78"/>
                <a:ea typeface="Instrument Sans Light" pitchFamily="34" charset="-122"/>
                <a:cs typeface="Yekan Bakh FaNum" panose="00000500000000000000" pitchFamily="2" charset="-78"/>
              </a:rPr>
              <a:t>0</a:t>
            </a:r>
            <a:endParaRPr lang="en-US" sz="1450" dirty="0">
              <a:solidFill>
                <a:schemeClr val="bg1"/>
              </a:solidFill>
              <a:latin typeface="Yekan Bakh FaNum" panose="00000500000000000000" pitchFamily="2" charset="-78"/>
              <a:cs typeface="Yekan Bakh FaNum" panose="00000500000000000000" pitchFamily="2" charset="-78"/>
            </a:endParaRPr>
          </a:p>
        </p:txBody>
      </p:sp>
      <p:sp>
        <p:nvSpPr>
          <p:cNvPr id="5" name="Shape 2"/>
          <p:cNvSpPr/>
          <p:nvPr/>
        </p:nvSpPr>
        <p:spPr>
          <a:xfrm>
            <a:off x="793790" y="1957268"/>
            <a:ext cx="3683913" cy="22860"/>
          </a:xfrm>
          <a:prstGeom prst="rect">
            <a:avLst/>
          </a:prstGeom>
          <a:solidFill>
            <a:srgbClr val="F5F547"/>
          </a:solidFill>
          <a:ln/>
        </p:spPr>
      </p:sp>
      <p:sp>
        <p:nvSpPr>
          <p:cNvPr id="6" name="Text 3"/>
          <p:cNvSpPr/>
          <p:nvPr/>
        </p:nvSpPr>
        <p:spPr>
          <a:xfrm>
            <a:off x="2045434" y="2097167"/>
            <a:ext cx="2426018" cy="294680"/>
          </a:xfrm>
          <a:prstGeom prst="rect">
            <a:avLst/>
          </a:prstGeom>
          <a:noFill/>
          <a:ln/>
        </p:spPr>
        <p:txBody>
          <a:bodyPr wrap="none" lIns="0" tIns="0" rIns="0" bIns="0" rtlCol="0" anchor="t"/>
          <a:lstStyle/>
          <a:p>
            <a:pPr algn="r" rtl="1"/>
            <a:r>
              <a:rPr lang="fa-IR" sz="2000" b="1" dirty="0">
                <a:solidFill>
                  <a:schemeClr val="bg1"/>
                </a:solidFill>
                <a:latin typeface="Yekan Bakh FaNum" panose="00000500000000000000" pitchFamily="2" charset="-78"/>
                <a:cs typeface="Yekan Bakh FaNum" panose="00000500000000000000" pitchFamily="2" charset="-78"/>
              </a:rPr>
              <a:t>سامانه مدیریت درخواست‌ها</a:t>
            </a:r>
            <a:endParaRPr lang="fa-IR" sz="2000" dirty="0">
              <a:solidFill>
                <a:schemeClr val="bg1"/>
              </a:solidFill>
              <a:latin typeface="Yekan Bakh FaNum" panose="00000500000000000000" pitchFamily="2" charset="-78"/>
              <a:cs typeface="Yekan Bakh FaNum" panose="00000500000000000000" pitchFamily="2" charset="-78"/>
            </a:endParaRPr>
          </a:p>
        </p:txBody>
      </p:sp>
      <p:sp>
        <p:nvSpPr>
          <p:cNvPr id="7" name="Text 4"/>
          <p:cNvSpPr/>
          <p:nvPr/>
        </p:nvSpPr>
        <p:spPr>
          <a:xfrm>
            <a:off x="793790" y="2504956"/>
            <a:ext cx="3683913" cy="2413635"/>
          </a:xfrm>
          <a:prstGeom prst="rect">
            <a:avLst/>
          </a:prstGeom>
          <a:noFill/>
          <a:ln/>
        </p:spPr>
        <p:txBody>
          <a:bodyPr wrap="square" lIns="0" tIns="0" rIns="0" bIns="0" rtlCol="0" anchor="t"/>
          <a:lstStyle/>
          <a:p>
            <a:pPr algn="r" rtl="1">
              <a:lnSpc>
                <a:spcPts val="2350"/>
              </a:lnSpc>
            </a:pPr>
            <a:r>
              <a:rPr lang="fa-IR" sz="1600" dirty="0">
                <a:solidFill>
                  <a:schemeClr val="bg1"/>
                </a:solidFill>
                <a:latin typeface="Yekan Bakh FaNum" panose="00000500000000000000" pitchFamily="2" charset="-78"/>
                <a:cs typeface="Yekan Bakh FaNum" panose="00000500000000000000" pitchFamily="2" charset="-78"/>
              </a:rPr>
              <a:t>مربیان به محض دریافت درخواست‌های جلسه تمرینی، </a:t>
            </a:r>
            <a:r>
              <a:rPr lang="fa-IR" sz="1600" b="1" dirty="0">
                <a:solidFill>
                  <a:schemeClr val="bg1"/>
                </a:solidFill>
                <a:latin typeface="Yekan Bakh FaNum" panose="00000500000000000000" pitchFamily="2" charset="-78"/>
                <a:cs typeface="Yekan Bakh FaNum" panose="00000500000000000000" pitchFamily="2" charset="-78"/>
              </a:rPr>
              <a:t>اعلان‌های لحظه‌ای</a:t>
            </a:r>
            <a:r>
              <a:rPr lang="fa-IR" sz="1600" dirty="0">
                <a:solidFill>
                  <a:schemeClr val="bg1"/>
                </a:solidFill>
                <a:latin typeface="Yekan Bakh FaNum" panose="00000500000000000000" pitchFamily="2" charset="-78"/>
                <a:cs typeface="Yekan Bakh FaNum" panose="00000500000000000000" pitchFamily="2" charset="-78"/>
              </a:rPr>
              <a:t> دریافت می‌کنند و می‌توانند پیش از تصمیم‌گیری، پروفایل اعضا، اهداف فیتنس و دسترسی خود را بررسی کنند. سیستم به‌طور خودکار از رزرو دوگانه جلوگیری می‌کند و برنامه‌های بهینه را بر اساس ظرفیت باشگاه و تخصص مربیان پیشنهاد می‌دهد.</a:t>
            </a:r>
            <a:endParaRPr lang="en-US" sz="1450" dirty="0">
              <a:solidFill>
                <a:schemeClr val="bg1"/>
              </a:solidFill>
              <a:latin typeface="Yekan Bakh FaNum" panose="00000500000000000000" pitchFamily="2" charset="-78"/>
              <a:cs typeface="Yekan Bakh FaNum" panose="00000500000000000000" pitchFamily="2" charset="-78"/>
            </a:endParaRPr>
          </a:p>
        </p:txBody>
      </p:sp>
      <p:sp>
        <p:nvSpPr>
          <p:cNvPr id="8" name="Text 5"/>
          <p:cNvSpPr/>
          <p:nvPr/>
        </p:nvSpPr>
        <p:spPr>
          <a:xfrm>
            <a:off x="4666178" y="1659850"/>
            <a:ext cx="188476" cy="235625"/>
          </a:xfrm>
          <a:prstGeom prst="rect">
            <a:avLst/>
          </a:prstGeom>
          <a:noFill/>
          <a:ln/>
        </p:spPr>
        <p:txBody>
          <a:bodyPr wrap="none" lIns="0" tIns="0" rIns="0" bIns="0" rtlCol="0" anchor="t"/>
          <a:lstStyle/>
          <a:p>
            <a:pPr marL="0" indent="0" algn="r" rtl="1">
              <a:lnSpc>
                <a:spcPts val="2350"/>
              </a:lnSpc>
              <a:buNone/>
            </a:pPr>
            <a:r>
              <a:rPr lang="fa-IR" sz="1450" dirty="0">
                <a:solidFill>
                  <a:schemeClr val="bg1"/>
                </a:solidFill>
                <a:latin typeface="Yekan Bakh FaNum" panose="00000500000000000000" pitchFamily="2" charset="-78"/>
                <a:ea typeface="Instrument Sans Light" pitchFamily="34" charset="-122"/>
                <a:cs typeface="Yekan Bakh FaNum" panose="00000500000000000000" pitchFamily="2" charset="-78"/>
              </a:rPr>
              <a:t>1</a:t>
            </a:r>
            <a:r>
              <a:rPr lang="en-US" sz="1450" dirty="0">
                <a:solidFill>
                  <a:schemeClr val="bg1"/>
                </a:solidFill>
                <a:latin typeface="Yekan Bakh FaNum" panose="00000500000000000000" pitchFamily="2" charset="-78"/>
                <a:ea typeface="Instrument Sans Light" pitchFamily="34" charset="-122"/>
                <a:cs typeface="Yekan Bakh FaNum" panose="00000500000000000000" pitchFamily="2" charset="-78"/>
              </a:rPr>
              <a:t>0</a:t>
            </a:r>
            <a:endParaRPr lang="en-US" sz="1450" dirty="0">
              <a:solidFill>
                <a:schemeClr val="bg1"/>
              </a:solidFill>
              <a:latin typeface="Yekan Bakh FaNum" panose="00000500000000000000" pitchFamily="2" charset="-78"/>
              <a:cs typeface="Yekan Bakh FaNum" panose="00000500000000000000" pitchFamily="2" charset="-78"/>
            </a:endParaRPr>
          </a:p>
        </p:txBody>
      </p:sp>
      <p:sp>
        <p:nvSpPr>
          <p:cNvPr id="9" name="Shape 6"/>
          <p:cNvSpPr/>
          <p:nvPr/>
        </p:nvSpPr>
        <p:spPr>
          <a:xfrm>
            <a:off x="4666178" y="1957268"/>
            <a:ext cx="3684032" cy="22860"/>
          </a:xfrm>
          <a:prstGeom prst="rect">
            <a:avLst/>
          </a:prstGeom>
          <a:solidFill>
            <a:srgbClr val="F5F547"/>
          </a:solidFill>
          <a:ln/>
        </p:spPr>
      </p:sp>
      <p:sp>
        <p:nvSpPr>
          <p:cNvPr id="10" name="Text 7"/>
          <p:cNvSpPr/>
          <p:nvPr/>
        </p:nvSpPr>
        <p:spPr>
          <a:xfrm>
            <a:off x="5993369" y="2093237"/>
            <a:ext cx="2356842" cy="294680"/>
          </a:xfrm>
          <a:prstGeom prst="rect">
            <a:avLst/>
          </a:prstGeom>
          <a:noFill/>
          <a:ln/>
        </p:spPr>
        <p:txBody>
          <a:bodyPr wrap="none" lIns="0" tIns="0" rIns="0" bIns="0" rtlCol="0" anchor="t"/>
          <a:lstStyle/>
          <a:p>
            <a:pPr algn="r" rtl="1">
              <a:lnSpc>
                <a:spcPts val="2300"/>
              </a:lnSpc>
            </a:pPr>
            <a:r>
              <a:rPr lang="fa-IR" sz="2000" b="1" dirty="0">
                <a:solidFill>
                  <a:schemeClr val="bg1"/>
                </a:solidFill>
                <a:latin typeface="Yekan Bakh FaNum" panose="00000500000000000000" pitchFamily="2" charset="-78"/>
                <a:cs typeface="Yekan Bakh FaNum" panose="00000500000000000000" pitchFamily="2" charset="-78"/>
              </a:rPr>
              <a:t>هماهنگی برنامه‌ها و جلسات</a:t>
            </a:r>
            <a:endParaRPr lang="en-US" sz="1850" b="1" dirty="0">
              <a:solidFill>
                <a:schemeClr val="bg1"/>
              </a:solidFill>
              <a:latin typeface="Yekan Bakh FaNum" panose="00000500000000000000" pitchFamily="2" charset="-78"/>
              <a:cs typeface="Yekan Bakh FaNum" panose="00000500000000000000" pitchFamily="2" charset="-78"/>
            </a:endParaRPr>
          </a:p>
        </p:txBody>
      </p:sp>
      <p:sp>
        <p:nvSpPr>
          <p:cNvPr id="11" name="Text 8"/>
          <p:cNvSpPr/>
          <p:nvPr/>
        </p:nvSpPr>
        <p:spPr>
          <a:xfrm>
            <a:off x="4666178" y="2504956"/>
            <a:ext cx="3684032" cy="2413635"/>
          </a:xfrm>
          <a:prstGeom prst="rect">
            <a:avLst/>
          </a:prstGeom>
          <a:noFill/>
          <a:ln/>
        </p:spPr>
        <p:txBody>
          <a:bodyPr wrap="square" lIns="0" tIns="0" rIns="0" bIns="0" rtlCol="0" anchor="t"/>
          <a:lstStyle/>
          <a:p>
            <a:pPr algn="r" rtl="1">
              <a:lnSpc>
                <a:spcPts val="2350"/>
              </a:lnSpc>
            </a:pPr>
            <a:r>
              <a:rPr lang="fa-IR" sz="1600">
                <a:solidFill>
                  <a:schemeClr val="bg1"/>
                </a:solidFill>
                <a:latin typeface="Yekan Bakh FaNum" panose="00000500000000000000" pitchFamily="2" charset="-78"/>
                <a:cs typeface="Yekan Bakh FaNum" panose="00000500000000000000" pitchFamily="2" charset="-78"/>
              </a:rPr>
              <a:t>مربیان می‌توانند درخواست‌های جلسات را </a:t>
            </a:r>
            <a:r>
              <a:rPr lang="fa-IR" sz="1600" b="1">
                <a:solidFill>
                  <a:schemeClr val="bg1"/>
                </a:solidFill>
                <a:latin typeface="Yekan Bakh FaNum" panose="00000500000000000000" pitchFamily="2" charset="-78"/>
                <a:cs typeface="Yekan Bakh FaNum" panose="00000500000000000000" pitchFamily="2" charset="-78"/>
              </a:rPr>
              <a:t>با توضیح کامل قبول یا رد کنند</a:t>
            </a:r>
            <a:r>
              <a:rPr lang="fa-IR" sz="1600">
                <a:solidFill>
                  <a:schemeClr val="bg1"/>
                </a:solidFill>
                <a:latin typeface="Yekan Bakh FaNum" panose="00000500000000000000" pitchFamily="2" charset="-78"/>
                <a:cs typeface="Yekan Bakh FaNum" panose="00000500000000000000" pitchFamily="2" charset="-78"/>
              </a:rPr>
              <a:t> و سیستم به‌طور خودکار اعضا را مطلع کرده و تقویم دسترسی‌ها را به‌روز می‌کند. همچنین مربیان می‌توانند </a:t>
            </a:r>
            <a:r>
              <a:rPr lang="fa-IR" sz="1600" b="1">
                <a:solidFill>
                  <a:schemeClr val="bg1"/>
                </a:solidFill>
                <a:latin typeface="Yekan Bakh FaNum" panose="00000500000000000000" pitchFamily="2" charset="-78"/>
                <a:cs typeface="Yekan Bakh FaNum" panose="00000500000000000000" pitchFamily="2" charset="-78"/>
              </a:rPr>
              <a:t>تاریخچه اعضا، یادداشت‌های جلسات قبلی و شاخص‌های پیشرفت</a:t>
            </a:r>
            <a:r>
              <a:rPr lang="fa-IR" sz="1600">
                <a:solidFill>
                  <a:schemeClr val="bg1"/>
                </a:solidFill>
                <a:latin typeface="Yekan Bakh FaNum" panose="00000500000000000000" pitchFamily="2" charset="-78"/>
                <a:cs typeface="Yekan Bakh FaNum" panose="00000500000000000000" pitchFamily="2" charset="-78"/>
              </a:rPr>
              <a:t> را مشاهده کرده و تجربه تمرینی شخصی‌سازی شده ارائه دهند.</a:t>
            </a:r>
            <a:endParaRPr lang="en-US" sz="1450" dirty="0">
              <a:solidFill>
                <a:schemeClr val="bg1"/>
              </a:solidFill>
              <a:latin typeface="Yekan Bakh FaNum" panose="00000500000000000000" pitchFamily="2" charset="-78"/>
              <a:cs typeface="Yekan Bakh FaNum" panose="00000500000000000000" pitchFamily="2" charset="-78"/>
            </a:endParaRPr>
          </a:p>
        </p:txBody>
      </p:sp>
      <p:sp>
        <p:nvSpPr>
          <p:cNvPr id="12" name="Text 9"/>
          <p:cNvSpPr/>
          <p:nvPr/>
        </p:nvSpPr>
        <p:spPr>
          <a:xfrm>
            <a:off x="793790" y="5248394"/>
            <a:ext cx="188476" cy="235625"/>
          </a:xfrm>
          <a:prstGeom prst="rect">
            <a:avLst/>
          </a:prstGeom>
          <a:noFill/>
          <a:ln/>
        </p:spPr>
        <p:txBody>
          <a:bodyPr wrap="none" lIns="0" tIns="0" rIns="0" bIns="0" rtlCol="0" anchor="t"/>
          <a:lstStyle/>
          <a:p>
            <a:pPr marL="0" indent="0" algn="r" rtl="1">
              <a:lnSpc>
                <a:spcPts val="2350"/>
              </a:lnSpc>
              <a:buNone/>
            </a:pPr>
            <a:r>
              <a:rPr lang="en-US" sz="1450" dirty="0">
                <a:solidFill>
                  <a:schemeClr val="bg1"/>
                </a:solidFill>
                <a:latin typeface="Yekan Bakh FaNum" panose="00000500000000000000" pitchFamily="2" charset="-78"/>
                <a:ea typeface="Instrument Sans Light" pitchFamily="34" charset="-122"/>
                <a:cs typeface="Yekan Bakh FaNum" panose="00000500000000000000" pitchFamily="2" charset="-78"/>
              </a:rPr>
              <a:t>03</a:t>
            </a:r>
            <a:endParaRPr lang="en-US" sz="1450" dirty="0">
              <a:solidFill>
                <a:schemeClr val="bg1"/>
              </a:solidFill>
              <a:latin typeface="Yekan Bakh FaNum" panose="00000500000000000000" pitchFamily="2" charset="-78"/>
              <a:cs typeface="Yekan Bakh FaNum" panose="00000500000000000000" pitchFamily="2" charset="-78"/>
            </a:endParaRPr>
          </a:p>
        </p:txBody>
      </p:sp>
      <p:sp>
        <p:nvSpPr>
          <p:cNvPr id="13" name="Shape 10"/>
          <p:cNvSpPr/>
          <p:nvPr/>
        </p:nvSpPr>
        <p:spPr>
          <a:xfrm>
            <a:off x="793790" y="5545812"/>
            <a:ext cx="7556421" cy="22860"/>
          </a:xfrm>
          <a:prstGeom prst="rect">
            <a:avLst/>
          </a:prstGeom>
          <a:solidFill>
            <a:srgbClr val="F5F547"/>
          </a:solidFill>
          <a:ln/>
        </p:spPr>
      </p:sp>
      <p:sp>
        <p:nvSpPr>
          <p:cNvPr id="14" name="Text 11"/>
          <p:cNvSpPr/>
          <p:nvPr/>
        </p:nvSpPr>
        <p:spPr>
          <a:xfrm>
            <a:off x="5846921" y="5734541"/>
            <a:ext cx="2503289" cy="294680"/>
          </a:xfrm>
          <a:prstGeom prst="rect">
            <a:avLst/>
          </a:prstGeom>
          <a:noFill/>
          <a:ln/>
        </p:spPr>
        <p:txBody>
          <a:bodyPr wrap="none" lIns="0" tIns="0" rIns="0" bIns="0" rtlCol="0" anchor="t"/>
          <a:lstStyle/>
          <a:p>
            <a:pPr algn="r" rtl="1">
              <a:lnSpc>
                <a:spcPts val="2300"/>
              </a:lnSpc>
            </a:pPr>
            <a:r>
              <a:rPr lang="fa-IR" sz="2000" b="1" dirty="0">
                <a:solidFill>
                  <a:schemeClr val="bg1"/>
                </a:solidFill>
                <a:latin typeface="Yekan Bakh FaNum" panose="00000500000000000000" pitchFamily="2" charset="-78"/>
                <a:cs typeface="Yekan Bakh FaNum" panose="00000500000000000000" pitchFamily="2" charset="-78"/>
              </a:rPr>
              <a:t>شاخص‌های عملکرد</a:t>
            </a:r>
            <a:endParaRPr lang="en-US" sz="1850" b="1" dirty="0">
              <a:solidFill>
                <a:schemeClr val="bg1"/>
              </a:solidFill>
              <a:latin typeface="Yekan Bakh FaNum" panose="00000500000000000000" pitchFamily="2" charset="-78"/>
              <a:cs typeface="Yekan Bakh FaNum" panose="00000500000000000000" pitchFamily="2" charset="-78"/>
            </a:endParaRPr>
          </a:p>
        </p:txBody>
      </p:sp>
      <p:sp>
        <p:nvSpPr>
          <p:cNvPr id="15" name="Text 12"/>
          <p:cNvSpPr/>
          <p:nvPr/>
        </p:nvSpPr>
        <p:spPr>
          <a:xfrm>
            <a:off x="793790" y="6093500"/>
            <a:ext cx="7556421" cy="1206818"/>
          </a:xfrm>
          <a:prstGeom prst="rect">
            <a:avLst/>
          </a:prstGeom>
          <a:noFill/>
          <a:ln/>
        </p:spPr>
        <p:txBody>
          <a:bodyPr wrap="square" lIns="0" tIns="0" rIns="0" bIns="0" rtlCol="0" anchor="t"/>
          <a:lstStyle/>
          <a:p>
            <a:pPr algn="r" rtl="1">
              <a:lnSpc>
                <a:spcPts val="2350"/>
              </a:lnSpc>
            </a:pPr>
            <a:r>
              <a:rPr lang="fa-IR" sz="1600" dirty="0">
                <a:solidFill>
                  <a:schemeClr val="bg1"/>
                </a:solidFill>
                <a:latin typeface="Yekan Bakh FaNum" panose="00000500000000000000" pitchFamily="2" charset="-78"/>
                <a:cs typeface="Yekan Bakh FaNum" panose="00000500000000000000" pitchFamily="2" charset="-78"/>
              </a:rPr>
              <a:t>عملکرد مربیان با معیارهایی مانند </a:t>
            </a:r>
            <a:r>
              <a:rPr lang="fa-IR" sz="1600" b="1" dirty="0">
                <a:solidFill>
                  <a:schemeClr val="bg1"/>
                </a:solidFill>
                <a:latin typeface="Yekan Bakh FaNum" panose="00000500000000000000" pitchFamily="2" charset="-78"/>
                <a:cs typeface="Yekan Bakh FaNum" panose="00000500000000000000" pitchFamily="2" charset="-78"/>
              </a:rPr>
              <a:t>نرخ تکمیل جلسات، رضایت اعضا و درآمدزایی</a:t>
            </a:r>
            <a:r>
              <a:rPr lang="fa-IR" sz="1600" dirty="0">
                <a:solidFill>
                  <a:schemeClr val="bg1"/>
                </a:solidFill>
                <a:latin typeface="Yekan Bakh FaNum" panose="00000500000000000000" pitchFamily="2" charset="-78"/>
                <a:cs typeface="Yekan Bakh FaNum" panose="00000500000000000000" pitchFamily="2" charset="-78"/>
              </a:rPr>
              <a:t> دنبال می‌شود. داشبوردهای شخصی به مربیان کمک می‌کند </a:t>
            </a:r>
            <a:r>
              <a:rPr lang="fa-IR" sz="1600" b="1" dirty="0">
                <a:solidFill>
                  <a:schemeClr val="bg1"/>
                </a:solidFill>
                <a:latin typeface="Yekan Bakh FaNum" panose="00000500000000000000" pitchFamily="2" charset="-78"/>
                <a:cs typeface="Yekan Bakh FaNum" panose="00000500000000000000" pitchFamily="2" charset="-78"/>
              </a:rPr>
              <a:t>بهترین زمان‌های رزرو، محبوب‌ترین خدمات و فرصت‌های توسعه حرفه‌ای</a:t>
            </a:r>
            <a:r>
              <a:rPr lang="fa-IR" sz="1600" dirty="0">
                <a:solidFill>
                  <a:schemeClr val="bg1"/>
                </a:solidFill>
                <a:latin typeface="Yekan Bakh FaNum" panose="00000500000000000000" pitchFamily="2" charset="-78"/>
                <a:cs typeface="Yekan Bakh FaNum" panose="00000500000000000000" pitchFamily="2" charset="-78"/>
              </a:rPr>
              <a:t> را شناسایی کنند.</a:t>
            </a:r>
            <a:endParaRPr lang="en-US" sz="1450" dirty="0">
              <a:solidFill>
                <a:schemeClr val="bg1"/>
              </a:solidFill>
              <a:latin typeface="Yekan Bakh FaNum" panose="00000500000000000000" pitchFamily="2" charset="-78"/>
              <a:cs typeface="Yekan Bakh FaNum" panose="00000500000000000000" pitchFamily="2"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par>
                                <p:cTn id="27" presetID="10"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10" grpId="0" animBg="1"/>
      <p:bldP spid="11" grpId="0" animBg="1"/>
      <p:bldP spid="12" grpId="0" animBg="1"/>
      <p:bldP spid="14"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419713" y="560703"/>
            <a:ext cx="5038130" cy="522327"/>
          </a:xfrm>
          <a:prstGeom prst="rect">
            <a:avLst/>
          </a:prstGeom>
          <a:noFill/>
          <a:ln/>
        </p:spPr>
        <p:txBody>
          <a:bodyPr wrap="none" lIns="0" tIns="0" rIns="0" bIns="0" rtlCol="0" anchor="t"/>
          <a:lstStyle/>
          <a:p>
            <a:pPr algn="r" rtl="1">
              <a:lnSpc>
                <a:spcPts val="4100"/>
              </a:lnSpc>
            </a:pPr>
            <a:r>
              <a:rPr lang="fa-IR" sz="3600" b="1" dirty="0">
                <a:solidFill>
                  <a:srgbClr val="FFFF00"/>
                </a:solidFill>
                <a:latin typeface="Yekan Bakh FaNum" panose="00000500000000000000" pitchFamily="2" charset="-78"/>
                <a:cs typeface="Yekan Bakh FaNum" panose="00000500000000000000" pitchFamily="2" charset="-78"/>
              </a:rPr>
              <a:t>مدیریت هوشمندانه</a:t>
            </a:r>
            <a:endParaRPr lang="en-US" sz="3250" b="1" dirty="0">
              <a:solidFill>
                <a:srgbClr val="FFFF00"/>
              </a:solidFill>
              <a:latin typeface="Yekan Bakh FaNum" panose="00000500000000000000" pitchFamily="2" charset="-78"/>
              <a:cs typeface="Yekan Bakh FaNum" panose="00000500000000000000" pitchFamily="2" charset="-78"/>
            </a:endParaRPr>
          </a:p>
        </p:txBody>
      </p:sp>
      <p:sp>
        <p:nvSpPr>
          <p:cNvPr id="3" name="Text 1"/>
          <p:cNvSpPr/>
          <p:nvPr/>
        </p:nvSpPr>
        <p:spPr>
          <a:xfrm>
            <a:off x="4937046" y="1480780"/>
            <a:ext cx="3520797" cy="313373"/>
          </a:xfrm>
          <a:prstGeom prst="rect">
            <a:avLst/>
          </a:prstGeom>
          <a:noFill/>
          <a:ln/>
        </p:spPr>
        <p:txBody>
          <a:bodyPr wrap="none" lIns="0" tIns="0" rIns="0" bIns="0" rtlCol="0" anchor="t"/>
          <a:lstStyle/>
          <a:p>
            <a:pPr marL="0" indent="0" algn="r" rtl="1">
              <a:lnSpc>
                <a:spcPts val="2450"/>
              </a:lnSpc>
              <a:buNone/>
            </a:pPr>
            <a:r>
              <a:rPr lang="fa-IR" sz="1950" b="1" dirty="0">
                <a:solidFill>
                  <a:schemeClr val="bg1"/>
                </a:solidFill>
                <a:latin typeface="Yekan Bakh FaNum" panose="00000500000000000000" pitchFamily="2" charset="-78"/>
                <a:ea typeface="Instrument Sans Medium" pitchFamily="34" charset="-122"/>
                <a:cs typeface="Yekan Bakh FaNum" panose="00000500000000000000" pitchFamily="2" charset="-78"/>
              </a:rPr>
              <a:t>مدیریت کامل باشگاه</a:t>
            </a:r>
            <a:endParaRPr lang="en-US" sz="1950" b="1" dirty="0">
              <a:solidFill>
                <a:schemeClr val="bg1"/>
              </a:solidFill>
              <a:latin typeface="Yekan Bakh FaNum" panose="00000500000000000000" pitchFamily="2" charset="-78"/>
              <a:cs typeface="Yekan Bakh FaNum" panose="00000500000000000000" pitchFamily="2" charset="-78"/>
            </a:endParaRPr>
          </a:p>
        </p:txBody>
      </p:sp>
      <p:sp>
        <p:nvSpPr>
          <p:cNvPr id="4" name="Text 2"/>
          <p:cNvSpPr/>
          <p:nvPr/>
        </p:nvSpPr>
        <p:spPr>
          <a:xfrm>
            <a:off x="786527" y="1961198"/>
            <a:ext cx="7671316" cy="1069658"/>
          </a:xfrm>
          <a:prstGeom prst="rect">
            <a:avLst/>
          </a:prstGeom>
          <a:noFill/>
          <a:ln/>
        </p:spPr>
        <p:txBody>
          <a:bodyPr wrap="square" lIns="0" tIns="0" rIns="0" bIns="0" rtlCol="0" anchor="t"/>
          <a:lstStyle/>
          <a:p>
            <a:pPr algn="r" rtl="1">
              <a:lnSpc>
                <a:spcPts val="2100"/>
              </a:lnSpc>
            </a:pPr>
            <a:r>
              <a:rPr lang="fa-IR" sz="1400" dirty="0">
                <a:solidFill>
                  <a:schemeClr val="bg1"/>
                </a:solidFill>
                <a:latin typeface="Yekan Bakh FaNum" panose="00000500000000000000" pitchFamily="2" charset="-78"/>
                <a:cs typeface="Yekan Bakh FaNum" panose="00000500000000000000" pitchFamily="2" charset="-78"/>
              </a:rPr>
              <a:t>با پلتفرم ما، بخش‌های اداری باشگاهتون رو متحول کنید. همه چیز از ثبت‌نام و مربیان گرفته تا پرداخت‌ها و گزارش‌ها، توی یک داشبورد ساده و یکپارچه جمع می‌شه. اینطوری مدیر باشگاه در لحظه روی تمام بخش‌ها دید کامل داره و می‌تونه بهتر تصمیم بگیره.</a:t>
            </a:r>
            <a:endParaRPr lang="en-US" sz="1300" dirty="0">
              <a:solidFill>
                <a:schemeClr val="bg1"/>
              </a:solidFill>
              <a:latin typeface="Yekan Bakh FaNum" panose="00000500000000000000" pitchFamily="2" charset="-78"/>
              <a:cs typeface="Yekan Bakh FaNum" panose="00000500000000000000" pitchFamily="2" charset="-78"/>
            </a:endParaRPr>
          </a:p>
        </p:txBody>
      </p:sp>
      <p:sp>
        <p:nvSpPr>
          <p:cNvPr id="5" name="Text 3"/>
          <p:cNvSpPr/>
          <p:nvPr/>
        </p:nvSpPr>
        <p:spPr>
          <a:xfrm>
            <a:off x="5765006" y="3238411"/>
            <a:ext cx="2692837" cy="261104"/>
          </a:xfrm>
          <a:prstGeom prst="rect">
            <a:avLst/>
          </a:prstGeom>
          <a:noFill/>
          <a:ln/>
        </p:spPr>
        <p:txBody>
          <a:bodyPr wrap="none" lIns="0" tIns="0" rIns="0" bIns="0" rtlCol="0" anchor="t"/>
          <a:lstStyle/>
          <a:p>
            <a:pPr marL="0" indent="0" algn="r" rtl="1">
              <a:lnSpc>
                <a:spcPts val="2050"/>
              </a:lnSpc>
              <a:buNone/>
            </a:pPr>
            <a:r>
              <a:rPr lang="fa-IR" sz="1600" b="1" dirty="0">
                <a:solidFill>
                  <a:schemeClr val="bg1"/>
                </a:solidFill>
                <a:latin typeface="Yekan Bakh FaNum" panose="00000500000000000000" pitchFamily="2" charset="-78"/>
                <a:ea typeface="Instrument Sans Medium" pitchFamily="34" charset="-122"/>
                <a:cs typeface="Yekan Bakh FaNum" panose="00000500000000000000" pitchFamily="2" charset="-78"/>
              </a:rPr>
              <a:t>مدیریت کارکنان و مربیان</a:t>
            </a:r>
            <a:endParaRPr lang="en-US" sz="1600" b="1" dirty="0">
              <a:solidFill>
                <a:schemeClr val="bg1"/>
              </a:solidFill>
              <a:latin typeface="Yekan Bakh FaNum" panose="00000500000000000000" pitchFamily="2" charset="-78"/>
              <a:cs typeface="Yekan Bakh FaNum" panose="00000500000000000000" pitchFamily="2" charset="-78"/>
            </a:endParaRPr>
          </a:p>
        </p:txBody>
      </p:sp>
      <p:sp>
        <p:nvSpPr>
          <p:cNvPr id="6" name="Text 4"/>
          <p:cNvSpPr/>
          <p:nvPr/>
        </p:nvSpPr>
        <p:spPr>
          <a:xfrm>
            <a:off x="786527" y="3626048"/>
            <a:ext cx="7671316" cy="1069658"/>
          </a:xfrm>
          <a:prstGeom prst="rect">
            <a:avLst/>
          </a:prstGeom>
          <a:noFill/>
          <a:ln/>
        </p:spPr>
        <p:txBody>
          <a:bodyPr wrap="square" lIns="0" tIns="0" rIns="0" bIns="0" rtlCol="0" anchor="t"/>
          <a:lstStyle/>
          <a:p>
            <a:pPr algn="r" rtl="1">
              <a:lnSpc>
                <a:spcPts val="2100"/>
              </a:lnSpc>
            </a:pPr>
            <a:r>
              <a:rPr lang="fa-IR" sz="1400" dirty="0">
                <a:solidFill>
                  <a:schemeClr val="bg1"/>
                </a:solidFill>
                <a:latin typeface="Yekan Bakh FaNum" panose="00000500000000000000" pitchFamily="2" charset="-78"/>
                <a:cs typeface="Yekan Bakh FaNum" panose="00000500000000000000" pitchFamily="2" charset="-78"/>
              </a:rPr>
              <a:t>با سیستم ما می‌تونید کل تیم باشگاه رو هوشمندانه مدیریت کنید. از زمان‌بندی خودکار و ارزیابی عملکرد گرفته تا محاسبه حقوق و دستمزد همه یکجا انجام می‌شه. پلتفرم میزان بهره‌وری مربیان رو نشون می‌ده، تاریخ اعتبار مدرک‌ها رو یادآوری می‌کنه و مطمئن می‌شه که همیشه تعداد مربیان نسبت به اعضا در ساعات شلوغی کافی باشه. علاوه بر این، همه سوابق پرسنل ثبت می‌شن، دسترسی‌ها مدیریت می‌شن و ارتباط بین بخش‌ها ساده و روان می‌شه.</a:t>
            </a:r>
            <a:endParaRPr lang="en-US" sz="1300" dirty="0">
              <a:solidFill>
                <a:schemeClr val="bg1"/>
              </a:solidFill>
              <a:latin typeface="Yekan Bakh FaNum" panose="00000500000000000000" pitchFamily="2" charset="-78"/>
              <a:cs typeface="Yekan Bakh FaNum" panose="00000500000000000000" pitchFamily="2" charset="-78"/>
            </a:endParaRPr>
          </a:p>
        </p:txBody>
      </p:sp>
      <p:sp>
        <p:nvSpPr>
          <p:cNvPr id="7" name="Text 5"/>
          <p:cNvSpPr/>
          <p:nvPr/>
        </p:nvSpPr>
        <p:spPr>
          <a:xfrm>
            <a:off x="6029206" y="5160346"/>
            <a:ext cx="2428637" cy="261104"/>
          </a:xfrm>
          <a:prstGeom prst="rect">
            <a:avLst/>
          </a:prstGeom>
          <a:noFill/>
          <a:ln/>
        </p:spPr>
        <p:txBody>
          <a:bodyPr wrap="none" lIns="0" tIns="0" rIns="0" bIns="0" rtlCol="0" anchor="t"/>
          <a:lstStyle/>
          <a:p>
            <a:pPr marL="0" indent="0" algn="r" rtl="1">
              <a:lnSpc>
                <a:spcPts val="2050"/>
              </a:lnSpc>
              <a:buNone/>
            </a:pPr>
            <a:r>
              <a:rPr lang="fa-IR" sz="1600" b="1" dirty="0">
                <a:solidFill>
                  <a:schemeClr val="bg1"/>
                </a:solidFill>
                <a:latin typeface="Yekan Bakh FaNum" panose="00000500000000000000" pitchFamily="2" charset="-78"/>
                <a:ea typeface="Instrument Sans Medium" pitchFamily="34" charset="-122"/>
                <a:cs typeface="Yekan Bakh FaNum" panose="00000500000000000000" pitchFamily="2" charset="-78"/>
              </a:rPr>
              <a:t>مدیریت سرویس و تعرفه</a:t>
            </a:r>
            <a:endParaRPr lang="en-US" sz="1600" b="1" dirty="0">
              <a:solidFill>
                <a:schemeClr val="bg1"/>
              </a:solidFill>
              <a:latin typeface="Yekan Bakh FaNum" panose="00000500000000000000" pitchFamily="2" charset="-78"/>
              <a:cs typeface="Yekan Bakh FaNum" panose="00000500000000000000" pitchFamily="2" charset="-78"/>
            </a:endParaRPr>
          </a:p>
        </p:txBody>
      </p:sp>
      <p:sp>
        <p:nvSpPr>
          <p:cNvPr id="8" name="Text 6"/>
          <p:cNvSpPr/>
          <p:nvPr/>
        </p:nvSpPr>
        <p:spPr>
          <a:xfrm>
            <a:off x="786527" y="5497499"/>
            <a:ext cx="7671316" cy="1069658"/>
          </a:xfrm>
          <a:prstGeom prst="rect">
            <a:avLst/>
          </a:prstGeom>
          <a:noFill/>
          <a:ln/>
        </p:spPr>
        <p:txBody>
          <a:bodyPr wrap="square" lIns="0" tIns="0" rIns="0" bIns="0" rtlCol="0" anchor="t"/>
          <a:lstStyle/>
          <a:p>
            <a:pPr marL="0" indent="0" algn="r" rtl="1">
              <a:lnSpc>
                <a:spcPts val="2100"/>
              </a:lnSpc>
              <a:buNone/>
            </a:pPr>
            <a:r>
              <a:rPr lang="fa-IR" sz="1300" dirty="0">
                <a:solidFill>
                  <a:schemeClr val="bg1"/>
                </a:solidFill>
                <a:latin typeface="Yekan Bakh FaNum" panose="00000500000000000000" pitchFamily="2" charset="-78"/>
                <a:ea typeface="Open Sans" pitchFamily="34" charset="-122"/>
                <a:cs typeface="Yekan Bakh FaNum" panose="00000500000000000000" pitchFamily="2" charset="-78"/>
              </a:rPr>
              <a:t>با این پلتفرم می‌تونید هر تعداد دسته‌بندی خدمات تعریف کنید، قیمت‌گذاری پویا داشته باشید و پلن‌های عضویت مختلف بسازید تا هم درآمد باشگاه به حداکثر برسه و هم نیازهای متنوع اعضا پوشش داده بشه. سیستم به‌صورت خودکار چرخه‌های پرداخت، محاسبات تخفیف و شرایط پرداخت انعطاف‌پذیر رو مدیریت می‌کنه تا هم بار اداری کمتر بشه و هم جریان نقدینگی قابل پیش‌بینی‌تر بشه.</a:t>
            </a:r>
            <a:endParaRPr lang="en-US" sz="1300" dirty="0">
              <a:solidFill>
                <a:schemeClr val="bg1"/>
              </a:solidFill>
              <a:latin typeface="Yekan Bakh FaNum" panose="00000500000000000000" pitchFamily="2" charset="-78"/>
              <a:cs typeface="Yekan Bakh FaNum" panose="00000500000000000000" pitchFamily="2" charset="-78"/>
            </a:endParaRPr>
          </a:p>
        </p:txBody>
      </p:sp>
      <p:pic>
        <p:nvPicPr>
          <p:cNvPr id="9" name="Image 0" descr="preencoded.png"/>
          <p:cNvPicPr>
            <a:picLocks noChangeAspect="1"/>
          </p:cNvPicPr>
          <p:nvPr/>
        </p:nvPicPr>
        <p:blipFill>
          <a:blip r:embed="rId3"/>
          <a:stretch>
            <a:fillRect/>
          </a:stretch>
        </p:blipFill>
        <p:spPr>
          <a:xfrm>
            <a:off x="9246453" y="1431071"/>
            <a:ext cx="4231481" cy="2424113"/>
          </a:xfrm>
          <a:prstGeom prst="rect">
            <a:avLst/>
          </a:prstGeom>
        </p:spPr>
      </p:pic>
      <p:sp>
        <p:nvSpPr>
          <p:cNvPr id="10" name="Text 7"/>
          <p:cNvSpPr/>
          <p:nvPr/>
        </p:nvSpPr>
        <p:spPr>
          <a:xfrm>
            <a:off x="8873133" y="4197310"/>
            <a:ext cx="4978241" cy="551498"/>
          </a:xfrm>
          <a:prstGeom prst="rect">
            <a:avLst/>
          </a:prstGeom>
          <a:noFill/>
          <a:ln/>
        </p:spPr>
        <p:txBody>
          <a:bodyPr wrap="none" lIns="0" tIns="0" rIns="0" bIns="0" rtlCol="0" anchor="t"/>
          <a:lstStyle/>
          <a:p>
            <a:pPr marL="0" indent="0" algn="ctr" rtl="1">
              <a:lnSpc>
                <a:spcPts val="4300"/>
              </a:lnSpc>
              <a:buNone/>
            </a:pPr>
            <a:r>
              <a:rPr lang="en-US" sz="4300" dirty="0">
                <a:solidFill>
                  <a:schemeClr val="bg1"/>
                </a:solidFill>
                <a:ea typeface="Instrument Sans Medium" pitchFamily="34" charset="-122"/>
                <a:cs typeface="Yekan Bakh FaNum" panose="00000500000000000000" pitchFamily="2" charset="-78"/>
              </a:rPr>
              <a:t>85%</a:t>
            </a:r>
            <a:endParaRPr lang="en-US" sz="4300" dirty="0">
              <a:solidFill>
                <a:schemeClr val="bg1"/>
              </a:solidFill>
              <a:cs typeface="Yekan Bakh FaNum" panose="00000500000000000000" pitchFamily="2" charset="-78"/>
            </a:endParaRPr>
          </a:p>
        </p:txBody>
      </p:sp>
      <p:sp>
        <p:nvSpPr>
          <p:cNvPr id="11" name="Text 8"/>
          <p:cNvSpPr/>
          <p:nvPr/>
        </p:nvSpPr>
        <p:spPr>
          <a:xfrm>
            <a:off x="10317480" y="4957524"/>
            <a:ext cx="2089428" cy="261104"/>
          </a:xfrm>
          <a:prstGeom prst="rect">
            <a:avLst/>
          </a:prstGeom>
          <a:noFill/>
          <a:ln/>
        </p:spPr>
        <p:txBody>
          <a:bodyPr wrap="none" lIns="0" tIns="0" rIns="0" bIns="0" rtlCol="0" anchor="t"/>
          <a:lstStyle/>
          <a:p>
            <a:pPr marL="0" indent="0" algn="ctr" rtl="1">
              <a:lnSpc>
                <a:spcPts val="2050"/>
              </a:lnSpc>
              <a:buNone/>
            </a:pPr>
            <a:r>
              <a:rPr lang="en-US" sz="1600" dirty="0">
                <a:solidFill>
                  <a:schemeClr val="bg1"/>
                </a:solidFill>
                <a:latin typeface="Yekan Bakh FaNum" panose="00000500000000000000" pitchFamily="2" charset="-78"/>
                <a:ea typeface="Instrument Sans Medium" pitchFamily="34" charset="-122"/>
                <a:cs typeface="Yekan Bakh FaNum" panose="00000500000000000000" pitchFamily="2" charset="-78"/>
              </a:rPr>
              <a:t>Time Savings</a:t>
            </a:r>
            <a:endParaRPr lang="en-US" sz="1600" dirty="0">
              <a:solidFill>
                <a:schemeClr val="bg1"/>
              </a:solidFill>
              <a:latin typeface="Yekan Bakh FaNum" panose="00000500000000000000" pitchFamily="2" charset="-78"/>
              <a:cs typeface="Yekan Bakh FaNum" panose="00000500000000000000" pitchFamily="2" charset="-78"/>
            </a:endParaRPr>
          </a:p>
        </p:txBody>
      </p:sp>
      <p:sp>
        <p:nvSpPr>
          <p:cNvPr id="12" name="Text 9"/>
          <p:cNvSpPr/>
          <p:nvPr/>
        </p:nvSpPr>
        <p:spPr>
          <a:xfrm>
            <a:off x="8873133" y="5385673"/>
            <a:ext cx="4978241" cy="267414"/>
          </a:xfrm>
          <a:prstGeom prst="rect">
            <a:avLst/>
          </a:prstGeom>
          <a:noFill/>
          <a:ln/>
        </p:spPr>
        <p:txBody>
          <a:bodyPr wrap="none" lIns="0" tIns="0" rIns="0" bIns="0" rtlCol="0" anchor="t"/>
          <a:lstStyle/>
          <a:p>
            <a:pPr marL="0" indent="0" algn="ctr" rtl="1">
              <a:lnSpc>
                <a:spcPts val="2100"/>
              </a:lnSpc>
              <a:buNone/>
            </a:pPr>
            <a:r>
              <a:rPr lang="en-US" sz="1300" dirty="0">
                <a:solidFill>
                  <a:schemeClr val="bg1"/>
                </a:solidFill>
                <a:latin typeface="Yekan Bakh FaNum" panose="00000500000000000000" pitchFamily="2" charset="-78"/>
                <a:ea typeface="Open Sans" pitchFamily="34" charset="-122"/>
                <a:cs typeface="Yekan Bakh FaNum" panose="00000500000000000000" pitchFamily="2" charset="-78"/>
              </a:rPr>
              <a:t>Reduced administrative tasks</a:t>
            </a:r>
            <a:endParaRPr lang="en-US" sz="1300" dirty="0">
              <a:solidFill>
                <a:schemeClr val="bg1"/>
              </a:solidFill>
              <a:latin typeface="Yekan Bakh FaNum" panose="00000500000000000000" pitchFamily="2" charset="-78"/>
              <a:cs typeface="Yekan Bakh FaNum" panose="00000500000000000000" pitchFamily="2" charset="-78"/>
            </a:endParaRPr>
          </a:p>
        </p:txBody>
      </p:sp>
      <p:sp>
        <p:nvSpPr>
          <p:cNvPr id="13" name="Text 10"/>
          <p:cNvSpPr/>
          <p:nvPr/>
        </p:nvSpPr>
        <p:spPr>
          <a:xfrm>
            <a:off x="8873133" y="6070759"/>
            <a:ext cx="4978241" cy="551498"/>
          </a:xfrm>
          <a:prstGeom prst="rect">
            <a:avLst/>
          </a:prstGeom>
          <a:noFill/>
          <a:ln/>
        </p:spPr>
        <p:txBody>
          <a:bodyPr wrap="none" lIns="0" tIns="0" rIns="0" bIns="0" rtlCol="0" anchor="t"/>
          <a:lstStyle/>
          <a:p>
            <a:pPr marL="0" indent="0" algn="ctr" rtl="1">
              <a:lnSpc>
                <a:spcPts val="4300"/>
              </a:lnSpc>
              <a:buNone/>
            </a:pPr>
            <a:r>
              <a:rPr lang="en-US" sz="4300" dirty="0">
                <a:solidFill>
                  <a:schemeClr val="bg1"/>
                </a:solidFill>
                <a:ea typeface="Instrument Sans Medium" pitchFamily="34" charset="-122"/>
                <a:cs typeface="Yekan Bakh FaNum" panose="00000500000000000000" pitchFamily="2" charset="-78"/>
              </a:rPr>
              <a:t>92%</a:t>
            </a:r>
            <a:endParaRPr lang="en-US" sz="4300" dirty="0">
              <a:solidFill>
                <a:schemeClr val="bg1"/>
              </a:solidFill>
              <a:cs typeface="Yekan Bakh FaNum" panose="00000500000000000000" pitchFamily="2" charset="-78"/>
            </a:endParaRPr>
          </a:p>
        </p:txBody>
      </p:sp>
      <p:sp>
        <p:nvSpPr>
          <p:cNvPr id="14" name="Text 11"/>
          <p:cNvSpPr/>
          <p:nvPr/>
        </p:nvSpPr>
        <p:spPr>
          <a:xfrm>
            <a:off x="10317480" y="6830973"/>
            <a:ext cx="2089428" cy="261104"/>
          </a:xfrm>
          <a:prstGeom prst="rect">
            <a:avLst/>
          </a:prstGeom>
          <a:noFill/>
          <a:ln/>
        </p:spPr>
        <p:txBody>
          <a:bodyPr wrap="none" lIns="0" tIns="0" rIns="0" bIns="0" rtlCol="0" anchor="t"/>
          <a:lstStyle/>
          <a:p>
            <a:pPr marL="0" indent="0" algn="ctr" rtl="1">
              <a:lnSpc>
                <a:spcPts val="2050"/>
              </a:lnSpc>
              <a:buNone/>
            </a:pPr>
            <a:r>
              <a:rPr lang="en-US" sz="1600" dirty="0">
                <a:solidFill>
                  <a:schemeClr val="bg1"/>
                </a:solidFill>
                <a:latin typeface="Yekan Bakh FaNum" panose="00000500000000000000" pitchFamily="2" charset="-78"/>
                <a:ea typeface="Instrument Sans Medium" pitchFamily="34" charset="-122"/>
                <a:cs typeface="Yekan Bakh FaNum" panose="00000500000000000000" pitchFamily="2" charset="-78"/>
              </a:rPr>
              <a:t>Accuracy Rate</a:t>
            </a:r>
            <a:endParaRPr lang="en-US" sz="1600" dirty="0">
              <a:solidFill>
                <a:schemeClr val="bg1"/>
              </a:solidFill>
              <a:latin typeface="Yekan Bakh FaNum" panose="00000500000000000000" pitchFamily="2" charset="-78"/>
              <a:cs typeface="Yekan Bakh FaNum" panose="00000500000000000000" pitchFamily="2" charset="-78"/>
            </a:endParaRPr>
          </a:p>
        </p:txBody>
      </p:sp>
      <p:sp>
        <p:nvSpPr>
          <p:cNvPr id="15" name="Text 12"/>
          <p:cNvSpPr/>
          <p:nvPr/>
        </p:nvSpPr>
        <p:spPr>
          <a:xfrm>
            <a:off x="8873133" y="7259122"/>
            <a:ext cx="4978241" cy="267414"/>
          </a:xfrm>
          <a:prstGeom prst="rect">
            <a:avLst/>
          </a:prstGeom>
          <a:noFill/>
          <a:ln/>
        </p:spPr>
        <p:txBody>
          <a:bodyPr wrap="none" lIns="0" tIns="0" rIns="0" bIns="0" rtlCol="0" anchor="t"/>
          <a:lstStyle/>
          <a:p>
            <a:pPr marL="0" indent="0" algn="ctr" rtl="1">
              <a:lnSpc>
                <a:spcPts val="2100"/>
              </a:lnSpc>
              <a:buNone/>
            </a:pPr>
            <a:r>
              <a:rPr lang="en-US" sz="1300" dirty="0">
                <a:solidFill>
                  <a:schemeClr val="bg1"/>
                </a:solidFill>
                <a:latin typeface="Yekan Bakh FaNum" panose="00000500000000000000" pitchFamily="2" charset="-78"/>
                <a:ea typeface="Open Sans" pitchFamily="34" charset="-122"/>
                <a:cs typeface="Yekan Bakh FaNum" panose="00000500000000000000" pitchFamily="2" charset="-78"/>
              </a:rPr>
              <a:t>In automated processes</a:t>
            </a:r>
            <a:endParaRPr lang="en-US" sz="1300" dirty="0">
              <a:solidFill>
                <a:schemeClr val="bg1"/>
              </a:solidFill>
              <a:latin typeface="Yekan Bakh FaNum" panose="00000500000000000000" pitchFamily="2" charset="-78"/>
              <a:cs typeface="Yekan Bakh FaNum" panose="00000500000000000000" pitchFamily="2"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bg/>
                                          </p:spTgt>
                                        </p:tgtEl>
                                        <p:attrNameLst>
                                          <p:attrName>style.visibility</p:attrName>
                                        </p:attrNameLst>
                                      </p:cBhvr>
                                      <p:to>
                                        <p:strVal val="visible"/>
                                      </p:to>
                                    </p:set>
                                    <p:animEffect transition="in" filter="fade">
                                      <p:cBhvr>
                                        <p:cTn id="12" dur="500"/>
                                        <p:tgtEl>
                                          <p:spTgt spid="3">
                                            <p:bg/>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
                                            <p:bg/>
                                          </p:spTgt>
                                        </p:tgtEl>
                                        <p:attrNameLst>
                                          <p:attrName>style.visibility</p:attrName>
                                        </p:attrNameLst>
                                      </p:cBhvr>
                                      <p:to>
                                        <p:strVal val="visible"/>
                                      </p:to>
                                    </p:set>
                                    <p:animEffect transition="in" filter="fade">
                                      <p:cBhvr>
                                        <p:cTn id="20" dur="500"/>
                                        <p:tgtEl>
                                          <p:spTgt spid="4">
                                            <p:bg/>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Effect transition="in" filter="fade">
                                      <p:cBhvr>
                                        <p:cTn id="25" dur="500"/>
                                        <p:tgtEl>
                                          <p:spTgt spid="4">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
                                            <p:bg/>
                                          </p:spTgt>
                                        </p:tgtEl>
                                        <p:attrNameLst>
                                          <p:attrName>style.visibility</p:attrName>
                                        </p:attrNameLst>
                                      </p:cBhvr>
                                      <p:to>
                                        <p:strVal val="visible"/>
                                      </p:to>
                                    </p:set>
                                    <p:animEffect transition="in" filter="fade">
                                      <p:cBhvr>
                                        <p:cTn id="28" dur="500"/>
                                        <p:tgtEl>
                                          <p:spTgt spid="5">
                                            <p:bg/>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txEl>
                                              <p:pRg st="0" end="0"/>
                                            </p:txEl>
                                          </p:spTgt>
                                        </p:tgtEl>
                                        <p:attrNameLst>
                                          <p:attrName>style.visibility</p:attrName>
                                        </p:attrNameLst>
                                      </p:cBhvr>
                                      <p:to>
                                        <p:strVal val="visible"/>
                                      </p:to>
                                    </p:set>
                                    <p:animEffect transition="in" filter="fade">
                                      <p:cBhvr>
                                        <p:cTn id="33" dur="500"/>
                                        <p:tgtEl>
                                          <p:spTgt spid="5">
                                            <p:txEl>
                                              <p:pRg st="0" end="0"/>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
                                            <p:bg/>
                                          </p:spTgt>
                                        </p:tgtEl>
                                        <p:attrNameLst>
                                          <p:attrName>style.visibility</p:attrName>
                                        </p:attrNameLst>
                                      </p:cBhvr>
                                      <p:to>
                                        <p:strVal val="visible"/>
                                      </p:to>
                                    </p:set>
                                    <p:animEffect transition="in" filter="fade">
                                      <p:cBhvr>
                                        <p:cTn id="36" dur="500"/>
                                        <p:tgtEl>
                                          <p:spTgt spid="6">
                                            <p:bg/>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6">
                                            <p:txEl>
                                              <p:pRg st="0" end="0"/>
                                            </p:txEl>
                                          </p:spTgt>
                                        </p:tgtEl>
                                        <p:attrNameLst>
                                          <p:attrName>style.visibility</p:attrName>
                                        </p:attrNameLst>
                                      </p:cBhvr>
                                      <p:to>
                                        <p:strVal val="visible"/>
                                      </p:to>
                                    </p:set>
                                    <p:animEffect transition="in" filter="fade">
                                      <p:cBhvr>
                                        <p:cTn id="41" dur="500"/>
                                        <p:tgtEl>
                                          <p:spTgt spid="6">
                                            <p:txEl>
                                              <p:pRg st="0" end="0"/>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7">
                                            <p:bg/>
                                          </p:spTgt>
                                        </p:tgtEl>
                                        <p:attrNameLst>
                                          <p:attrName>style.visibility</p:attrName>
                                        </p:attrNameLst>
                                      </p:cBhvr>
                                      <p:to>
                                        <p:strVal val="visible"/>
                                      </p:to>
                                    </p:set>
                                    <p:animEffect transition="in" filter="fade">
                                      <p:cBhvr>
                                        <p:cTn id="44" dur="500"/>
                                        <p:tgtEl>
                                          <p:spTgt spid="7">
                                            <p:bg/>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7">
                                            <p:txEl>
                                              <p:pRg st="0" end="0"/>
                                            </p:txEl>
                                          </p:spTgt>
                                        </p:tgtEl>
                                        <p:attrNameLst>
                                          <p:attrName>style.visibility</p:attrName>
                                        </p:attrNameLst>
                                      </p:cBhvr>
                                      <p:to>
                                        <p:strVal val="visible"/>
                                      </p:to>
                                    </p:set>
                                    <p:animEffect transition="in" filter="fade">
                                      <p:cBhvr>
                                        <p:cTn id="49" dur="500"/>
                                        <p:tgtEl>
                                          <p:spTgt spid="7">
                                            <p:txEl>
                                              <p:pRg st="0" end="0"/>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8">
                                            <p:bg/>
                                          </p:spTgt>
                                        </p:tgtEl>
                                        <p:attrNameLst>
                                          <p:attrName>style.visibility</p:attrName>
                                        </p:attrNameLst>
                                      </p:cBhvr>
                                      <p:to>
                                        <p:strVal val="visible"/>
                                      </p:to>
                                    </p:set>
                                    <p:animEffect transition="in" filter="fade">
                                      <p:cBhvr>
                                        <p:cTn id="52" dur="500"/>
                                        <p:tgtEl>
                                          <p:spTgt spid="8">
                                            <p:bg/>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8">
                                            <p:txEl>
                                              <p:pRg st="0" end="0"/>
                                            </p:txEl>
                                          </p:spTgt>
                                        </p:tgtEl>
                                        <p:attrNameLst>
                                          <p:attrName>style.visibility</p:attrName>
                                        </p:attrNameLst>
                                      </p:cBhvr>
                                      <p:to>
                                        <p:strVal val="visible"/>
                                      </p:to>
                                    </p:set>
                                    <p:animEffect transition="in" filter="fade">
                                      <p:cBhvr>
                                        <p:cTn id="5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4" grpId="0" build="p" animBg="1"/>
      <p:bldP spid="5" grpId="0" build="p" animBg="1"/>
      <p:bldP spid="6" grpId="0" build="p" animBg="1"/>
      <p:bldP spid="7" grpId="0" build="p" animBg="1"/>
      <p:bldP spid="8"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715017" y="571275"/>
            <a:ext cx="5121593" cy="527090"/>
          </a:xfrm>
          <a:prstGeom prst="rect">
            <a:avLst/>
          </a:prstGeom>
          <a:noFill/>
          <a:ln/>
        </p:spPr>
        <p:txBody>
          <a:bodyPr wrap="none" lIns="0" tIns="0" rIns="0" bIns="0" rtlCol="0" anchor="t"/>
          <a:lstStyle/>
          <a:p>
            <a:pPr algn="r" rtl="1"/>
            <a:r>
              <a:rPr lang="fa-IR" sz="3600" b="1" dirty="0">
                <a:solidFill>
                  <a:srgbClr val="FFFF00"/>
                </a:solidFill>
                <a:latin typeface="Yekan Bakh FaNum" panose="00000500000000000000" pitchFamily="2" charset="-78"/>
                <a:cs typeface="Yekan Bakh FaNum" panose="00000500000000000000" pitchFamily="2" charset="-78"/>
              </a:rPr>
              <a:t>سودآوری پلتفرم</a:t>
            </a:r>
          </a:p>
        </p:txBody>
      </p:sp>
      <p:pic>
        <p:nvPicPr>
          <p:cNvPr id="4" name="Image 0" descr="preencoded.png"/>
          <p:cNvPicPr>
            <a:picLocks noChangeAspect="1"/>
          </p:cNvPicPr>
          <p:nvPr/>
        </p:nvPicPr>
        <p:blipFill>
          <a:blip r:embed="rId3"/>
          <a:stretch>
            <a:fillRect/>
          </a:stretch>
        </p:blipFill>
        <p:spPr>
          <a:xfrm>
            <a:off x="12993171" y="1415481"/>
            <a:ext cx="843439" cy="1511618"/>
          </a:xfrm>
          <a:prstGeom prst="rect">
            <a:avLst/>
          </a:prstGeom>
        </p:spPr>
      </p:pic>
      <p:sp>
        <p:nvSpPr>
          <p:cNvPr id="5" name="Text 2"/>
          <p:cNvSpPr/>
          <p:nvPr/>
        </p:nvSpPr>
        <p:spPr>
          <a:xfrm>
            <a:off x="8472668" y="1523667"/>
            <a:ext cx="4219110" cy="325660"/>
          </a:xfrm>
          <a:prstGeom prst="rect">
            <a:avLst/>
          </a:prstGeom>
          <a:noFill/>
          <a:ln/>
        </p:spPr>
        <p:txBody>
          <a:bodyPr wrap="none" lIns="0" tIns="0" rIns="0" bIns="0" rtlCol="0" anchor="t"/>
          <a:lstStyle/>
          <a:p>
            <a:pPr algn="r" rtl="1"/>
            <a:r>
              <a:rPr lang="fa-IR" sz="1600" b="1" dirty="0">
                <a:solidFill>
                  <a:schemeClr val="bg1"/>
                </a:solidFill>
                <a:latin typeface="Yekan Bakh FaNum" panose="00000500000000000000" pitchFamily="2" charset="-78"/>
                <a:cs typeface="Yekan Bakh FaNum" panose="00000500000000000000" pitchFamily="2" charset="-78"/>
              </a:rPr>
              <a:t>۱. اشتراک ماهیانه/سالانه </a:t>
            </a:r>
            <a:r>
              <a:rPr lang="en-US" sz="1600" b="1" dirty="0">
                <a:solidFill>
                  <a:schemeClr val="bg1"/>
                </a:solidFill>
                <a:latin typeface="Yekan Bakh FaNum" panose="00000500000000000000" pitchFamily="2" charset="-78"/>
                <a:cs typeface="Yekan Bakh FaNum" panose="00000500000000000000" pitchFamily="2" charset="-78"/>
              </a:rPr>
              <a:t>(Subscription Model)</a:t>
            </a:r>
          </a:p>
        </p:txBody>
      </p:sp>
      <p:sp>
        <p:nvSpPr>
          <p:cNvPr id="6" name="Text 3"/>
          <p:cNvSpPr/>
          <p:nvPr/>
        </p:nvSpPr>
        <p:spPr>
          <a:xfrm>
            <a:off x="660989" y="1830303"/>
            <a:ext cx="12030789" cy="809744"/>
          </a:xfrm>
          <a:prstGeom prst="rect">
            <a:avLst/>
          </a:prstGeom>
          <a:noFill/>
          <a:ln/>
        </p:spPr>
        <p:txBody>
          <a:bodyPr wrap="square" lIns="0" tIns="0" rIns="0" bIns="0" rtlCol="0" anchor="t"/>
          <a:lstStyle/>
          <a:p>
            <a:pPr algn="r" rtl="1">
              <a:lnSpc>
                <a:spcPts val="2100"/>
              </a:lnSpc>
            </a:pPr>
            <a:r>
              <a:rPr lang="fa-IR" sz="1400" dirty="0">
                <a:solidFill>
                  <a:schemeClr val="bg1"/>
                </a:solidFill>
                <a:latin typeface="Yekan Bakh FaNum" panose="00000500000000000000" pitchFamily="2" charset="-78"/>
                <a:cs typeface="Yekan Bakh FaNum" panose="00000500000000000000" pitchFamily="2" charset="-78"/>
              </a:rPr>
              <a:t>مدل کلاسیک </a:t>
            </a:r>
            <a:r>
              <a:rPr lang="en-US" sz="1400" dirty="0">
                <a:solidFill>
                  <a:schemeClr val="bg1"/>
                </a:solidFill>
                <a:latin typeface="Yekan Bakh FaNum" panose="00000500000000000000" pitchFamily="2" charset="-78"/>
                <a:cs typeface="Yekan Bakh FaNum" panose="00000500000000000000" pitchFamily="2" charset="-78"/>
              </a:rPr>
              <a:t>SaaS. </a:t>
            </a:r>
            <a:r>
              <a:rPr lang="fa-IR" sz="1400" dirty="0">
                <a:solidFill>
                  <a:schemeClr val="bg1"/>
                </a:solidFill>
                <a:latin typeface="Yekan Bakh FaNum" panose="00000500000000000000" pitchFamily="2" charset="-78"/>
                <a:cs typeface="Yekan Bakh FaNum" panose="00000500000000000000" pitchFamily="2" charset="-78"/>
              </a:rPr>
              <a:t>باشگاه‌ها برای استفاده از امکانات اصلی مثل ثبت‌نام اعضا، مدیریت مربیان، و گزارش‌گیری، حق اشتراک ثابت می‌پردازن.</a:t>
            </a:r>
            <a:br>
              <a:rPr lang="fa-IR" sz="1400" dirty="0">
                <a:solidFill>
                  <a:schemeClr val="bg1"/>
                </a:solidFill>
                <a:latin typeface="Yekan Bakh FaNum" panose="00000500000000000000" pitchFamily="2" charset="-78"/>
                <a:cs typeface="Yekan Bakh FaNum" panose="00000500000000000000" pitchFamily="2" charset="-78"/>
              </a:rPr>
            </a:br>
            <a:r>
              <a:rPr lang="en-US" sz="1400" dirty="0">
                <a:solidFill>
                  <a:schemeClr val="bg1"/>
                </a:solidFill>
                <a:latin typeface="Yekan Bakh FaNum" panose="00000500000000000000" pitchFamily="2" charset="-78"/>
                <a:cs typeface="Yekan Bakh FaNum" panose="00000500000000000000" pitchFamily="2" charset="-78"/>
              </a:rPr>
              <a:t>🔹 </a:t>
            </a:r>
            <a:r>
              <a:rPr lang="fa-IR" sz="1400" dirty="0">
                <a:solidFill>
                  <a:schemeClr val="bg1"/>
                </a:solidFill>
                <a:latin typeface="Yekan Bakh FaNum" panose="00000500000000000000" pitchFamily="2" charset="-78"/>
                <a:cs typeface="Yekan Bakh FaNum" panose="00000500000000000000" pitchFamily="2" charset="-78"/>
              </a:rPr>
              <a:t>مزیت: درآمد پایدار و قابل پیش‌بینی.</a:t>
            </a:r>
            <a:br>
              <a:rPr lang="fa-IR" sz="1400" dirty="0">
                <a:solidFill>
                  <a:schemeClr val="bg1"/>
                </a:solidFill>
                <a:latin typeface="Yekan Bakh FaNum" panose="00000500000000000000" pitchFamily="2" charset="-78"/>
                <a:cs typeface="Yekan Bakh FaNum" panose="00000500000000000000" pitchFamily="2" charset="-78"/>
              </a:rPr>
            </a:br>
            <a:r>
              <a:rPr lang="en-US" sz="1400" dirty="0">
                <a:solidFill>
                  <a:schemeClr val="bg1"/>
                </a:solidFill>
                <a:latin typeface="Yekan Bakh FaNum" panose="00000500000000000000" pitchFamily="2" charset="-78"/>
                <a:cs typeface="Yekan Bakh FaNum" panose="00000500000000000000" pitchFamily="2" charset="-78"/>
              </a:rPr>
              <a:t>🔹 </a:t>
            </a:r>
            <a:r>
              <a:rPr lang="fa-IR" sz="1400" dirty="0">
                <a:solidFill>
                  <a:schemeClr val="bg1"/>
                </a:solidFill>
                <a:latin typeface="Yekan Bakh FaNum" panose="00000500000000000000" pitchFamily="2" charset="-78"/>
                <a:cs typeface="Yekan Bakh FaNum" panose="00000500000000000000" pitchFamily="2" charset="-78"/>
              </a:rPr>
              <a:t>مثال: باشگاه‌های کوچک ۵۰ دلار در ماه، باشگاه‌های بزرگ‌تر ۲۰۰ دلار در ماه.</a:t>
            </a:r>
            <a:endParaRPr lang="en-US" sz="1300" dirty="0">
              <a:solidFill>
                <a:schemeClr val="bg1"/>
              </a:solidFill>
              <a:latin typeface="Yekan Bakh FaNum" panose="00000500000000000000" pitchFamily="2" charset="-78"/>
              <a:cs typeface="Yekan Bakh FaNum" panose="00000500000000000000" pitchFamily="2" charset="-78"/>
            </a:endParaRPr>
          </a:p>
        </p:txBody>
      </p:sp>
      <p:pic>
        <p:nvPicPr>
          <p:cNvPr id="7" name="Image 1" descr="preencoded.png"/>
          <p:cNvPicPr>
            <a:picLocks noChangeAspect="1"/>
          </p:cNvPicPr>
          <p:nvPr/>
        </p:nvPicPr>
        <p:blipFill>
          <a:blip r:embed="rId4"/>
          <a:stretch>
            <a:fillRect/>
          </a:stretch>
        </p:blipFill>
        <p:spPr>
          <a:xfrm>
            <a:off x="12993171" y="3061915"/>
            <a:ext cx="843439" cy="1511618"/>
          </a:xfrm>
          <a:prstGeom prst="rect">
            <a:avLst/>
          </a:prstGeom>
        </p:spPr>
      </p:pic>
      <p:sp>
        <p:nvSpPr>
          <p:cNvPr id="8" name="Text 4"/>
          <p:cNvSpPr/>
          <p:nvPr/>
        </p:nvSpPr>
        <p:spPr>
          <a:xfrm>
            <a:off x="8715017" y="3096823"/>
            <a:ext cx="3976761" cy="262207"/>
          </a:xfrm>
          <a:prstGeom prst="rect">
            <a:avLst/>
          </a:prstGeom>
          <a:noFill/>
          <a:ln/>
        </p:spPr>
        <p:txBody>
          <a:bodyPr wrap="none" lIns="0" tIns="0" rIns="0" bIns="0" rtlCol="0" anchor="t"/>
          <a:lstStyle/>
          <a:p>
            <a:pPr algn="r" rtl="1"/>
            <a:r>
              <a:rPr lang="fa-IR" sz="1600" b="1" dirty="0">
                <a:solidFill>
                  <a:schemeClr val="bg1"/>
                </a:solidFill>
                <a:latin typeface="Yekan Bakh FaNum" panose="00000500000000000000" pitchFamily="2" charset="-78"/>
                <a:cs typeface="Yekan Bakh FaNum" panose="00000500000000000000" pitchFamily="2" charset="-78"/>
              </a:rPr>
              <a:t>۲. پرداخت به ازای استفاده </a:t>
            </a:r>
            <a:r>
              <a:rPr lang="en-US" sz="1600" b="1" dirty="0">
                <a:solidFill>
                  <a:schemeClr val="bg1"/>
                </a:solidFill>
                <a:latin typeface="Yekan Bakh FaNum" panose="00000500000000000000" pitchFamily="2" charset="-78"/>
                <a:cs typeface="Yekan Bakh FaNum" panose="00000500000000000000" pitchFamily="2" charset="-78"/>
              </a:rPr>
              <a:t>Pay-as-you-go)</a:t>
            </a:r>
            <a:r>
              <a:rPr lang="fa-IR" sz="1600" b="1" dirty="0">
                <a:solidFill>
                  <a:schemeClr val="bg1"/>
                </a:solidFill>
                <a:latin typeface="Yekan Bakh FaNum" panose="00000500000000000000" pitchFamily="2" charset="-78"/>
                <a:cs typeface="Yekan Bakh FaNum" panose="00000500000000000000" pitchFamily="2" charset="-78"/>
              </a:rPr>
              <a:t>)</a:t>
            </a:r>
            <a:endParaRPr lang="en-US" sz="1600" b="1" dirty="0">
              <a:solidFill>
                <a:schemeClr val="bg1"/>
              </a:solidFill>
              <a:latin typeface="Yekan Bakh FaNum" panose="00000500000000000000" pitchFamily="2" charset="-78"/>
              <a:cs typeface="Yekan Bakh FaNum" panose="00000500000000000000" pitchFamily="2" charset="-78"/>
            </a:endParaRPr>
          </a:p>
        </p:txBody>
      </p:sp>
      <p:sp>
        <p:nvSpPr>
          <p:cNvPr id="9" name="Text 5"/>
          <p:cNvSpPr/>
          <p:nvPr/>
        </p:nvSpPr>
        <p:spPr>
          <a:xfrm>
            <a:off x="660988" y="3410934"/>
            <a:ext cx="12030789" cy="809744"/>
          </a:xfrm>
          <a:prstGeom prst="rect">
            <a:avLst/>
          </a:prstGeom>
          <a:noFill/>
          <a:ln/>
        </p:spPr>
        <p:txBody>
          <a:bodyPr wrap="square" lIns="0" tIns="0" rIns="0" bIns="0" rtlCol="0" anchor="t"/>
          <a:lstStyle/>
          <a:p>
            <a:pPr algn="r" rtl="1">
              <a:lnSpc>
                <a:spcPts val="2100"/>
              </a:lnSpc>
            </a:pPr>
            <a:r>
              <a:rPr lang="fa-IR" sz="1400" dirty="0">
                <a:solidFill>
                  <a:schemeClr val="bg1"/>
                </a:solidFill>
                <a:latin typeface="Yekan Bakh FaNum" panose="00000500000000000000" pitchFamily="2" charset="-78"/>
                <a:cs typeface="Yekan Bakh FaNum" panose="00000500000000000000" pitchFamily="2" charset="-78"/>
              </a:rPr>
              <a:t>باشگاه‌ها بر اساس تعداد اعضامی‌دن.</a:t>
            </a:r>
            <a:br>
              <a:rPr lang="fa-IR" sz="1400" dirty="0">
                <a:solidFill>
                  <a:schemeClr val="bg1"/>
                </a:solidFill>
                <a:latin typeface="Yekan Bakh FaNum" panose="00000500000000000000" pitchFamily="2" charset="-78"/>
                <a:cs typeface="Yekan Bakh FaNum" panose="00000500000000000000" pitchFamily="2" charset="-78"/>
              </a:rPr>
            </a:br>
            <a:r>
              <a:rPr lang="en-US" sz="1400" dirty="0">
                <a:solidFill>
                  <a:schemeClr val="bg1"/>
                </a:solidFill>
                <a:latin typeface="Yekan Bakh FaNum" panose="00000500000000000000" pitchFamily="2" charset="-78"/>
                <a:cs typeface="Yekan Bakh FaNum" panose="00000500000000000000" pitchFamily="2" charset="-78"/>
              </a:rPr>
              <a:t>🔹 </a:t>
            </a:r>
            <a:r>
              <a:rPr lang="fa-IR" sz="1400" dirty="0">
                <a:solidFill>
                  <a:schemeClr val="bg1"/>
                </a:solidFill>
                <a:latin typeface="Yekan Bakh FaNum" panose="00000500000000000000" pitchFamily="2" charset="-78"/>
                <a:cs typeface="Yekan Bakh FaNum" panose="00000500000000000000" pitchFamily="2" charset="-78"/>
              </a:rPr>
              <a:t>مزیت: مناسب برای باشگاه‌های کوچک، تعداد مربیان یا حجم تراکنش‌ها هزینه  که نمی‌خوان هزینه ثابت بدن و فقط به‌اندازه استفاده خرج می‌کنن.</a:t>
            </a:r>
            <a:br>
              <a:rPr lang="fa-IR" sz="1400" dirty="0">
                <a:solidFill>
                  <a:schemeClr val="bg1"/>
                </a:solidFill>
                <a:latin typeface="Yekan Bakh FaNum" panose="00000500000000000000" pitchFamily="2" charset="-78"/>
                <a:cs typeface="Yekan Bakh FaNum" panose="00000500000000000000" pitchFamily="2" charset="-78"/>
              </a:rPr>
            </a:br>
            <a:r>
              <a:rPr lang="en-US" sz="1400" dirty="0">
                <a:solidFill>
                  <a:schemeClr val="bg1"/>
                </a:solidFill>
                <a:latin typeface="Yekan Bakh FaNum" panose="00000500000000000000" pitchFamily="2" charset="-78"/>
                <a:cs typeface="Yekan Bakh FaNum" panose="00000500000000000000" pitchFamily="2" charset="-78"/>
              </a:rPr>
              <a:t>🔹 </a:t>
            </a:r>
            <a:r>
              <a:rPr lang="fa-IR" sz="1400" dirty="0">
                <a:solidFill>
                  <a:schemeClr val="bg1"/>
                </a:solidFill>
                <a:latin typeface="Yekan Bakh FaNum" panose="00000500000000000000" pitchFamily="2" charset="-78"/>
                <a:cs typeface="Yekan Bakh FaNum" panose="00000500000000000000" pitchFamily="2" charset="-78"/>
              </a:rPr>
              <a:t>مثال: ۰.۵ دلار به ازای هر عضو فعال در سیستم.</a:t>
            </a:r>
            <a:endParaRPr lang="en-US" sz="1300" dirty="0">
              <a:solidFill>
                <a:schemeClr val="bg1"/>
              </a:solidFill>
              <a:latin typeface="Yekan Bakh FaNum" panose="00000500000000000000" pitchFamily="2" charset="-78"/>
              <a:cs typeface="Yekan Bakh FaNum" panose="00000500000000000000" pitchFamily="2" charset="-78"/>
            </a:endParaRPr>
          </a:p>
        </p:txBody>
      </p:sp>
      <p:pic>
        <p:nvPicPr>
          <p:cNvPr id="10" name="Image 2" descr="preencoded.png"/>
          <p:cNvPicPr>
            <a:picLocks noChangeAspect="1"/>
          </p:cNvPicPr>
          <p:nvPr/>
        </p:nvPicPr>
        <p:blipFill>
          <a:blip r:embed="rId5"/>
          <a:stretch>
            <a:fillRect/>
          </a:stretch>
        </p:blipFill>
        <p:spPr>
          <a:xfrm>
            <a:off x="12993171" y="4638020"/>
            <a:ext cx="843439" cy="1241703"/>
          </a:xfrm>
          <a:prstGeom prst="rect">
            <a:avLst/>
          </a:prstGeom>
        </p:spPr>
      </p:pic>
      <p:sp>
        <p:nvSpPr>
          <p:cNvPr id="11" name="Text 6"/>
          <p:cNvSpPr/>
          <p:nvPr/>
        </p:nvSpPr>
        <p:spPr>
          <a:xfrm>
            <a:off x="8472668" y="4745405"/>
            <a:ext cx="4219110" cy="278512"/>
          </a:xfrm>
          <a:prstGeom prst="rect">
            <a:avLst/>
          </a:prstGeom>
          <a:noFill/>
          <a:ln/>
        </p:spPr>
        <p:txBody>
          <a:bodyPr wrap="none" lIns="0" tIns="0" rIns="0" bIns="0" rtlCol="0" anchor="t"/>
          <a:lstStyle/>
          <a:p>
            <a:pPr algn="r" rtl="1"/>
            <a:r>
              <a:rPr lang="fa-IR" sz="1600" b="1" dirty="0">
                <a:solidFill>
                  <a:schemeClr val="bg1"/>
                </a:solidFill>
                <a:latin typeface="Yekan Bakh FaNum" panose="00000500000000000000" pitchFamily="2" charset="-78"/>
                <a:cs typeface="Yekan Bakh FaNum" panose="00000500000000000000" pitchFamily="2" charset="-78"/>
              </a:rPr>
              <a:t>۳. ماژول‌ها و خدمات جانبی (</a:t>
            </a:r>
            <a:r>
              <a:rPr lang="en-US" sz="1600" b="1" dirty="0">
                <a:solidFill>
                  <a:schemeClr val="bg1"/>
                </a:solidFill>
                <a:latin typeface="Yekan Bakh FaNum" panose="00000500000000000000" pitchFamily="2" charset="-78"/>
                <a:cs typeface="Yekan Bakh FaNum" panose="00000500000000000000" pitchFamily="2" charset="-78"/>
              </a:rPr>
              <a:t>(Add-on Services</a:t>
            </a:r>
          </a:p>
        </p:txBody>
      </p:sp>
      <p:sp>
        <p:nvSpPr>
          <p:cNvPr id="12" name="Text 7"/>
          <p:cNvSpPr/>
          <p:nvPr/>
        </p:nvSpPr>
        <p:spPr>
          <a:xfrm>
            <a:off x="660989" y="5036984"/>
            <a:ext cx="12030789" cy="539829"/>
          </a:xfrm>
          <a:prstGeom prst="rect">
            <a:avLst/>
          </a:prstGeom>
          <a:noFill/>
          <a:ln/>
        </p:spPr>
        <p:txBody>
          <a:bodyPr wrap="square" lIns="0" tIns="0" rIns="0" bIns="0" rtlCol="0" anchor="t"/>
          <a:lstStyle/>
          <a:p>
            <a:pPr algn="r" rtl="1"/>
            <a:r>
              <a:rPr lang="fa-IR" sz="1400" dirty="0">
                <a:solidFill>
                  <a:schemeClr val="bg1"/>
                </a:solidFill>
                <a:latin typeface="Yekan Bakh FaNum" panose="00000500000000000000" pitchFamily="2" charset="-78"/>
                <a:cs typeface="Yekan Bakh FaNum" panose="00000500000000000000" pitchFamily="2" charset="-78"/>
              </a:rPr>
              <a:t>هسته اصلی پلتفرم امکانات پایه رو می‌ده، اما برای قابلیت‌های پیشرفته باید هزینه جداگانه پرداخت بشه.</a:t>
            </a:r>
            <a:br>
              <a:rPr lang="fa-IR" sz="1400" dirty="0">
                <a:solidFill>
                  <a:schemeClr val="bg1"/>
                </a:solidFill>
                <a:latin typeface="Yekan Bakh FaNum" panose="00000500000000000000" pitchFamily="2" charset="-78"/>
                <a:cs typeface="Yekan Bakh FaNum" panose="00000500000000000000" pitchFamily="2" charset="-78"/>
              </a:rPr>
            </a:br>
            <a:r>
              <a:rPr lang="en-US" sz="1400" dirty="0">
                <a:solidFill>
                  <a:schemeClr val="bg1"/>
                </a:solidFill>
                <a:latin typeface="Yekan Bakh FaNum" panose="00000500000000000000" pitchFamily="2" charset="-78"/>
                <a:cs typeface="Yekan Bakh FaNum" panose="00000500000000000000" pitchFamily="2" charset="-78"/>
              </a:rPr>
              <a:t>🔹 </a:t>
            </a:r>
            <a:r>
              <a:rPr lang="fa-IR" sz="1400" dirty="0">
                <a:solidFill>
                  <a:schemeClr val="bg1"/>
                </a:solidFill>
                <a:latin typeface="Yekan Bakh FaNum" panose="00000500000000000000" pitchFamily="2" charset="-78"/>
                <a:cs typeface="Yekan Bakh FaNum" panose="00000500000000000000" pitchFamily="2" charset="-78"/>
              </a:rPr>
              <a:t>اپ موبایل اختصاصی برای باشگاه</a:t>
            </a:r>
            <a:br>
              <a:rPr lang="fa-IR" sz="1400" dirty="0">
                <a:solidFill>
                  <a:schemeClr val="bg1"/>
                </a:solidFill>
                <a:latin typeface="Yekan Bakh FaNum" panose="00000500000000000000" pitchFamily="2" charset="-78"/>
                <a:cs typeface="Yekan Bakh FaNum" panose="00000500000000000000" pitchFamily="2" charset="-78"/>
              </a:rPr>
            </a:br>
            <a:r>
              <a:rPr lang="en-US" sz="1400" dirty="0">
                <a:solidFill>
                  <a:schemeClr val="bg1"/>
                </a:solidFill>
                <a:latin typeface="Yekan Bakh FaNum" panose="00000500000000000000" pitchFamily="2" charset="-78"/>
                <a:cs typeface="Yekan Bakh FaNum" panose="00000500000000000000" pitchFamily="2" charset="-78"/>
              </a:rPr>
              <a:t>🔹 </a:t>
            </a:r>
            <a:r>
              <a:rPr lang="fa-IR" sz="1400" dirty="0">
                <a:solidFill>
                  <a:schemeClr val="bg1"/>
                </a:solidFill>
                <a:latin typeface="Yekan Bakh FaNum" panose="00000500000000000000" pitchFamily="2" charset="-78"/>
                <a:cs typeface="Yekan Bakh FaNum" panose="00000500000000000000" pitchFamily="2" charset="-78"/>
              </a:rPr>
              <a:t>مزیت: هر مشتری متناسب با نیازش هزینه می‌کنه و درآمد متنوع ایجاد می‌شه.</a:t>
            </a:r>
          </a:p>
        </p:txBody>
      </p:sp>
      <p:pic>
        <p:nvPicPr>
          <p:cNvPr id="13" name="Image 3" descr="preencoded.png"/>
          <p:cNvPicPr>
            <a:picLocks noChangeAspect="1"/>
          </p:cNvPicPr>
          <p:nvPr/>
        </p:nvPicPr>
        <p:blipFill>
          <a:blip r:embed="rId6"/>
          <a:stretch>
            <a:fillRect/>
          </a:stretch>
        </p:blipFill>
        <p:spPr>
          <a:xfrm>
            <a:off x="12993169" y="6038682"/>
            <a:ext cx="843439" cy="1511618"/>
          </a:xfrm>
          <a:prstGeom prst="rect">
            <a:avLst/>
          </a:prstGeom>
        </p:spPr>
      </p:pic>
      <p:sp>
        <p:nvSpPr>
          <p:cNvPr id="14" name="Text 8"/>
          <p:cNvSpPr/>
          <p:nvPr/>
        </p:nvSpPr>
        <p:spPr>
          <a:xfrm>
            <a:off x="8912506" y="6097619"/>
            <a:ext cx="3779271" cy="263485"/>
          </a:xfrm>
          <a:prstGeom prst="rect">
            <a:avLst/>
          </a:prstGeom>
          <a:noFill/>
          <a:ln/>
        </p:spPr>
        <p:txBody>
          <a:bodyPr wrap="none" lIns="0" tIns="0" rIns="0" bIns="0" rtlCol="0" anchor="t"/>
          <a:lstStyle/>
          <a:p>
            <a:pPr algn="r" rtl="1">
              <a:lnSpc>
                <a:spcPts val="2050"/>
              </a:lnSpc>
            </a:pPr>
            <a:r>
              <a:rPr lang="fa-IR" sz="1600" dirty="0">
                <a:solidFill>
                  <a:schemeClr val="bg1"/>
                </a:solidFill>
                <a:latin typeface="Yekan Bakh FaNum" panose="00000500000000000000" pitchFamily="2" charset="-78"/>
                <a:cs typeface="Yekan Bakh FaNum" panose="00000500000000000000" pitchFamily="2" charset="-78"/>
              </a:rPr>
              <a:t>4.سفارش‌سازی و برندینگ </a:t>
            </a:r>
            <a:r>
              <a:rPr lang="en-US" sz="1600" dirty="0">
                <a:solidFill>
                  <a:schemeClr val="bg1"/>
                </a:solidFill>
                <a:latin typeface="Yekan Bakh FaNum" panose="00000500000000000000" pitchFamily="2" charset="-78"/>
                <a:cs typeface="Yekan Bakh FaNum" panose="00000500000000000000" pitchFamily="2" charset="-78"/>
              </a:rPr>
              <a:t>(White Label)</a:t>
            </a:r>
            <a:endParaRPr lang="en-US" sz="1650" dirty="0">
              <a:solidFill>
                <a:schemeClr val="bg1"/>
              </a:solidFill>
              <a:latin typeface="Yekan Bakh FaNum" panose="00000500000000000000" pitchFamily="2" charset="-78"/>
              <a:cs typeface="Yekan Bakh FaNum" panose="00000500000000000000" pitchFamily="2" charset="-78"/>
            </a:endParaRPr>
          </a:p>
        </p:txBody>
      </p:sp>
      <p:sp>
        <p:nvSpPr>
          <p:cNvPr id="15" name="Text 9"/>
          <p:cNvSpPr/>
          <p:nvPr/>
        </p:nvSpPr>
        <p:spPr>
          <a:xfrm>
            <a:off x="793792" y="6477038"/>
            <a:ext cx="12030789" cy="809744"/>
          </a:xfrm>
          <a:prstGeom prst="rect">
            <a:avLst/>
          </a:prstGeom>
          <a:noFill/>
          <a:ln/>
        </p:spPr>
        <p:txBody>
          <a:bodyPr wrap="square" lIns="0" tIns="0" rIns="0" bIns="0" rtlCol="0" anchor="t"/>
          <a:lstStyle/>
          <a:p>
            <a:pPr algn="r" rtl="1">
              <a:lnSpc>
                <a:spcPts val="2100"/>
              </a:lnSpc>
            </a:pPr>
            <a:r>
              <a:rPr lang="fa-IR" sz="1400" dirty="0">
                <a:solidFill>
                  <a:schemeClr val="bg1"/>
                </a:solidFill>
                <a:latin typeface="Yekan Bakh FaNum" panose="00000500000000000000" pitchFamily="2" charset="-78"/>
                <a:cs typeface="Yekan Bakh FaNum" panose="00000500000000000000" pitchFamily="2" charset="-78"/>
              </a:rPr>
              <a:t>باشگاه‌هایی که می‌خوان اپلیکیشن یا پنل اختصاصی با نام و لوگوی خودشون داشته باشن، هزینه بیشتری پرداخت می‌کنن.</a:t>
            </a:r>
            <a:br>
              <a:rPr lang="fa-IR" sz="1400" dirty="0">
                <a:solidFill>
                  <a:schemeClr val="bg1"/>
                </a:solidFill>
                <a:latin typeface="Yekan Bakh FaNum" panose="00000500000000000000" pitchFamily="2" charset="-78"/>
                <a:cs typeface="Yekan Bakh FaNum" panose="00000500000000000000" pitchFamily="2" charset="-78"/>
              </a:rPr>
            </a:br>
            <a:r>
              <a:rPr lang="en-US" sz="1400" dirty="0">
                <a:solidFill>
                  <a:schemeClr val="bg1"/>
                </a:solidFill>
                <a:latin typeface="Yekan Bakh FaNum" panose="00000500000000000000" pitchFamily="2" charset="-78"/>
                <a:cs typeface="Yekan Bakh FaNum" panose="00000500000000000000" pitchFamily="2" charset="-78"/>
              </a:rPr>
              <a:t>🔹 </a:t>
            </a:r>
            <a:r>
              <a:rPr lang="fa-IR" sz="1400" dirty="0">
                <a:solidFill>
                  <a:schemeClr val="bg1"/>
                </a:solidFill>
                <a:latin typeface="Yekan Bakh FaNum" panose="00000500000000000000" pitchFamily="2" charset="-78"/>
                <a:cs typeface="Yekan Bakh FaNum" panose="00000500000000000000" pitchFamily="2" charset="-78"/>
              </a:rPr>
              <a:t>مزیت: درآمد بالا از مشتریان خاص</a:t>
            </a:r>
            <a:r>
              <a:rPr lang="en-US" sz="1400" dirty="0">
                <a:solidFill>
                  <a:schemeClr val="bg1"/>
                </a:solidFill>
                <a:latin typeface="Yekan Bakh FaNum" panose="00000500000000000000" pitchFamily="2" charset="-78"/>
                <a:cs typeface="Yekan Bakh FaNum" panose="00000500000000000000" pitchFamily="2" charset="-78"/>
              </a:rPr>
              <a:t> VIP Clubs)</a:t>
            </a:r>
            <a:r>
              <a:rPr lang="fa-IR" sz="1400" dirty="0">
                <a:solidFill>
                  <a:schemeClr val="bg1"/>
                </a:solidFill>
                <a:latin typeface="Yekan Bakh FaNum" panose="00000500000000000000" pitchFamily="2" charset="-78"/>
                <a:cs typeface="Yekan Bakh FaNum" panose="00000500000000000000" pitchFamily="2" charset="-78"/>
              </a:rPr>
              <a:t>)</a:t>
            </a:r>
            <a:br>
              <a:rPr lang="en-US" sz="1400" dirty="0">
                <a:solidFill>
                  <a:schemeClr val="bg1"/>
                </a:solidFill>
                <a:latin typeface="Yekan Bakh FaNum" panose="00000500000000000000" pitchFamily="2" charset="-78"/>
                <a:cs typeface="Yekan Bakh FaNum" panose="00000500000000000000" pitchFamily="2" charset="-78"/>
              </a:rPr>
            </a:br>
            <a:r>
              <a:rPr lang="en-US" sz="1400" dirty="0">
                <a:solidFill>
                  <a:schemeClr val="bg1"/>
                </a:solidFill>
                <a:latin typeface="Yekan Bakh FaNum" panose="00000500000000000000" pitchFamily="2" charset="-78"/>
                <a:cs typeface="Yekan Bakh FaNum" panose="00000500000000000000" pitchFamily="2" charset="-78"/>
              </a:rPr>
              <a:t>🔹 </a:t>
            </a:r>
            <a:r>
              <a:rPr lang="fa-IR" sz="1400" dirty="0">
                <a:solidFill>
                  <a:schemeClr val="bg1"/>
                </a:solidFill>
                <a:latin typeface="Yekan Bakh FaNum" panose="00000500000000000000" pitchFamily="2" charset="-78"/>
                <a:cs typeface="Yekan Bakh FaNum" panose="00000500000000000000" pitchFamily="2" charset="-78"/>
              </a:rPr>
              <a:t>مثال: ۳۰۰۰ دلار برای راه‌اندازی نسخه اختصاصی + پشتیبانی سالانه.</a:t>
            </a:r>
            <a:endParaRPr lang="en-US" sz="1300" dirty="0">
              <a:solidFill>
                <a:schemeClr val="bg1"/>
              </a:solidFill>
              <a:latin typeface="Yekan Bakh FaNum" panose="00000500000000000000" pitchFamily="2" charset="-78"/>
              <a:cs typeface="Yekan Bakh FaNum" panose="00000500000000000000" pitchFamily="2"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8" grpId="0" animBg="1"/>
      <p:bldP spid="9" grpId="0" animBg="1"/>
      <p:bldP spid="11" grpId="0" animBg="1"/>
      <p:bldP spid="12" grpId="0" animBg="1"/>
      <p:bldP spid="14"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205741" y="1317261"/>
            <a:ext cx="6830378" cy="620078"/>
          </a:xfrm>
          <a:prstGeom prst="rect">
            <a:avLst/>
          </a:prstGeom>
          <a:noFill/>
          <a:ln/>
        </p:spPr>
        <p:txBody>
          <a:bodyPr wrap="none" lIns="0" tIns="0" rIns="0" bIns="0" rtlCol="0" anchor="t"/>
          <a:lstStyle/>
          <a:p>
            <a:pPr algn="r" rtl="1">
              <a:lnSpc>
                <a:spcPts val="4850"/>
              </a:lnSpc>
            </a:pPr>
            <a:r>
              <a:rPr lang="fa-IR" sz="4000" b="1" dirty="0">
                <a:solidFill>
                  <a:srgbClr val="FFFF00"/>
                </a:solidFill>
                <a:latin typeface="Yekan Bakh FaNum" panose="00000500000000000000" pitchFamily="2" charset="-78"/>
                <a:cs typeface="Yekan Bakh FaNum" panose="00000500000000000000" pitchFamily="2" charset="-78"/>
              </a:rPr>
              <a:t>چرا باشگاه‌ها باید باشگاه یار را انتخاب کنند؟</a:t>
            </a:r>
            <a:endParaRPr lang="en-US" sz="3900" b="1" dirty="0">
              <a:solidFill>
                <a:srgbClr val="FFFF00"/>
              </a:solidFill>
              <a:latin typeface="Yekan Bakh FaNum" panose="00000500000000000000" pitchFamily="2" charset="-78"/>
              <a:cs typeface="Yekan Bakh FaNum" panose="00000500000000000000" pitchFamily="2" charset="-78"/>
            </a:endParaRPr>
          </a:p>
        </p:txBody>
      </p:sp>
      <p:sp>
        <p:nvSpPr>
          <p:cNvPr id="3" name="Text 1"/>
          <p:cNvSpPr/>
          <p:nvPr/>
        </p:nvSpPr>
        <p:spPr>
          <a:xfrm>
            <a:off x="793790" y="2223135"/>
            <a:ext cx="4175998" cy="372070"/>
          </a:xfrm>
          <a:prstGeom prst="rect">
            <a:avLst/>
          </a:prstGeom>
          <a:noFill/>
          <a:ln/>
        </p:spPr>
        <p:txBody>
          <a:bodyPr wrap="none" lIns="0" tIns="0" rIns="0" bIns="0" rtlCol="0" anchor="t"/>
          <a:lstStyle/>
          <a:p>
            <a:pPr marL="0" indent="0" algn="r" rtl="1">
              <a:lnSpc>
                <a:spcPts val="2900"/>
              </a:lnSpc>
              <a:buNone/>
            </a:pPr>
            <a:endParaRPr lang="en-US" sz="2300" dirty="0">
              <a:solidFill>
                <a:schemeClr val="bg1"/>
              </a:solidFill>
              <a:latin typeface="Yekan Bakh FaNum" panose="00000500000000000000" pitchFamily="2" charset="-78"/>
              <a:cs typeface="Yekan Bakh FaNum" panose="00000500000000000000" pitchFamily="2" charset="-78"/>
            </a:endParaRPr>
          </a:p>
        </p:txBody>
      </p:sp>
      <p:pic>
        <p:nvPicPr>
          <p:cNvPr id="4" name="Image 0" descr="preencoded.png"/>
          <p:cNvPicPr>
            <a:picLocks noChangeAspect="1"/>
          </p:cNvPicPr>
          <p:nvPr/>
        </p:nvPicPr>
        <p:blipFill>
          <a:blip r:embed="rId3"/>
          <a:stretch>
            <a:fillRect/>
          </a:stretch>
        </p:blipFill>
        <p:spPr>
          <a:xfrm>
            <a:off x="4479846" y="3034326"/>
            <a:ext cx="496133" cy="496133"/>
          </a:xfrm>
          <a:prstGeom prst="rect">
            <a:avLst/>
          </a:prstGeom>
        </p:spPr>
      </p:pic>
      <p:sp>
        <p:nvSpPr>
          <p:cNvPr id="5" name="Text 2"/>
          <p:cNvSpPr/>
          <p:nvPr/>
        </p:nvSpPr>
        <p:spPr>
          <a:xfrm>
            <a:off x="1891665" y="3637002"/>
            <a:ext cx="3084314" cy="310158"/>
          </a:xfrm>
          <a:prstGeom prst="rect">
            <a:avLst/>
          </a:prstGeom>
          <a:noFill/>
          <a:ln/>
        </p:spPr>
        <p:txBody>
          <a:bodyPr wrap="none" lIns="0" tIns="0" rIns="0" bIns="0" rtlCol="0" anchor="t"/>
          <a:lstStyle/>
          <a:p>
            <a:pPr algn="r" rtl="1"/>
            <a:r>
              <a:rPr lang="fa-IR" sz="2000" b="1" dirty="0">
                <a:solidFill>
                  <a:schemeClr val="bg1"/>
                </a:solidFill>
                <a:latin typeface="Yekan Bakh FaNum" panose="00000500000000000000" pitchFamily="2" charset="-78"/>
                <a:cs typeface="Yekan Bakh FaNum" panose="00000500000000000000" pitchFamily="2" charset="-78"/>
              </a:rPr>
              <a:t>رشد درآمد و کاهش هزینه‌ها</a:t>
            </a:r>
          </a:p>
        </p:txBody>
      </p:sp>
      <p:sp>
        <p:nvSpPr>
          <p:cNvPr id="6" name="Text 3"/>
          <p:cNvSpPr/>
          <p:nvPr/>
        </p:nvSpPr>
        <p:spPr>
          <a:xfrm>
            <a:off x="793790" y="4066222"/>
            <a:ext cx="4182189" cy="2857857"/>
          </a:xfrm>
          <a:prstGeom prst="rect">
            <a:avLst/>
          </a:prstGeom>
          <a:noFill/>
          <a:ln/>
        </p:spPr>
        <p:txBody>
          <a:bodyPr wrap="square" lIns="0" tIns="0" rIns="0" bIns="0" rtlCol="0" anchor="t"/>
          <a:lstStyle/>
          <a:p>
            <a:pPr algn="r" rtl="1">
              <a:lnSpc>
                <a:spcPts val="2500"/>
              </a:lnSpc>
            </a:pPr>
            <a:r>
              <a:rPr lang="fa-IR" sz="1600" dirty="0">
                <a:solidFill>
                  <a:schemeClr val="bg1"/>
                </a:solidFill>
                <a:latin typeface="Yekan Bakh FaNum" panose="00000500000000000000" pitchFamily="2" charset="-78"/>
                <a:cs typeface="Yekan Bakh FaNum" panose="00000500000000000000" pitchFamily="2" charset="-78"/>
              </a:rPr>
              <a:t>پرداخت‌های خودکار، گزارش‌های تحلیلی و مدل‌های قیمت‌گذاری انعطاف‌پذیر به باشگاه کمک می‌کنه جریان نقدینگی قابل پیش‌بینی بشه، هزینه‌های اداری کاهش پیدا کنه و فرصت‌های رشد سریع‌تر شناسایی بشن.</a:t>
            </a:r>
            <a:endParaRPr lang="en-US" sz="1550" dirty="0">
              <a:solidFill>
                <a:schemeClr val="bg1"/>
              </a:solidFill>
              <a:latin typeface="Yekan Bakh FaNum" panose="00000500000000000000" pitchFamily="2" charset="-78"/>
              <a:cs typeface="Yekan Bakh FaNum" panose="00000500000000000000" pitchFamily="2" charset="-78"/>
            </a:endParaRPr>
          </a:p>
        </p:txBody>
      </p:sp>
      <p:pic>
        <p:nvPicPr>
          <p:cNvPr id="7" name="Image 1" descr="preencoded.png"/>
          <p:cNvPicPr>
            <a:picLocks noChangeAspect="1"/>
          </p:cNvPicPr>
          <p:nvPr/>
        </p:nvPicPr>
        <p:blipFill>
          <a:blip r:embed="rId4"/>
          <a:stretch>
            <a:fillRect/>
          </a:stretch>
        </p:blipFill>
        <p:spPr>
          <a:xfrm>
            <a:off x="8910161" y="3034326"/>
            <a:ext cx="496133" cy="496133"/>
          </a:xfrm>
          <a:prstGeom prst="rect">
            <a:avLst/>
          </a:prstGeom>
        </p:spPr>
      </p:pic>
      <p:sp>
        <p:nvSpPr>
          <p:cNvPr id="8" name="Text 4"/>
          <p:cNvSpPr/>
          <p:nvPr/>
        </p:nvSpPr>
        <p:spPr>
          <a:xfrm>
            <a:off x="6125884" y="3637002"/>
            <a:ext cx="3280410" cy="310158"/>
          </a:xfrm>
          <a:prstGeom prst="rect">
            <a:avLst/>
          </a:prstGeom>
          <a:noFill/>
          <a:ln/>
        </p:spPr>
        <p:txBody>
          <a:bodyPr wrap="none" lIns="0" tIns="0" rIns="0" bIns="0" rtlCol="0" anchor="t"/>
          <a:lstStyle/>
          <a:p>
            <a:pPr algn="r" rtl="1"/>
            <a:r>
              <a:rPr lang="fa-IR" sz="2000" b="1" dirty="0">
                <a:solidFill>
                  <a:schemeClr val="bg1"/>
                </a:solidFill>
                <a:latin typeface="Yekan Bakh FaNum" panose="00000500000000000000" pitchFamily="2" charset="-78"/>
                <a:cs typeface="Yekan Bakh FaNum" panose="00000500000000000000" pitchFamily="2" charset="-78"/>
              </a:rPr>
              <a:t> مدیریت یکپارچه و هوشمند</a:t>
            </a:r>
          </a:p>
        </p:txBody>
      </p:sp>
      <p:sp>
        <p:nvSpPr>
          <p:cNvPr id="9" name="Text 5"/>
          <p:cNvSpPr/>
          <p:nvPr/>
        </p:nvSpPr>
        <p:spPr>
          <a:xfrm>
            <a:off x="5223986" y="4066222"/>
            <a:ext cx="4182308" cy="2540318"/>
          </a:xfrm>
          <a:prstGeom prst="rect">
            <a:avLst/>
          </a:prstGeom>
          <a:noFill/>
          <a:ln/>
        </p:spPr>
        <p:txBody>
          <a:bodyPr wrap="square" lIns="0" tIns="0" rIns="0" bIns="0" rtlCol="0" anchor="t"/>
          <a:lstStyle/>
          <a:p>
            <a:pPr algn="r" rtl="1">
              <a:lnSpc>
                <a:spcPts val="2500"/>
              </a:lnSpc>
            </a:pPr>
            <a:r>
              <a:rPr lang="fa-IR" sz="1600" dirty="0">
                <a:solidFill>
                  <a:schemeClr val="bg1"/>
                </a:solidFill>
                <a:latin typeface="Yekan Bakh FaNum" panose="00000500000000000000" pitchFamily="2" charset="-78"/>
                <a:cs typeface="Yekan Bakh FaNum" panose="00000500000000000000" pitchFamily="2" charset="-78"/>
              </a:rPr>
              <a:t>همه بخش‌های باشگاه مثل اعضا، مربیان، خدمات و پرداخت‌ها در یک داشبورد مرکزی جمع می‌شن. این یعنی کاهش خطا، صرفه‌جویی در زمان و کنترل کامل روی عملیات روزانه.</a:t>
            </a:r>
            <a:endParaRPr lang="en-US" sz="1550" dirty="0">
              <a:solidFill>
                <a:schemeClr val="bg1"/>
              </a:solidFill>
              <a:latin typeface="Yekan Bakh FaNum" panose="00000500000000000000" pitchFamily="2" charset="-78"/>
              <a:cs typeface="Yekan Bakh FaNum" panose="00000500000000000000" pitchFamily="2" charset="-78"/>
            </a:endParaRPr>
          </a:p>
        </p:txBody>
      </p:sp>
      <p:pic>
        <p:nvPicPr>
          <p:cNvPr id="10" name="Image 2" descr="preencoded.png"/>
          <p:cNvPicPr>
            <a:picLocks noChangeAspect="1"/>
          </p:cNvPicPr>
          <p:nvPr/>
        </p:nvPicPr>
        <p:blipFill>
          <a:blip r:embed="rId5"/>
          <a:stretch>
            <a:fillRect/>
          </a:stretch>
        </p:blipFill>
        <p:spPr>
          <a:xfrm>
            <a:off x="13340476" y="3047519"/>
            <a:ext cx="496133" cy="496133"/>
          </a:xfrm>
          <a:prstGeom prst="rect">
            <a:avLst/>
          </a:prstGeom>
        </p:spPr>
      </p:pic>
      <p:sp>
        <p:nvSpPr>
          <p:cNvPr id="11" name="Text 6"/>
          <p:cNvSpPr/>
          <p:nvPr/>
        </p:nvSpPr>
        <p:spPr>
          <a:xfrm>
            <a:off x="11355705" y="3649858"/>
            <a:ext cx="2480905" cy="310158"/>
          </a:xfrm>
          <a:prstGeom prst="rect">
            <a:avLst/>
          </a:prstGeom>
          <a:noFill/>
          <a:ln/>
        </p:spPr>
        <p:txBody>
          <a:bodyPr wrap="none" lIns="0" tIns="0" rIns="0" bIns="0" rtlCol="0" anchor="t"/>
          <a:lstStyle/>
          <a:p>
            <a:pPr algn="r" rtl="1"/>
            <a:r>
              <a:rPr lang="fa-IR" sz="2000" b="1" dirty="0">
                <a:solidFill>
                  <a:schemeClr val="bg1"/>
                </a:solidFill>
                <a:latin typeface="Yekan Bakh FaNum" panose="00000500000000000000" pitchFamily="2" charset="-78"/>
                <a:cs typeface="Yekan Bakh FaNum" panose="00000500000000000000" pitchFamily="2" charset="-78"/>
              </a:rPr>
              <a:t> افزایش رضایت و ماندگاری اعضا</a:t>
            </a:r>
          </a:p>
        </p:txBody>
      </p:sp>
      <p:sp>
        <p:nvSpPr>
          <p:cNvPr id="12" name="Text 7"/>
          <p:cNvSpPr/>
          <p:nvPr/>
        </p:nvSpPr>
        <p:spPr>
          <a:xfrm>
            <a:off x="9654302" y="4066222"/>
            <a:ext cx="4182308" cy="2540318"/>
          </a:xfrm>
          <a:prstGeom prst="rect">
            <a:avLst/>
          </a:prstGeom>
          <a:noFill/>
          <a:ln/>
        </p:spPr>
        <p:txBody>
          <a:bodyPr wrap="square" lIns="0" tIns="0" rIns="0" bIns="0" rtlCol="0" anchor="t"/>
          <a:lstStyle/>
          <a:p>
            <a:pPr algn="r" rtl="1">
              <a:lnSpc>
                <a:spcPts val="2500"/>
              </a:lnSpc>
            </a:pPr>
            <a:r>
              <a:rPr lang="fa-IR" sz="1600" dirty="0">
                <a:solidFill>
                  <a:schemeClr val="bg1"/>
                </a:solidFill>
                <a:latin typeface="Yekan Bakh FaNum" panose="00000500000000000000" pitchFamily="2" charset="-78"/>
                <a:cs typeface="Yekan Bakh FaNum" panose="00000500000000000000" pitchFamily="2" charset="-78"/>
              </a:rPr>
              <a:t>با ثبت‌نام آنلاین، رزرو سریع جلسات، اعلان‌های لحظه‌ای و پیگیری پیشرفت، تجربه کاربری مدرن و ساده‌ای به اعضا داده می‌شه که باعث افزایش وفاداری و کاهش ریزش می‌شه.</a:t>
            </a:r>
            <a:endParaRPr lang="en-US" sz="1550" dirty="0">
              <a:solidFill>
                <a:schemeClr val="bg1"/>
              </a:solidFill>
              <a:latin typeface="Yekan Bakh FaNum" panose="00000500000000000000" pitchFamily="2" charset="-78"/>
              <a:cs typeface="Yekan Bakh FaNum" panose="00000500000000000000" pitchFamily="2"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900932" y="495483"/>
            <a:ext cx="4946513" cy="581144"/>
          </a:xfrm>
          <a:prstGeom prst="rect">
            <a:avLst/>
          </a:prstGeom>
          <a:noFill/>
          <a:ln/>
        </p:spPr>
        <p:txBody>
          <a:bodyPr wrap="none" lIns="0" tIns="0" rIns="0" bIns="0" rtlCol="0" anchor="t"/>
          <a:lstStyle/>
          <a:p>
            <a:pPr algn="r" rtl="1">
              <a:lnSpc>
                <a:spcPts val="4550"/>
              </a:lnSpc>
            </a:pPr>
            <a:r>
              <a:rPr lang="fa-IR" sz="4000" b="1" dirty="0">
                <a:solidFill>
                  <a:srgbClr val="FFFF00"/>
                </a:solidFill>
                <a:latin typeface="Yekan Bakh FaNum" panose="00000500000000000000" pitchFamily="2" charset="-78"/>
                <a:cs typeface="Yekan Bakh FaNum" panose="00000500000000000000" pitchFamily="2" charset="-78"/>
              </a:rPr>
              <a:t>اثر واقعی کسب‌وکار</a:t>
            </a:r>
            <a:endParaRPr lang="en-US" sz="3650" b="1" dirty="0">
              <a:solidFill>
                <a:srgbClr val="FFFF00"/>
              </a:solidFill>
              <a:latin typeface="Yekan Bakh FaNum" panose="00000500000000000000" pitchFamily="2" charset="-78"/>
              <a:cs typeface="Yekan Bakh FaNum" panose="00000500000000000000" pitchFamily="2" charset="-78"/>
            </a:endParaRPr>
          </a:p>
        </p:txBody>
      </p:sp>
      <p:sp>
        <p:nvSpPr>
          <p:cNvPr id="3" name="Shape 1"/>
          <p:cNvSpPr/>
          <p:nvPr/>
        </p:nvSpPr>
        <p:spPr>
          <a:xfrm>
            <a:off x="782955" y="1493163"/>
            <a:ext cx="6439257" cy="3005138"/>
          </a:xfrm>
          <a:prstGeom prst="roundRect">
            <a:avLst>
              <a:gd name="adj" fmla="val 928"/>
            </a:avLst>
          </a:prstGeom>
          <a:solidFill>
            <a:srgbClr val="3E3E3E"/>
          </a:solidFill>
          <a:ln/>
        </p:spPr>
      </p:sp>
      <p:sp>
        <p:nvSpPr>
          <p:cNvPr id="4" name="Shape 2"/>
          <p:cNvSpPr/>
          <p:nvPr/>
        </p:nvSpPr>
        <p:spPr>
          <a:xfrm>
            <a:off x="968812" y="1679019"/>
            <a:ext cx="557808" cy="557808"/>
          </a:xfrm>
          <a:prstGeom prst="roundRect">
            <a:avLst>
              <a:gd name="adj" fmla="val 16391098"/>
            </a:avLst>
          </a:prstGeom>
          <a:solidFill>
            <a:srgbClr val="F5F547"/>
          </a:solidFill>
          <a:ln/>
        </p:spPr>
      </p:sp>
      <p:pic>
        <p:nvPicPr>
          <p:cNvPr id="5" name="Image 0" descr="preencoded.png"/>
          <p:cNvPicPr>
            <a:picLocks noChangeAspect="1"/>
          </p:cNvPicPr>
          <p:nvPr/>
        </p:nvPicPr>
        <p:blipFill>
          <a:blip r:embed="rId3"/>
          <a:stretch>
            <a:fillRect/>
          </a:stretch>
        </p:blipFill>
        <p:spPr>
          <a:xfrm>
            <a:off x="1122164" y="1801058"/>
            <a:ext cx="250984" cy="313730"/>
          </a:xfrm>
          <a:prstGeom prst="rect">
            <a:avLst/>
          </a:prstGeom>
        </p:spPr>
      </p:pic>
      <p:sp>
        <p:nvSpPr>
          <p:cNvPr id="6" name="Text 3"/>
          <p:cNvSpPr/>
          <p:nvPr/>
        </p:nvSpPr>
        <p:spPr>
          <a:xfrm>
            <a:off x="4647367" y="2307383"/>
            <a:ext cx="2388989" cy="290513"/>
          </a:xfrm>
          <a:prstGeom prst="rect">
            <a:avLst/>
          </a:prstGeom>
          <a:noFill/>
          <a:ln/>
        </p:spPr>
        <p:txBody>
          <a:bodyPr wrap="none" lIns="0" tIns="0" rIns="0" bIns="0" rtlCol="0" anchor="t"/>
          <a:lstStyle/>
          <a:p>
            <a:pPr algn="r" rtl="1">
              <a:lnSpc>
                <a:spcPts val="2250"/>
              </a:lnSpc>
            </a:pPr>
            <a:r>
              <a:rPr lang="fa-IR" sz="2000" b="1" dirty="0">
                <a:solidFill>
                  <a:schemeClr val="bg1"/>
                </a:solidFill>
                <a:latin typeface="Yekan Bakh FaNum" panose="00000500000000000000" pitchFamily="2" charset="-78"/>
                <a:cs typeface="Yekan Bakh FaNum" panose="00000500000000000000" pitchFamily="2" charset="-78"/>
              </a:rPr>
              <a:t>بهره‌وری بالا</a:t>
            </a:r>
            <a:endParaRPr lang="en-US" sz="2000" b="1" dirty="0">
              <a:solidFill>
                <a:schemeClr val="bg1"/>
              </a:solidFill>
              <a:latin typeface="Yekan Bakh FaNum" panose="00000500000000000000" pitchFamily="2" charset="-78"/>
              <a:cs typeface="Yekan Bakh FaNum" panose="00000500000000000000" pitchFamily="2" charset="-78"/>
            </a:endParaRPr>
          </a:p>
        </p:txBody>
      </p:sp>
      <p:sp>
        <p:nvSpPr>
          <p:cNvPr id="7" name="Text 4"/>
          <p:cNvSpPr/>
          <p:nvPr/>
        </p:nvSpPr>
        <p:spPr>
          <a:xfrm>
            <a:off x="968812" y="2824758"/>
            <a:ext cx="6067544" cy="1487686"/>
          </a:xfrm>
          <a:prstGeom prst="rect">
            <a:avLst/>
          </a:prstGeom>
          <a:noFill/>
          <a:ln/>
        </p:spPr>
        <p:txBody>
          <a:bodyPr wrap="square" lIns="0" tIns="0" rIns="0" bIns="0" rtlCol="0" anchor="t"/>
          <a:lstStyle/>
          <a:p>
            <a:pPr algn="r" rtl="1">
              <a:lnSpc>
                <a:spcPts val="2300"/>
              </a:lnSpc>
            </a:pPr>
            <a:r>
              <a:rPr lang="fa-IR" sz="1600" dirty="0">
                <a:solidFill>
                  <a:schemeClr val="bg1"/>
                </a:solidFill>
                <a:latin typeface="Yekan Bakh FaNum" panose="00000500000000000000" pitchFamily="2" charset="-78"/>
                <a:cs typeface="Yekan Bakh FaNum" panose="00000500000000000000" pitchFamily="2" charset="-78"/>
              </a:rPr>
              <a:t>با خودکارسازی کارهای روزمره مثل ثبت‌نام اعضا، پردازش پرداخت‌ها و مدیریت برنامه‌ها، بار کاری مدیریتی تا ۷۰٪ کاهش می‌یابد. پرسنل می‌توانند وقت خود را روی ارائه خدمات بهتر به اعضا بگذارند، که باعث افزایش رضایت شغلی و تجربه بهتر کاربران می‌شود.</a:t>
            </a:r>
            <a:endParaRPr lang="en-US" sz="1450" dirty="0">
              <a:solidFill>
                <a:schemeClr val="bg1"/>
              </a:solidFill>
              <a:latin typeface="Yekan Bakh FaNum" panose="00000500000000000000" pitchFamily="2" charset="-78"/>
              <a:cs typeface="Yekan Bakh FaNum" panose="00000500000000000000" pitchFamily="2" charset="-78"/>
            </a:endParaRPr>
          </a:p>
        </p:txBody>
      </p:sp>
      <p:sp>
        <p:nvSpPr>
          <p:cNvPr id="8" name="Shape 5"/>
          <p:cNvSpPr/>
          <p:nvPr/>
        </p:nvSpPr>
        <p:spPr>
          <a:xfrm>
            <a:off x="7408069" y="1493163"/>
            <a:ext cx="6439376" cy="3005138"/>
          </a:xfrm>
          <a:prstGeom prst="roundRect">
            <a:avLst>
              <a:gd name="adj" fmla="val 928"/>
            </a:avLst>
          </a:prstGeom>
          <a:solidFill>
            <a:srgbClr val="3E3E3E"/>
          </a:solidFill>
          <a:ln/>
        </p:spPr>
        <p:txBody>
          <a:bodyPr/>
          <a:lstStyle/>
          <a:p>
            <a:endParaRPr lang="en-US" dirty="0"/>
          </a:p>
        </p:txBody>
      </p:sp>
      <p:sp>
        <p:nvSpPr>
          <p:cNvPr id="9" name="Shape 6"/>
          <p:cNvSpPr/>
          <p:nvPr/>
        </p:nvSpPr>
        <p:spPr>
          <a:xfrm>
            <a:off x="7593925" y="1679019"/>
            <a:ext cx="557808" cy="557808"/>
          </a:xfrm>
          <a:prstGeom prst="roundRect">
            <a:avLst>
              <a:gd name="adj" fmla="val 16391098"/>
            </a:avLst>
          </a:prstGeom>
          <a:solidFill>
            <a:srgbClr val="F5F547"/>
          </a:solidFill>
          <a:ln/>
        </p:spPr>
      </p:sp>
      <p:pic>
        <p:nvPicPr>
          <p:cNvPr id="10" name="Image 1" descr="preencoded.png"/>
          <p:cNvPicPr>
            <a:picLocks noChangeAspect="1"/>
          </p:cNvPicPr>
          <p:nvPr/>
        </p:nvPicPr>
        <p:blipFill>
          <a:blip r:embed="rId4"/>
          <a:stretch>
            <a:fillRect/>
          </a:stretch>
        </p:blipFill>
        <p:spPr>
          <a:xfrm>
            <a:off x="7747278" y="1801058"/>
            <a:ext cx="250984" cy="313730"/>
          </a:xfrm>
          <a:prstGeom prst="rect">
            <a:avLst/>
          </a:prstGeom>
        </p:spPr>
      </p:pic>
      <p:sp>
        <p:nvSpPr>
          <p:cNvPr id="11" name="Text 7"/>
          <p:cNvSpPr/>
          <p:nvPr/>
        </p:nvSpPr>
        <p:spPr>
          <a:xfrm>
            <a:off x="11337012" y="2308324"/>
            <a:ext cx="2324576" cy="290513"/>
          </a:xfrm>
          <a:prstGeom prst="rect">
            <a:avLst/>
          </a:prstGeom>
          <a:noFill/>
          <a:ln/>
        </p:spPr>
        <p:txBody>
          <a:bodyPr wrap="none" lIns="0" tIns="0" rIns="0" bIns="0" rtlCol="0" anchor="t"/>
          <a:lstStyle/>
          <a:p>
            <a:pPr algn="r" rtl="1">
              <a:lnSpc>
                <a:spcPts val="2250"/>
              </a:lnSpc>
            </a:pPr>
            <a:r>
              <a:rPr lang="fa-IR" sz="2000" b="1" dirty="0">
                <a:solidFill>
                  <a:schemeClr val="bg1"/>
                </a:solidFill>
                <a:latin typeface="Yekan Bakh FaNum" panose="00000500000000000000" pitchFamily="2" charset="-78"/>
                <a:cs typeface="Yekan Bakh FaNum" panose="00000500000000000000" pitchFamily="2" charset="-78"/>
              </a:rPr>
              <a:t>حفظ اعضا</a:t>
            </a:r>
            <a:endParaRPr lang="en-US" sz="2000" b="1" dirty="0">
              <a:solidFill>
                <a:schemeClr val="bg1"/>
              </a:solidFill>
              <a:latin typeface="Yekan Bakh FaNum" panose="00000500000000000000" pitchFamily="2" charset="-78"/>
              <a:cs typeface="Yekan Bakh FaNum" panose="00000500000000000000" pitchFamily="2" charset="-78"/>
            </a:endParaRPr>
          </a:p>
        </p:txBody>
      </p:sp>
      <p:sp>
        <p:nvSpPr>
          <p:cNvPr id="12" name="Text 8"/>
          <p:cNvSpPr/>
          <p:nvPr/>
        </p:nvSpPr>
        <p:spPr>
          <a:xfrm>
            <a:off x="7593925" y="2824758"/>
            <a:ext cx="6067663" cy="1487686"/>
          </a:xfrm>
          <a:prstGeom prst="rect">
            <a:avLst/>
          </a:prstGeom>
          <a:noFill/>
          <a:ln/>
        </p:spPr>
        <p:txBody>
          <a:bodyPr wrap="square" lIns="0" tIns="0" rIns="0" bIns="0" rtlCol="0" anchor="t"/>
          <a:lstStyle/>
          <a:p>
            <a:pPr algn="r" rtl="1">
              <a:lnSpc>
                <a:spcPts val="2300"/>
              </a:lnSpc>
            </a:pPr>
            <a:r>
              <a:rPr lang="fa-IR" sz="1600" dirty="0">
                <a:solidFill>
                  <a:schemeClr val="bg1"/>
                </a:solidFill>
                <a:latin typeface="Yekan Bakh FaNum" panose="00000500000000000000" pitchFamily="2" charset="-78"/>
                <a:cs typeface="Yekan Bakh FaNum" panose="00000500000000000000" pitchFamily="2" charset="-78"/>
              </a:rPr>
              <a:t>با بهبود ارتباطات، ارائه تجربه‌های شخصی‌سازی‌شده و خدمات روان، نرخ ماندگاری اعضا تا ۳۵٪ افزایش می‌یابد. اعلان‌های لحظه‌ای، سیستم رزرو آسان و پیگیری پیشرفت، اعضا را درگیر و انگیزه‌مند نگه می‌دارد تا مسیر فیتنس خود را در باشگاه شما ادامه دهند.</a:t>
            </a:r>
            <a:endParaRPr lang="en-US" sz="1450" dirty="0">
              <a:solidFill>
                <a:schemeClr val="bg1"/>
              </a:solidFill>
              <a:latin typeface="Yekan Bakh FaNum" panose="00000500000000000000" pitchFamily="2" charset="-78"/>
              <a:cs typeface="Yekan Bakh FaNum" panose="00000500000000000000" pitchFamily="2" charset="-78"/>
            </a:endParaRPr>
          </a:p>
        </p:txBody>
      </p:sp>
      <p:sp>
        <p:nvSpPr>
          <p:cNvPr id="13" name="Shape 9"/>
          <p:cNvSpPr/>
          <p:nvPr/>
        </p:nvSpPr>
        <p:spPr>
          <a:xfrm>
            <a:off x="782955" y="4684157"/>
            <a:ext cx="6439257" cy="3005138"/>
          </a:xfrm>
          <a:prstGeom prst="roundRect">
            <a:avLst>
              <a:gd name="adj" fmla="val 928"/>
            </a:avLst>
          </a:prstGeom>
          <a:solidFill>
            <a:srgbClr val="3E3E3E"/>
          </a:solidFill>
          <a:ln/>
        </p:spPr>
      </p:sp>
      <p:sp>
        <p:nvSpPr>
          <p:cNvPr id="14" name="Shape 10"/>
          <p:cNvSpPr/>
          <p:nvPr/>
        </p:nvSpPr>
        <p:spPr>
          <a:xfrm>
            <a:off x="968812" y="4870013"/>
            <a:ext cx="557808" cy="557808"/>
          </a:xfrm>
          <a:prstGeom prst="roundRect">
            <a:avLst>
              <a:gd name="adj" fmla="val 16391098"/>
            </a:avLst>
          </a:prstGeom>
          <a:solidFill>
            <a:srgbClr val="F5F547"/>
          </a:solidFill>
          <a:ln/>
        </p:spPr>
      </p:sp>
      <p:pic>
        <p:nvPicPr>
          <p:cNvPr id="15" name="Image 2" descr="preencoded.png"/>
          <p:cNvPicPr>
            <a:picLocks noChangeAspect="1"/>
          </p:cNvPicPr>
          <p:nvPr/>
        </p:nvPicPr>
        <p:blipFill>
          <a:blip r:embed="rId5"/>
          <a:stretch>
            <a:fillRect/>
          </a:stretch>
        </p:blipFill>
        <p:spPr>
          <a:xfrm>
            <a:off x="1122164" y="4992053"/>
            <a:ext cx="250984" cy="313730"/>
          </a:xfrm>
          <a:prstGeom prst="rect">
            <a:avLst/>
          </a:prstGeom>
        </p:spPr>
      </p:pic>
      <p:sp>
        <p:nvSpPr>
          <p:cNvPr id="16" name="Text 11"/>
          <p:cNvSpPr/>
          <p:nvPr/>
        </p:nvSpPr>
        <p:spPr>
          <a:xfrm>
            <a:off x="4611529" y="5539382"/>
            <a:ext cx="2424827" cy="290513"/>
          </a:xfrm>
          <a:prstGeom prst="rect">
            <a:avLst/>
          </a:prstGeom>
          <a:noFill/>
          <a:ln/>
        </p:spPr>
        <p:txBody>
          <a:bodyPr wrap="none" lIns="0" tIns="0" rIns="0" bIns="0" rtlCol="0" anchor="t"/>
          <a:lstStyle/>
          <a:p>
            <a:pPr algn="r" rtl="1">
              <a:lnSpc>
                <a:spcPts val="2250"/>
              </a:lnSpc>
            </a:pPr>
            <a:r>
              <a:rPr lang="fa-IR" b="1" dirty="0">
                <a:solidFill>
                  <a:schemeClr val="bg1"/>
                </a:solidFill>
                <a:latin typeface="Yekan Bakh FaNum" panose="00000500000000000000" pitchFamily="2" charset="-78"/>
                <a:cs typeface="Yekan Bakh FaNum" panose="00000500000000000000" pitchFamily="2" charset="-78"/>
              </a:rPr>
              <a:t>تصمیم‌گیری مبتنی بر داده</a:t>
            </a:r>
            <a:endParaRPr lang="en-US" sz="1800" b="1" dirty="0">
              <a:solidFill>
                <a:schemeClr val="bg1"/>
              </a:solidFill>
              <a:latin typeface="Yekan Bakh FaNum" panose="00000500000000000000" pitchFamily="2" charset="-78"/>
              <a:cs typeface="Yekan Bakh FaNum" panose="00000500000000000000" pitchFamily="2" charset="-78"/>
            </a:endParaRPr>
          </a:p>
        </p:txBody>
      </p:sp>
      <p:sp>
        <p:nvSpPr>
          <p:cNvPr id="17" name="Text 12"/>
          <p:cNvSpPr/>
          <p:nvPr/>
        </p:nvSpPr>
        <p:spPr>
          <a:xfrm>
            <a:off x="968812" y="6015752"/>
            <a:ext cx="6067544" cy="1487686"/>
          </a:xfrm>
          <a:prstGeom prst="rect">
            <a:avLst/>
          </a:prstGeom>
          <a:noFill/>
          <a:ln/>
        </p:spPr>
        <p:txBody>
          <a:bodyPr wrap="square" lIns="0" tIns="0" rIns="0" bIns="0" rtlCol="0" anchor="t"/>
          <a:lstStyle/>
          <a:p>
            <a:pPr algn="r" rtl="1">
              <a:lnSpc>
                <a:spcPts val="2300"/>
              </a:lnSpc>
            </a:pPr>
            <a:r>
              <a:rPr lang="fa-IR" sz="1600" dirty="0">
                <a:solidFill>
                  <a:schemeClr val="bg1"/>
                </a:solidFill>
                <a:latin typeface="Yekan Bakh FaNum" panose="00000500000000000000" pitchFamily="2" charset="-78"/>
                <a:cs typeface="Yekan Bakh FaNum" panose="00000500000000000000" pitchFamily="2" charset="-78"/>
              </a:rPr>
              <a:t>با دسترسی به تحلیل‌های جامع شامل </a:t>
            </a:r>
            <a:r>
              <a:rPr lang="fa-IR" sz="1600" b="1" dirty="0">
                <a:solidFill>
                  <a:schemeClr val="bg1"/>
                </a:solidFill>
                <a:latin typeface="Yekan Bakh FaNum" panose="00000500000000000000" pitchFamily="2" charset="-78"/>
                <a:cs typeface="Yekan Bakh FaNum" panose="00000500000000000000" pitchFamily="2" charset="-78"/>
              </a:rPr>
              <a:t>ساعات اوج استفاده، خدمات محبوب، روند درآمد و رفتار اعضا</a:t>
            </a:r>
            <a:r>
              <a:rPr lang="fa-IR" sz="1600" dirty="0">
                <a:solidFill>
                  <a:schemeClr val="bg1"/>
                </a:solidFill>
                <a:latin typeface="Yekan Bakh FaNum" panose="00000500000000000000" pitchFamily="2" charset="-78"/>
                <a:cs typeface="Yekan Bakh FaNum" panose="00000500000000000000" pitchFamily="2" charset="-78"/>
              </a:rPr>
              <a:t>، می‌توان تصمیمات استراتژیک برای خرید تجهیزات، بهینه‌سازی پرسنل و ارائه خدمات اتخاذ کرد که مستقیماً روی سودآوری تأثیر می‌گذارد.</a:t>
            </a:r>
            <a:endParaRPr lang="en-US" sz="1450" dirty="0">
              <a:solidFill>
                <a:schemeClr val="bg1"/>
              </a:solidFill>
              <a:latin typeface="Yekan Bakh FaNum" panose="00000500000000000000" pitchFamily="2" charset="-78"/>
              <a:cs typeface="Yekan Bakh FaNum" panose="00000500000000000000" pitchFamily="2" charset="-78"/>
            </a:endParaRPr>
          </a:p>
        </p:txBody>
      </p:sp>
      <p:sp>
        <p:nvSpPr>
          <p:cNvPr id="18" name="Shape 13"/>
          <p:cNvSpPr/>
          <p:nvPr/>
        </p:nvSpPr>
        <p:spPr>
          <a:xfrm>
            <a:off x="7408069" y="4724222"/>
            <a:ext cx="6439376" cy="3005138"/>
          </a:xfrm>
          <a:prstGeom prst="roundRect">
            <a:avLst>
              <a:gd name="adj" fmla="val 928"/>
            </a:avLst>
          </a:prstGeom>
          <a:solidFill>
            <a:srgbClr val="3E3E3E"/>
          </a:solidFill>
          <a:ln/>
        </p:spPr>
      </p:sp>
      <p:sp>
        <p:nvSpPr>
          <p:cNvPr id="19" name="Shape 14"/>
          <p:cNvSpPr/>
          <p:nvPr/>
        </p:nvSpPr>
        <p:spPr>
          <a:xfrm>
            <a:off x="7593925" y="4870013"/>
            <a:ext cx="557808" cy="557808"/>
          </a:xfrm>
          <a:prstGeom prst="roundRect">
            <a:avLst>
              <a:gd name="adj" fmla="val 16391098"/>
            </a:avLst>
          </a:prstGeom>
          <a:solidFill>
            <a:srgbClr val="F5F547"/>
          </a:solidFill>
          <a:ln/>
        </p:spPr>
      </p:sp>
      <p:pic>
        <p:nvPicPr>
          <p:cNvPr id="20" name="Image 3" descr="preencoded.png"/>
          <p:cNvPicPr>
            <a:picLocks noChangeAspect="1"/>
          </p:cNvPicPr>
          <p:nvPr/>
        </p:nvPicPr>
        <p:blipFill>
          <a:blip r:embed="rId6"/>
          <a:stretch>
            <a:fillRect/>
          </a:stretch>
        </p:blipFill>
        <p:spPr>
          <a:xfrm>
            <a:off x="7747278" y="4992053"/>
            <a:ext cx="250984" cy="313730"/>
          </a:xfrm>
          <a:prstGeom prst="rect">
            <a:avLst/>
          </a:prstGeom>
        </p:spPr>
      </p:pic>
      <p:sp>
        <p:nvSpPr>
          <p:cNvPr id="21" name="Text 15"/>
          <p:cNvSpPr/>
          <p:nvPr/>
        </p:nvSpPr>
        <p:spPr>
          <a:xfrm>
            <a:off x="11337012" y="5498782"/>
            <a:ext cx="2324576" cy="290513"/>
          </a:xfrm>
          <a:prstGeom prst="rect">
            <a:avLst/>
          </a:prstGeom>
          <a:noFill/>
          <a:ln/>
        </p:spPr>
        <p:txBody>
          <a:bodyPr wrap="none" lIns="0" tIns="0" rIns="0" bIns="0" rtlCol="0" anchor="t"/>
          <a:lstStyle/>
          <a:p>
            <a:pPr algn="r" rtl="1">
              <a:lnSpc>
                <a:spcPts val="2250"/>
              </a:lnSpc>
            </a:pPr>
            <a:r>
              <a:rPr lang="fa-IR" b="1" dirty="0">
                <a:solidFill>
                  <a:schemeClr val="bg1"/>
                </a:solidFill>
                <a:latin typeface="Yekan Bakh FaNum" panose="00000500000000000000" pitchFamily="2" charset="-78"/>
                <a:cs typeface="Yekan Bakh FaNum" panose="00000500000000000000" pitchFamily="2" charset="-78"/>
              </a:rPr>
              <a:t>توسعه پایدار باشگاه</a:t>
            </a:r>
            <a:endParaRPr lang="en-US" sz="1800" b="1" dirty="0">
              <a:solidFill>
                <a:schemeClr val="bg1"/>
              </a:solidFill>
              <a:latin typeface="Yekan Bakh FaNum" panose="00000500000000000000" pitchFamily="2" charset="-78"/>
              <a:cs typeface="Yekan Bakh FaNum" panose="00000500000000000000" pitchFamily="2" charset="-78"/>
            </a:endParaRPr>
          </a:p>
        </p:txBody>
      </p:sp>
      <p:sp>
        <p:nvSpPr>
          <p:cNvPr id="22" name="Text 16"/>
          <p:cNvSpPr/>
          <p:nvPr/>
        </p:nvSpPr>
        <p:spPr>
          <a:xfrm>
            <a:off x="7593925" y="6015752"/>
            <a:ext cx="6067663" cy="1487686"/>
          </a:xfrm>
          <a:prstGeom prst="rect">
            <a:avLst/>
          </a:prstGeom>
          <a:noFill/>
          <a:ln/>
        </p:spPr>
        <p:txBody>
          <a:bodyPr wrap="square" lIns="0" tIns="0" rIns="0" bIns="0" rtlCol="0" anchor="t"/>
          <a:lstStyle/>
          <a:p>
            <a:pPr algn="r" rtl="1">
              <a:lnSpc>
                <a:spcPts val="2300"/>
              </a:lnSpc>
            </a:pPr>
            <a:r>
              <a:rPr lang="fa-IR" sz="1600" dirty="0">
                <a:solidFill>
                  <a:schemeClr val="bg1"/>
                </a:solidFill>
                <a:latin typeface="Yekan Bakh FaNum" panose="00000500000000000000" pitchFamily="2" charset="-78"/>
                <a:cs typeface="Yekan Bakh FaNum" panose="00000500000000000000" pitchFamily="2" charset="-78"/>
              </a:rPr>
              <a:t>با معماری ابری، می‌توانید از تعداد نامحدود اعضا و چندین شعبه پشتیبانی کنید و سیستم به‌طور خودکار با رشد کسب‌وکار شما مقیاس‌بندی می‌شود. اضافه کردن خدمات جدید، گسترش ساعات کاری یا افتتاح شعب جدید بدون هیچ محدودیت یا کاهش عملکرد امکان‌پذیر است.</a:t>
            </a:r>
            <a:endParaRPr lang="en-US" sz="1450" dirty="0">
              <a:solidFill>
                <a:schemeClr val="bg1"/>
              </a:solidFill>
              <a:latin typeface="Yekan Bakh FaNum" panose="00000500000000000000" pitchFamily="2" charset="-78"/>
              <a:cs typeface="Yekan Bakh FaNum" panose="00000500000000000000" pitchFamily="2"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2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25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25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F1F1F"/>
        </a:solidFill>
        <a:effectLst/>
      </p:bgPr>
    </p:bg>
    <p:spTree>
      <p:nvGrpSpPr>
        <p:cNvPr id="1" name="">
          <a:extLst>
            <a:ext uri="{FF2B5EF4-FFF2-40B4-BE49-F238E27FC236}">
              <a16:creationId xmlns:a16="http://schemas.microsoft.com/office/drawing/2014/main" id="{DDCEF189-2B56-2DD3-BEE6-45B2B0C877E9}"/>
            </a:ext>
          </a:extLst>
        </p:cNvPr>
        <p:cNvGrpSpPr/>
        <p:nvPr/>
      </p:nvGrpSpPr>
      <p:grpSpPr>
        <a:xfrm>
          <a:off x="0" y="0"/>
          <a:ext cx="0" cy="0"/>
          <a:chOff x="0" y="0"/>
          <a:chExt cx="0" cy="0"/>
        </a:xfrm>
      </p:grpSpPr>
      <p:grpSp>
        <p:nvGrpSpPr>
          <p:cNvPr id="198" name="Group 5">
            <a:extLst>
              <a:ext uri="{FF2B5EF4-FFF2-40B4-BE49-F238E27FC236}">
                <a16:creationId xmlns:a16="http://schemas.microsoft.com/office/drawing/2014/main" id="{D3F47A55-4A1E-094C-C680-290637B4C8FE}"/>
              </a:ext>
            </a:extLst>
          </p:cNvPr>
          <p:cNvGrpSpPr/>
          <p:nvPr/>
        </p:nvGrpSpPr>
        <p:grpSpPr>
          <a:xfrm>
            <a:off x="571457" y="924508"/>
            <a:ext cx="2753234" cy="4642246"/>
            <a:chOff x="0" y="0"/>
            <a:chExt cx="1001397" cy="1688462"/>
          </a:xfrm>
          <a:solidFill>
            <a:srgbClr val="3E3E3E"/>
          </a:solidFill>
        </p:grpSpPr>
        <p:sp>
          <p:nvSpPr>
            <p:cNvPr id="199" name="Freeform 6">
              <a:extLst>
                <a:ext uri="{FF2B5EF4-FFF2-40B4-BE49-F238E27FC236}">
                  <a16:creationId xmlns:a16="http://schemas.microsoft.com/office/drawing/2014/main" id="{CFE50353-E992-6478-42EC-0CA531228F55}"/>
                </a:ext>
              </a:extLst>
            </p:cNvPr>
            <p:cNvSpPr/>
            <p:nvPr/>
          </p:nvSpPr>
          <p:spPr>
            <a:xfrm>
              <a:off x="0" y="0"/>
              <a:ext cx="1001397" cy="1688462"/>
            </a:xfrm>
            <a:custGeom>
              <a:avLst/>
              <a:gdLst/>
              <a:ahLst/>
              <a:cxnLst/>
              <a:rect l="l" t="t" r="r" b="b"/>
              <a:pathLst>
                <a:path w="1001397" h="1688462">
                  <a:moveTo>
                    <a:pt x="45200" y="0"/>
                  </a:moveTo>
                  <a:lnTo>
                    <a:pt x="956197" y="0"/>
                  </a:lnTo>
                  <a:cubicBezTo>
                    <a:pt x="968185" y="0"/>
                    <a:pt x="979682" y="4762"/>
                    <a:pt x="988159" y="13239"/>
                  </a:cubicBezTo>
                  <a:cubicBezTo>
                    <a:pt x="996635" y="21715"/>
                    <a:pt x="1001397" y="33212"/>
                    <a:pt x="1001397" y="45200"/>
                  </a:cubicBezTo>
                  <a:lnTo>
                    <a:pt x="1001397" y="1643262"/>
                  </a:lnTo>
                  <a:cubicBezTo>
                    <a:pt x="1001397" y="1668226"/>
                    <a:pt x="981161" y="1688462"/>
                    <a:pt x="956197" y="1688462"/>
                  </a:cubicBezTo>
                  <a:lnTo>
                    <a:pt x="45200" y="1688462"/>
                  </a:lnTo>
                  <a:cubicBezTo>
                    <a:pt x="33212" y="1688462"/>
                    <a:pt x="21715" y="1683700"/>
                    <a:pt x="13239" y="1675224"/>
                  </a:cubicBezTo>
                  <a:cubicBezTo>
                    <a:pt x="4762" y="1666747"/>
                    <a:pt x="0" y="1655250"/>
                    <a:pt x="0" y="1643262"/>
                  </a:cubicBezTo>
                  <a:lnTo>
                    <a:pt x="0" y="45200"/>
                  </a:lnTo>
                  <a:cubicBezTo>
                    <a:pt x="0" y="33212"/>
                    <a:pt x="4762" y="21715"/>
                    <a:pt x="13239" y="13239"/>
                  </a:cubicBezTo>
                  <a:cubicBezTo>
                    <a:pt x="21715" y="4762"/>
                    <a:pt x="33212" y="0"/>
                    <a:pt x="45200" y="0"/>
                  </a:cubicBezTo>
                  <a:close/>
                </a:path>
              </a:pathLst>
            </a:custGeom>
            <a:grpFill/>
          </p:spPr>
        </p:sp>
        <p:sp>
          <p:nvSpPr>
            <p:cNvPr id="200" name="TextBox 7">
              <a:extLst>
                <a:ext uri="{FF2B5EF4-FFF2-40B4-BE49-F238E27FC236}">
                  <a16:creationId xmlns:a16="http://schemas.microsoft.com/office/drawing/2014/main" id="{7B7DC892-8706-B489-77A6-28AF560AEBF2}"/>
                </a:ext>
              </a:extLst>
            </p:cNvPr>
            <p:cNvSpPr txBox="1"/>
            <p:nvPr/>
          </p:nvSpPr>
          <p:spPr>
            <a:xfrm>
              <a:off x="0" y="-19050"/>
              <a:ext cx="1001397" cy="1707512"/>
            </a:xfrm>
            <a:prstGeom prst="rect">
              <a:avLst/>
            </a:prstGeom>
            <a:grpFill/>
          </p:spPr>
          <p:txBody>
            <a:bodyPr lIns="40640" tIns="40640" rIns="40640" bIns="40640" rtlCol="0" anchor="ctr"/>
            <a:lstStyle/>
            <a:p>
              <a:pPr algn="ctr">
                <a:lnSpc>
                  <a:spcPts val="1679"/>
                </a:lnSpc>
              </a:pPr>
              <a:endParaRPr/>
            </a:p>
          </p:txBody>
        </p:sp>
      </p:grpSp>
      <p:grpSp>
        <p:nvGrpSpPr>
          <p:cNvPr id="201" name="Group 8">
            <a:extLst>
              <a:ext uri="{FF2B5EF4-FFF2-40B4-BE49-F238E27FC236}">
                <a16:creationId xmlns:a16="http://schemas.microsoft.com/office/drawing/2014/main" id="{B5767BDF-3E29-D54E-0E1C-2E6051347F89}"/>
              </a:ext>
            </a:extLst>
          </p:cNvPr>
          <p:cNvGrpSpPr/>
          <p:nvPr/>
        </p:nvGrpSpPr>
        <p:grpSpPr>
          <a:xfrm>
            <a:off x="11182089" y="944880"/>
            <a:ext cx="2753234" cy="4642246"/>
            <a:chOff x="0" y="0"/>
            <a:chExt cx="1001397" cy="1688462"/>
          </a:xfrm>
          <a:solidFill>
            <a:srgbClr val="3E3E3E"/>
          </a:solidFill>
        </p:grpSpPr>
        <p:sp>
          <p:nvSpPr>
            <p:cNvPr id="202" name="Freeform 9">
              <a:extLst>
                <a:ext uri="{FF2B5EF4-FFF2-40B4-BE49-F238E27FC236}">
                  <a16:creationId xmlns:a16="http://schemas.microsoft.com/office/drawing/2014/main" id="{8AA1934B-6BF1-78DC-0003-1B578576C89A}"/>
                </a:ext>
              </a:extLst>
            </p:cNvPr>
            <p:cNvSpPr/>
            <p:nvPr/>
          </p:nvSpPr>
          <p:spPr>
            <a:xfrm>
              <a:off x="0" y="0"/>
              <a:ext cx="1001397" cy="1688462"/>
            </a:xfrm>
            <a:custGeom>
              <a:avLst/>
              <a:gdLst/>
              <a:ahLst/>
              <a:cxnLst/>
              <a:rect l="l" t="t" r="r" b="b"/>
              <a:pathLst>
                <a:path w="1001397" h="1688462">
                  <a:moveTo>
                    <a:pt x="45200" y="0"/>
                  </a:moveTo>
                  <a:lnTo>
                    <a:pt x="956197" y="0"/>
                  </a:lnTo>
                  <a:cubicBezTo>
                    <a:pt x="968185" y="0"/>
                    <a:pt x="979682" y="4762"/>
                    <a:pt x="988159" y="13239"/>
                  </a:cubicBezTo>
                  <a:cubicBezTo>
                    <a:pt x="996635" y="21715"/>
                    <a:pt x="1001397" y="33212"/>
                    <a:pt x="1001397" y="45200"/>
                  </a:cubicBezTo>
                  <a:lnTo>
                    <a:pt x="1001397" y="1643262"/>
                  </a:lnTo>
                  <a:cubicBezTo>
                    <a:pt x="1001397" y="1668226"/>
                    <a:pt x="981161" y="1688462"/>
                    <a:pt x="956197" y="1688462"/>
                  </a:cubicBezTo>
                  <a:lnTo>
                    <a:pt x="45200" y="1688462"/>
                  </a:lnTo>
                  <a:cubicBezTo>
                    <a:pt x="33212" y="1688462"/>
                    <a:pt x="21715" y="1683700"/>
                    <a:pt x="13239" y="1675224"/>
                  </a:cubicBezTo>
                  <a:cubicBezTo>
                    <a:pt x="4762" y="1666747"/>
                    <a:pt x="0" y="1655250"/>
                    <a:pt x="0" y="1643262"/>
                  </a:cubicBezTo>
                  <a:lnTo>
                    <a:pt x="0" y="45200"/>
                  </a:lnTo>
                  <a:cubicBezTo>
                    <a:pt x="0" y="33212"/>
                    <a:pt x="4762" y="21715"/>
                    <a:pt x="13239" y="13239"/>
                  </a:cubicBezTo>
                  <a:cubicBezTo>
                    <a:pt x="21715" y="4762"/>
                    <a:pt x="33212" y="0"/>
                    <a:pt x="45200" y="0"/>
                  </a:cubicBezTo>
                  <a:close/>
                </a:path>
              </a:pathLst>
            </a:custGeom>
            <a:grpFill/>
          </p:spPr>
        </p:sp>
        <p:sp>
          <p:nvSpPr>
            <p:cNvPr id="203" name="TextBox 10">
              <a:extLst>
                <a:ext uri="{FF2B5EF4-FFF2-40B4-BE49-F238E27FC236}">
                  <a16:creationId xmlns:a16="http://schemas.microsoft.com/office/drawing/2014/main" id="{9BCD5458-3849-3EA8-40F9-B9F536FE8EEA}"/>
                </a:ext>
              </a:extLst>
            </p:cNvPr>
            <p:cNvSpPr txBox="1"/>
            <p:nvPr/>
          </p:nvSpPr>
          <p:spPr>
            <a:xfrm>
              <a:off x="0" y="-19050"/>
              <a:ext cx="1001397" cy="1707512"/>
            </a:xfrm>
            <a:prstGeom prst="rect">
              <a:avLst/>
            </a:prstGeom>
            <a:grpFill/>
          </p:spPr>
          <p:txBody>
            <a:bodyPr lIns="40640" tIns="40640" rIns="40640" bIns="40640" rtlCol="0" anchor="ctr"/>
            <a:lstStyle/>
            <a:p>
              <a:pPr algn="ctr">
                <a:lnSpc>
                  <a:spcPts val="1679"/>
                </a:lnSpc>
              </a:pPr>
              <a:endParaRPr sz="1440">
                <a:latin typeface="Yekan Bakh FaNum" panose="00000500000000000000" pitchFamily="2" charset="-78"/>
                <a:cs typeface="Yekan Bakh FaNum" panose="00000500000000000000" pitchFamily="2" charset="-78"/>
              </a:endParaRPr>
            </a:p>
          </p:txBody>
        </p:sp>
      </p:grpSp>
      <p:grpSp>
        <p:nvGrpSpPr>
          <p:cNvPr id="204" name="Group 11">
            <a:extLst>
              <a:ext uri="{FF2B5EF4-FFF2-40B4-BE49-F238E27FC236}">
                <a16:creationId xmlns:a16="http://schemas.microsoft.com/office/drawing/2014/main" id="{94482FF1-6D06-7233-C33D-B5188EF2A08C}"/>
              </a:ext>
            </a:extLst>
          </p:cNvPr>
          <p:cNvGrpSpPr/>
          <p:nvPr/>
        </p:nvGrpSpPr>
        <p:grpSpPr>
          <a:xfrm>
            <a:off x="5843077" y="908226"/>
            <a:ext cx="2753234" cy="4642246"/>
            <a:chOff x="0" y="0"/>
            <a:chExt cx="1001397" cy="1688462"/>
          </a:xfrm>
          <a:solidFill>
            <a:srgbClr val="3E3E3E"/>
          </a:solidFill>
        </p:grpSpPr>
        <p:sp>
          <p:nvSpPr>
            <p:cNvPr id="205" name="Freeform 12">
              <a:extLst>
                <a:ext uri="{FF2B5EF4-FFF2-40B4-BE49-F238E27FC236}">
                  <a16:creationId xmlns:a16="http://schemas.microsoft.com/office/drawing/2014/main" id="{8C8B8519-7A8A-B19C-6F07-F0C8951DAB5D}"/>
                </a:ext>
              </a:extLst>
            </p:cNvPr>
            <p:cNvSpPr/>
            <p:nvPr/>
          </p:nvSpPr>
          <p:spPr>
            <a:xfrm>
              <a:off x="0" y="0"/>
              <a:ext cx="1001397" cy="1688462"/>
            </a:xfrm>
            <a:custGeom>
              <a:avLst/>
              <a:gdLst/>
              <a:ahLst/>
              <a:cxnLst/>
              <a:rect l="l" t="t" r="r" b="b"/>
              <a:pathLst>
                <a:path w="1001397" h="1688462">
                  <a:moveTo>
                    <a:pt x="45200" y="0"/>
                  </a:moveTo>
                  <a:lnTo>
                    <a:pt x="956197" y="0"/>
                  </a:lnTo>
                  <a:cubicBezTo>
                    <a:pt x="968185" y="0"/>
                    <a:pt x="979682" y="4762"/>
                    <a:pt x="988159" y="13239"/>
                  </a:cubicBezTo>
                  <a:cubicBezTo>
                    <a:pt x="996635" y="21715"/>
                    <a:pt x="1001397" y="33212"/>
                    <a:pt x="1001397" y="45200"/>
                  </a:cubicBezTo>
                  <a:lnTo>
                    <a:pt x="1001397" y="1643262"/>
                  </a:lnTo>
                  <a:cubicBezTo>
                    <a:pt x="1001397" y="1668226"/>
                    <a:pt x="981161" y="1688462"/>
                    <a:pt x="956197" y="1688462"/>
                  </a:cubicBezTo>
                  <a:lnTo>
                    <a:pt x="45200" y="1688462"/>
                  </a:lnTo>
                  <a:cubicBezTo>
                    <a:pt x="33212" y="1688462"/>
                    <a:pt x="21715" y="1683700"/>
                    <a:pt x="13239" y="1675224"/>
                  </a:cubicBezTo>
                  <a:cubicBezTo>
                    <a:pt x="4762" y="1666747"/>
                    <a:pt x="0" y="1655250"/>
                    <a:pt x="0" y="1643262"/>
                  </a:cubicBezTo>
                  <a:lnTo>
                    <a:pt x="0" y="45200"/>
                  </a:lnTo>
                  <a:cubicBezTo>
                    <a:pt x="0" y="33212"/>
                    <a:pt x="4762" y="21715"/>
                    <a:pt x="13239" y="13239"/>
                  </a:cubicBezTo>
                  <a:cubicBezTo>
                    <a:pt x="21715" y="4762"/>
                    <a:pt x="33212" y="0"/>
                    <a:pt x="45200" y="0"/>
                  </a:cubicBezTo>
                  <a:close/>
                </a:path>
              </a:pathLst>
            </a:custGeom>
            <a:grpFill/>
          </p:spPr>
        </p:sp>
        <p:sp>
          <p:nvSpPr>
            <p:cNvPr id="206" name="TextBox 13">
              <a:extLst>
                <a:ext uri="{FF2B5EF4-FFF2-40B4-BE49-F238E27FC236}">
                  <a16:creationId xmlns:a16="http://schemas.microsoft.com/office/drawing/2014/main" id="{EE565C98-E673-F452-2CDA-1E13E096FD3A}"/>
                </a:ext>
              </a:extLst>
            </p:cNvPr>
            <p:cNvSpPr txBox="1"/>
            <p:nvPr/>
          </p:nvSpPr>
          <p:spPr>
            <a:xfrm>
              <a:off x="0" y="-19050"/>
              <a:ext cx="1001397" cy="1707512"/>
            </a:xfrm>
            <a:prstGeom prst="rect">
              <a:avLst/>
            </a:prstGeom>
            <a:grpFill/>
          </p:spPr>
          <p:txBody>
            <a:bodyPr lIns="40640" tIns="40640" rIns="40640" bIns="40640" rtlCol="0" anchor="ctr"/>
            <a:lstStyle/>
            <a:p>
              <a:pPr algn="ctr" rtl="1">
                <a:lnSpc>
                  <a:spcPts val="1679"/>
                </a:lnSpc>
              </a:pPr>
              <a:endParaRPr sz="1440">
                <a:latin typeface="Yekan Bakh FaNum" panose="00000500000000000000" pitchFamily="2" charset="-78"/>
                <a:cs typeface="Yekan Bakh FaNum" panose="00000500000000000000" pitchFamily="2" charset="-78"/>
              </a:endParaRPr>
            </a:p>
          </p:txBody>
        </p:sp>
      </p:grpSp>
      <p:grpSp>
        <p:nvGrpSpPr>
          <p:cNvPr id="207" name="Group 14">
            <a:extLst>
              <a:ext uri="{FF2B5EF4-FFF2-40B4-BE49-F238E27FC236}">
                <a16:creationId xmlns:a16="http://schemas.microsoft.com/office/drawing/2014/main" id="{B88245CC-74DA-4E11-E250-A62D7E988D28}"/>
              </a:ext>
            </a:extLst>
          </p:cNvPr>
          <p:cNvGrpSpPr/>
          <p:nvPr/>
        </p:nvGrpSpPr>
        <p:grpSpPr>
          <a:xfrm>
            <a:off x="548640" y="5676909"/>
            <a:ext cx="6668884" cy="2475368"/>
            <a:chOff x="0" y="0"/>
            <a:chExt cx="2198763" cy="816140"/>
          </a:xfrm>
          <a:solidFill>
            <a:srgbClr val="3E3E3E"/>
          </a:solidFill>
        </p:grpSpPr>
        <p:sp>
          <p:nvSpPr>
            <p:cNvPr id="208" name="Freeform 15">
              <a:extLst>
                <a:ext uri="{FF2B5EF4-FFF2-40B4-BE49-F238E27FC236}">
                  <a16:creationId xmlns:a16="http://schemas.microsoft.com/office/drawing/2014/main" id="{E0E6D2B3-603C-FBE4-2CAF-88DEB5602022}"/>
                </a:ext>
              </a:extLst>
            </p:cNvPr>
            <p:cNvSpPr/>
            <p:nvPr/>
          </p:nvSpPr>
          <p:spPr>
            <a:xfrm>
              <a:off x="0" y="0"/>
              <a:ext cx="2198762" cy="816140"/>
            </a:xfrm>
            <a:custGeom>
              <a:avLst/>
              <a:gdLst/>
              <a:ahLst/>
              <a:cxnLst/>
              <a:rect l="l" t="t" r="r" b="b"/>
              <a:pathLst>
                <a:path w="2198762" h="816140">
                  <a:moveTo>
                    <a:pt x="18661" y="0"/>
                  </a:moveTo>
                  <a:lnTo>
                    <a:pt x="2180102" y="0"/>
                  </a:lnTo>
                  <a:cubicBezTo>
                    <a:pt x="2190408" y="0"/>
                    <a:pt x="2198762" y="8355"/>
                    <a:pt x="2198762" y="18661"/>
                  </a:cubicBezTo>
                  <a:lnTo>
                    <a:pt x="2198762" y="797480"/>
                  </a:lnTo>
                  <a:cubicBezTo>
                    <a:pt x="2198762" y="807786"/>
                    <a:pt x="2190408" y="816140"/>
                    <a:pt x="2180102" y="816140"/>
                  </a:cubicBezTo>
                  <a:lnTo>
                    <a:pt x="18661" y="816140"/>
                  </a:lnTo>
                  <a:cubicBezTo>
                    <a:pt x="8355" y="816140"/>
                    <a:pt x="0" y="807786"/>
                    <a:pt x="0" y="797480"/>
                  </a:cubicBezTo>
                  <a:lnTo>
                    <a:pt x="0" y="18661"/>
                  </a:lnTo>
                  <a:cubicBezTo>
                    <a:pt x="0" y="8355"/>
                    <a:pt x="8355" y="0"/>
                    <a:pt x="18661" y="0"/>
                  </a:cubicBezTo>
                  <a:close/>
                </a:path>
              </a:pathLst>
            </a:custGeom>
            <a:grpFill/>
          </p:spPr>
        </p:sp>
        <p:sp>
          <p:nvSpPr>
            <p:cNvPr id="209" name="TextBox 16">
              <a:extLst>
                <a:ext uri="{FF2B5EF4-FFF2-40B4-BE49-F238E27FC236}">
                  <a16:creationId xmlns:a16="http://schemas.microsoft.com/office/drawing/2014/main" id="{E934E4B0-ADB8-9FDA-B097-A7E4D497EA72}"/>
                </a:ext>
              </a:extLst>
            </p:cNvPr>
            <p:cNvSpPr txBox="1"/>
            <p:nvPr/>
          </p:nvSpPr>
          <p:spPr>
            <a:xfrm>
              <a:off x="0" y="-19050"/>
              <a:ext cx="2198763" cy="835190"/>
            </a:xfrm>
            <a:prstGeom prst="rect">
              <a:avLst/>
            </a:prstGeom>
            <a:grpFill/>
          </p:spPr>
          <p:txBody>
            <a:bodyPr lIns="40640" tIns="40640" rIns="40640" bIns="40640" rtlCol="0" anchor="ctr"/>
            <a:lstStyle/>
            <a:p>
              <a:pPr algn="ctr">
                <a:lnSpc>
                  <a:spcPts val="1679"/>
                </a:lnSpc>
              </a:pPr>
              <a:endParaRPr sz="1440">
                <a:solidFill>
                  <a:schemeClr val="bg1"/>
                </a:solidFill>
                <a:latin typeface="Yekan Bakh FaNum" panose="00000500000000000000" pitchFamily="2" charset="-78"/>
                <a:cs typeface="Yekan Bakh FaNum" panose="00000500000000000000" pitchFamily="2" charset="-78"/>
              </a:endParaRPr>
            </a:p>
          </p:txBody>
        </p:sp>
      </p:grpSp>
      <p:grpSp>
        <p:nvGrpSpPr>
          <p:cNvPr id="210" name="Group 17">
            <a:extLst>
              <a:ext uri="{FF2B5EF4-FFF2-40B4-BE49-F238E27FC236}">
                <a16:creationId xmlns:a16="http://schemas.microsoft.com/office/drawing/2014/main" id="{D2C9A35A-36E3-331B-2114-E6CED28FDCCA}"/>
              </a:ext>
            </a:extLst>
          </p:cNvPr>
          <p:cNvGrpSpPr/>
          <p:nvPr/>
        </p:nvGrpSpPr>
        <p:grpSpPr>
          <a:xfrm>
            <a:off x="7284544" y="5676909"/>
            <a:ext cx="6668884" cy="2475368"/>
            <a:chOff x="0" y="0"/>
            <a:chExt cx="2198763" cy="816140"/>
          </a:xfrm>
          <a:solidFill>
            <a:srgbClr val="3E3E3E"/>
          </a:solidFill>
        </p:grpSpPr>
        <p:sp>
          <p:nvSpPr>
            <p:cNvPr id="211" name="Freeform 18">
              <a:extLst>
                <a:ext uri="{FF2B5EF4-FFF2-40B4-BE49-F238E27FC236}">
                  <a16:creationId xmlns:a16="http://schemas.microsoft.com/office/drawing/2014/main" id="{50D4EA6A-6BB5-1633-7FC0-69B48885862C}"/>
                </a:ext>
              </a:extLst>
            </p:cNvPr>
            <p:cNvSpPr/>
            <p:nvPr/>
          </p:nvSpPr>
          <p:spPr>
            <a:xfrm>
              <a:off x="0" y="0"/>
              <a:ext cx="2198762" cy="816140"/>
            </a:xfrm>
            <a:custGeom>
              <a:avLst/>
              <a:gdLst/>
              <a:ahLst/>
              <a:cxnLst/>
              <a:rect l="l" t="t" r="r" b="b"/>
              <a:pathLst>
                <a:path w="2198762" h="816140">
                  <a:moveTo>
                    <a:pt x="18661" y="0"/>
                  </a:moveTo>
                  <a:lnTo>
                    <a:pt x="2180102" y="0"/>
                  </a:lnTo>
                  <a:cubicBezTo>
                    <a:pt x="2190408" y="0"/>
                    <a:pt x="2198762" y="8355"/>
                    <a:pt x="2198762" y="18661"/>
                  </a:cubicBezTo>
                  <a:lnTo>
                    <a:pt x="2198762" y="797480"/>
                  </a:lnTo>
                  <a:cubicBezTo>
                    <a:pt x="2198762" y="807786"/>
                    <a:pt x="2190408" y="816140"/>
                    <a:pt x="2180102" y="816140"/>
                  </a:cubicBezTo>
                  <a:lnTo>
                    <a:pt x="18661" y="816140"/>
                  </a:lnTo>
                  <a:cubicBezTo>
                    <a:pt x="8355" y="816140"/>
                    <a:pt x="0" y="807786"/>
                    <a:pt x="0" y="797480"/>
                  </a:cubicBezTo>
                  <a:lnTo>
                    <a:pt x="0" y="18661"/>
                  </a:lnTo>
                  <a:cubicBezTo>
                    <a:pt x="0" y="8355"/>
                    <a:pt x="8355" y="0"/>
                    <a:pt x="18661" y="0"/>
                  </a:cubicBezTo>
                  <a:close/>
                </a:path>
              </a:pathLst>
            </a:custGeom>
            <a:grpFill/>
          </p:spPr>
        </p:sp>
        <p:sp>
          <p:nvSpPr>
            <p:cNvPr id="212" name="TextBox 19">
              <a:extLst>
                <a:ext uri="{FF2B5EF4-FFF2-40B4-BE49-F238E27FC236}">
                  <a16:creationId xmlns:a16="http://schemas.microsoft.com/office/drawing/2014/main" id="{CA8E0557-C9FB-8735-1BA1-0747ECA163AE}"/>
                </a:ext>
              </a:extLst>
            </p:cNvPr>
            <p:cNvSpPr txBox="1"/>
            <p:nvPr/>
          </p:nvSpPr>
          <p:spPr>
            <a:xfrm>
              <a:off x="0" y="-19050"/>
              <a:ext cx="2198763" cy="835190"/>
            </a:xfrm>
            <a:prstGeom prst="rect">
              <a:avLst/>
            </a:prstGeom>
            <a:grpFill/>
          </p:spPr>
          <p:txBody>
            <a:bodyPr lIns="40640" tIns="40640" rIns="40640" bIns="40640" rtlCol="0" anchor="ctr"/>
            <a:lstStyle/>
            <a:p>
              <a:pPr algn="ctr">
                <a:lnSpc>
                  <a:spcPts val="1679"/>
                </a:lnSpc>
              </a:pPr>
              <a:endParaRPr sz="1440">
                <a:solidFill>
                  <a:schemeClr val="bg1"/>
                </a:solidFill>
                <a:latin typeface="Yekan Bakh FaNum" panose="00000500000000000000" pitchFamily="2" charset="-78"/>
                <a:cs typeface="Yekan Bakh FaNum" panose="00000500000000000000" pitchFamily="2" charset="-78"/>
              </a:endParaRPr>
            </a:p>
          </p:txBody>
        </p:sp>
      </p:grpSp>
      <p:grpSp>
        <p:nvGrpSpPr>
          <p:cNvPr id="213" name="Group 20">
            <a:extLst>
              <a:ext uri="{FF2B5EF4-FFF2-40B4-BE49-F238E27FC236}">
                <a16:creationId xmlns:a16="http://schemas.microsoft.com/office/drawing/2014/main" id="{4B0A2320-A4FC-6AB9-CEBD-3C2542CFFB96}"/>
              </a:ext>
            </a:extLst>
          </p:cNvPr>
          <p:cNvGrpSpPr/>
          <p:nvPr/>
        </p:nvGrpSpPr>
        <p:grpSpPr>
          <a:xfrm>
            <a:off x="3321329" y="944880"/>
            <a:ext cx="2449984" cy="2413391"/>
            <a:chOff x="-26693" y="13264"/>
            <a:chExt cx="897614" cy="884207"/>
          </a:xfrm>
        </p:grpSpPr>
        <p:sp>
          <p:nvSpPr>
            <p:cNvPr id="214" name="Freeform 21">
              <a:extLst>
                <a:ext uri="{FF2B5EF4-FFF2-40B4-BE49-F238E27FC236}">
                  <a16:creationId xmlns:a16="http://schemas.microsoft.com/office/drawing/2014/main" id="{3B245A4D-63A5-29FB-B3EE-9F1BF3C0DA15}"/>
                </a:ext>
              </a:extLst>
            </p:cNvPr>
            <p:cNvSpPr/>
            <p:nvPr/>
          </p:nvSpPr>
          <p:spPr>
            <a:xfrm>
              <a:off x="0" y="13264"/>
              <a:ext cx="870921" cy="834047"/>
            </a:xfrm>
            <a:custGeom>
              <a:avLst/>
              <a:gdLst/>
              <a:ahLst/>
              <a:cxnLst/>
              <a:rect l="l" t="t" r="r" b="b"/>
              <a:pathLst>
                <a:path w="870921" h="834047">
                  <a:moveTo>
                    <a:pt x="52352" y="0"/>
                  </a:moveTo>
                  <a:lnTo>
                    <a:pt x="818570" y="0"/>
                  </a:lnTo>
                  <a:cubicBezTo>
                    <a:pt x="847482" y="0"/>
                    <a:pt x="870921" y="23439"/>
                    <a:pt x="870921" y="52352"/>
                  </a:cubicBezTo>
                  <a:lnTo>
                    <a:pt x="870921" y="781696"/>
                  </a:lnTo>
                  <a:cubicBezTo>
                    <a:pt x="870921" y="795580"/>
                    <a:pt x="865405" y="808896"/>
                    <a:pt x="855588" y="818714"/>
                  </a:cubicBezTo>
                  <a:cubicBezTo>
                    <a:pt x="845770" y="828532"/>
                    <a:pt x="832454" y="834047"/>
                    <a:pt x="818570" y="834047"/>
                  </a:cubicBezTo>
                  <a:lnTo>
                    <a:pt x="52352" y="834047"/>
                  </a:lnTo>
                  <a:cubicBezTo>
                    <a:pt x="23439" y="834047"/>
                    <a:pt x="0" y="810609"/>
                    <a:pt x="0" y="781696"/>
                  </a:cubicBezTo>
                  <a:lnTo>
                    <a:pt x="0" y="52352"/>
                  </a:lnTo>
                  <a:cubicBezTo>
                    <a:pt x="0" y="38467"/>
                    <a:pt x="5516" y="25151"/>
                    <a:pt x="15333" y="15333"/>
                  </a:cubicBezTo>
                  <a:cubicBezTo>
                    <a:pt x="25151" y="5516"/>
                    <a:pt x="38467" y="0"/>
                    <a:pt x="52352" y="0"/>
                  </a:cubicBezTo>
                  <a:close/>
                </a:path>
              </a:pathLst>
            </a:custGeom>
            <a:solidFill>
              <a:srgbClr val="3E3E3E"/>
            </a:solidFill>
          </p:spPr>
        </p:sp>
        <p:sp>
          <p:nvSpPr>
            <p:cNvPr id="215" name="TextBox 22">
              <a:extLst>
                <a:ext uri="{FF2B5EF4-FFF2-40B4-BE49-F238E27FC236}">
                  <a16:creationId xmlns:a16="http://schemas.microsoft.com/office/drawing/2014/main" id="{ABC3E400-E86E-92CB-B937-076686275275}"/>
                </a:ext>
              </a:extLst>
            </p:cNvPr>
            <p:cNvSpPr txBox="1"/>
            <p:nvPr/>
          </p:nvSpPr>
          <p:spPr>
            <a:xfrm>
              <a:off x="-26693" y="25324"/>
              <a:ext cx="870921" cy="872147"/>
            </a:xfrm>
            <a:prstGeom prst="rect">
              <a:avLst/>
            </a:prstGeom>
          </p:spPr>
          <p:txBody>
            <a:bodyPr lIns="40640" tIns="40640" rIns="40640" bIns="40640" rtlCol="0" anchor="ctr"/>
            <a:lstStyle/>
            <a:p>
              <a:pPr marL="285750" indent="-285750" algn="r" rtl="1">
                <a:lnSpc>
                  <a:spcPts val="2015"/>
                </a:lnSpc>
                <a:buFont typeface="Arial" panose="020B0604020202020204" pitchFamily="34" charset="0"/>
                <a:buChar char="•"/>
              </a:pPr>
              <a:r>
                <a:rPr lang="fa-IR" sz="1600" dirty="0">
                  <a:solidFill>
                    <a:schemeClr val="bg1"/>
                  </a:solidFill>
                  <a:latin typeface="Yekan Bakh FaNum" panose="00000500000000000000" pitchFamily="2" charset="-78"/>
                  <a:cs typeface="Yekan Bakh FaNum" panose="00000500000000000000" pitchFamily="2" charset="-78"/>
                </a:rPr>
                <a:t>بهبود تجربه کاربری (</a:t>
              </a:r>
              <a:r>
                <a:rPr lang="en-US" sz="1600" dirty="0">
                  <a:solidFill>
                    <a:schemeClr val="bg1"/>
                  </a:solidFill>
                  <a:latin typeface="Yekan Bakh FaNum" panose="00000500000000000000" pitchFamily="2" charset="-78"/>
                  <a:cs typeface="Yekan Bakh FaNum" panose="00000500000000000000" pitchFamily="2" charset="-78"/>
                </a:rPr>
                <a:t>(UX/UI</a:t>
              </a:r>
              <a:br>
                <a:rPr lang="fa-IR" sz="1600" dirty="0">
                  <a:solidFill>
                    <a:schemeClr val="bg1"/>
                  </a:solidFill>
                  <a:latin typeface="Yekan Bakh FaNum" panose="00000500000000000000" pitchFamily="2" charset="-78"/>
                  <a:cs typeface="Yekan Bakh FaNum" panose="00000500000000000000" pitchFamily="2" charset="-78"/>
                </a:rPr>
              </a:br>
              <a:r>
                <a:rPr lang="fa-IR" sz="1600" dirty="0">
                  <a:solidFill>
                    <a:schemeClr val="bg1"/>
                  </a:solidFill>
                  <a:latin typeface="Yekan Bakh FaNum" panose="00000500000000000000" pitchFamily="2" charset="-78"/>
                  <a:cs typeface="Yekan Bakh FaNum" panose="00000500000000000000" pitchFamily="2" charset="-78"/>
                </a:rPr>
                <a:t>جمع‌آوری و تحلیل داده‌ها برای ارتقای سیستم</a:t>
              </a:r>
              <a:endParaRPr lang="ar-EG" sz="1600" spc="37" dirty="0">
                <a:solidFill>
                  <a:schemeClr val="bg1"/>
                </a:solidFill>
                <a:latin typeface="Yekan Bakh FaNum" panose="00000500000000000000" pitchFamily="2" charset="-78"/>
                <a:ea typeface="Prompt Light"/>
                <a:cs typeface="Yekan Bakh FaNum" panose="00000500000000000000" pitchFamily="2" charset="-78"/>
                <a:sym typeface="Prompt Light"/>
                <a:rtl/>
              </a:endParaRPr>
            </a:p>
          </p:txBody>
        </p:sp>
      </p:grpSp>
      <p:grpSp>
        <p:nvGrpSpPr>
          <p:cNvPr id="216" name="Group 23">
            <a:extLst>
              <a:ext uri="{FF2B5EF4-FFF2-40B4-BE49-F238E27FC236}">
                <a16:creationId xmlns:a16="http://schemas.microsoft.com/office/drawing/2014/main" id="{4C2EECFC-E871-FD46-4AAE-C6D087200ED3}"/>
              </a:ext>
            </a:extLst>
          </p:cNvPr>
          <p:cNvGrpSpPr/>
          <p:nvPr/>
        </p:nvGrpSpPr>
        <p:grpSpPr>
          <a:xfrm>
            <a:off x="8710910" y="955821"/>
            <a:ext cx="2377127" cy="2276482"/>
            <a:chOff x="0" y="0"/>
            <a:chExt cx="870921" cy="834047"/>
          </a:xfrm>
          <a:solidFill>
            <a:srgbClr val="3E3E3E"/>
          </a:solidFill>
        </p:grpSpPr>
        <p:sp>
          <p:nvSpPr>
            <p:cNvPr id="217" name="Freeform 24">
              <a:extLst>
                <a:ext uri="{FF2B5EF4-FFF2-40B4-BE49-F238E27FC236}">
                  <a16:creationId xmlns:a16="http://schemas.microsoft.com/office/drawing/2014/main" id="{FB463185-B801-ECAA-3F1C-EA50E3A6D0EF}"/>
                </a:ext>
              </a:extLst>
            </p:cNvPr>
            <p:cNvSpPr/>
            <p:nvPr/>
          </p:nvSpPr>
          <p:spPr>
            <a:xfrm>
              <a:off x="0" y="0"/>
              <a:ext cx="870921" cy="834047"/>
            </a:xfrm>
            <a:custGeom>
              <a:avLst/>
              <a:gdLst/>
              <a:ahLst/>
              <a:cxnLst/>
              <a:rect l="l" t="t" r="r" b="b"/>
              <a:pathLst>
                <a:path w="870921" h="834047">
                  <a:moveTo>
                    <a:pt x="52352" y="0"/>
                  </a:moveTo>
                  <a:lnTo>
                    <a:pt x="818570" y="0"/>
                  </a:lnTo>
                  <a:cubicBezTo>
                    <a:pt x="847482" y="0"/>
                    <a:pt x="870921" y="23439"/>
                    <a:pt x="870921" y="52352"/>
                  </a:cubicBezTo>
                  <a:lnTo>
                    <a:pt x="870921" y="781696"/>
                  </a:lnTo>
                  <a:cubicBezTo>
                    <a:pt x="870921" y="795580"/>
                    <a:pt x="865405" y="808896"/>
                    <a:pt x="855588" y="818714"/>
                  </a:cubicBezTo>
                  <a:cubicBezTo>
                    <a:pt x="845770" y="828532"/>
                    <a:pt x="832454" y="834047"/>
                    <a:pt x="818570" y="834047"/>
                  </a:cubicBezTo>
                  <a:lnTo>
                    <a:pt x="52352" y="834047"/>
                  </a:lnTo>
                  <a:cubicBezTo>
                    <a:pt x="23439" y="834047"/>
                    <a:pt x="0" y="810609"/>
                    <a:pt x="0" y="781696"/>
                  </a:cubicBezTo>
                  <a:lnTo>
                    <a:pt x="0" y="52352"/>
                  </a:lnTo>
                  <a:cubicBezTo>
                    <a:pt x="0" y="38467"/>
                    <a:pt x="5516" y="25151"/>
                    <a:pt x="15333" y="15333"/>
                  </a:cubicBezTo>
                  <a:cubicBezTo>
                    <a:pt x="25151" y="5516"/>
                    <a:pt x="38467" y="0"/>
                    <a:pt x="52352" y="0"/>
                  </a:cubicBezTo>
                  <a:close/>
                </a:path>
              </a:pathLst>
            </a:custGeom>
            <a:grpFill/>
          </p:spPr>
        </p:sp>
        <p:sp>
          <p:nvSpPr>
            <p:cNvPr id="218" name="TextBox 25">
              <a:extLst>
                <a:ext uri="{FF2B5EF4-FFF2-40B4-BE49-F238E27FC236}">
                  <a16:creationId xmlns:a16="http://schemas.microsoft.com/office/drawing/2014/main" id="{C7A167EC-6EBA-2C25-265A-BD4A9416BD08}"/>
                </a:ext>
              </a:extLst>
            </p:cNvPr>
            <p:cNvSpPr txBox="1"/>
            <p:nvPr/>
          </p:nvSpPr>
          <p:spPr>
            <a:xfrm>
              <a:off x="0" y="-19050"/>
              <a:ext cx="870921" cy="853097"/>
            </a:xfrm>
            <a:prstGeom prst="rect">
              <a:avLst/>
            </a:prstGeom>
            <a:grpFill/>
          </p:spPr>
          <p:txBody>
            <a:bodyPr lIns="40640" tIns="40640" rIns="40640" bIns="40640" rtlCol="0" anchor="ctr"/>
            <a:lstStyle/>
            <a:p>
              <a:pPr algn="ctr">
                <a:lnSpc>
                  <a:spcPts val="1679"/>
                </a:lnSpc>
              </a:pPr>
              <a:endParaRPr sz="1440">
                <a:solidFill>
                  <a:schemeClr val="bg1"/>
                </a:solidFill>
                <a:latin typeface="Yekan Bakh FaNum" panose="00000500000000000000" pitchFamily="2" charset="-78"/>
                <a:cs typeface="Yekan Bakh FaNum" panose="00000500000000000000" pitchFamily="2" charset="-78"/>
              </a:endParaRPr>
            </a:p>
          </p:txBody>
        </p:sp>
      </p:grpSp>
      <p:grpSp>
        <p:nvGrpSpPr>
          <p:cNvPr id="219" name="Group 26">
            <a:extLst>
              <a:ext uri="{FF2B5EF4-FFF2-40B4-BE49-F238E27FC236}">
                <a16:creationId xmlns:a16="http://schemas.microsoft.com/office/drawing/2014/main" id="{642D4BE0-2DBC-D8B2-3123-5B6BCCD068DD}"/>
              </a:ext>
            </a:extLst>
          </p:cNvPr>
          <p:cNvGrpSpPr/>
          <p:nvPr/>
        </p:nvGrpSpPr>
        <p:grpSpPr>
          <a:xfrm>
            <a:off x="3416617" y="3297319"/>
            <a:ext cx="2377127" cy="2266242"/>
            <a:chOff x="0" y="0"/>
            <a:chExt cx="864601" cy="824270"/>
          </a:xfrm>
          <a:solidFill>
            <a:srgbClr val="3E3E3E"/>
          </a:solidFill>
        </p:grpSpPr>
        <p:sp>
          <p:nvSpPr>
            <p:cNvPr id="220" name="Freeform 27">
              <a:extLst>
                <a:ext uri="{FF2B5EF4-FFF2-40B4-BE49-F238E27FC236}">
                  <a16:creationId xmlns:a16="http://schemas.microsoft.com/office/drawing/2014/main" id="{5440CA6D-B013-C752-4D77-29EBF77D4731}"/>
                </a:ext>
              </a:extLst>
            </p:cNvPr>
            <p:cNvSpPr/>
            <p:nvPr/>
          </p:nvSpPr>
          <p:spPr>
            <a:xfrm>
              <a:off x="0" y="0"/>
              <a:ext cx="864601" cy="824270"/>
            </a:xfrm>
            <a:custGeom>
              <a:avLst/>
              <a:gdLst/>
              <a:ahLst/>
              <a:cxnLst/>
              <a:rect l="l" t="t" r="r" b="b"/>
              <a:pathLst>
                <a:path w="864601" h="824270">
                  <a:moveTo>
                    <a:pt x="52352" y="0"/>
                  </a:moveTo>
                  <a:lnTo>
                    <a:pt x="812249" y="0"/>
                  </a:lnTo>
                  <a:cubicBezTo>
                    <a:pt x="826134" y="0"/>
                    <a:pt x="839450" y="5516"/>
                    <a:pt x="849268" y="15333"/>
                  </a:cubicBezTo>
                  <a:cubicBezTo>
                    <a:pt x="859085" y="25151"/>
                    <a:pt x="864601" y="38467"/>
                    <a:pt x="864601" y="52352"/>
                  </a:cubicBezTo>
                  <a:lnTo>
                    <a:pt x="864601" y="771919"/>
                  </a:lnTo>
                  <a:cubicBezTo>
                    <a:pt x="864601" y="800832"/>
                    <a:pt x="841162" y="824270"/>
                    <a:pt x="812249" y="824270"/>
                  </a:cubicBezTo>
                  <a:lnTo>
                    <a:pt x="52352" y="824270"/>
                  </a:lnTo>
                  <a:cubicBezTo>
                    <a:pt x="38467" y="824270"/>
                    <a:pt x="25151" y="818755"/>
                    <a:pt x="15333" y="808937"/>
                  </a:cubicBezTo>
                  <a:cubicBezTo>
                    <a:pt x="5516" y="799119"/>
                    <a:pt x="0" y="785803"/>
                    <a:pt x="0" y="771919"/>
                  </a:cubicBezTo>
                  <a:lnTo>
                    <a:pt x="0" y="52352"/>
                  </a:lnTo>
                  <a:cubicBezTo>
                    <a:pt x="0" y="38467"/>
                    <a:pt x="5516" y="25151"/>
                    <a:pt x="15333" y="15333"/>
                  </a:cubicBezTo>
                  <a:cubicBezTo>
                    <a:pt x="25151" y="5516"/>
                    <a:pt x="38467" y="0"/>
                    <a:pt x="52352" y="0"/>
                  </a:cubicBezTo>
                  <a:close/>
                </a:path>
              </a:pathLst>
            </a:custGeom>
            <a:grpFill/>
          </p:spPr>
        </p:sp>
        <p:sp>
          <p:nvSpPr>
            <p:cNvPr id="221" name="TextBox 28">
              <a:extLst>
                <a:ext uri="{FF2B5EF4-FFF2-40B4-BE49-F238E27FC236}">
                  <a16:creationId xmlns:a16="http://schemas.microsoft.com/office/drawing/2014/main" id="{3C5FBE89-A845-C20D-24DF-F92BA20E3290}"/>
                </a:ext>
              </a:extLst>
            </p:cNvPr>
            <p:cNvSpPr txBox="1"/>
            <p:nvPr/>
          </p:nvSpPr>
          <p:spPr>
            <a:xfrm>
              <a:off x="0" y="-19050"/>
              <a:ext cx="864601" cy="843320"/>
            </a:xfrm>
            <a:prstGeom prst="rect">
              <a:avLst/>
            </a:prstGeom>
            <a:grpFill/>
          </p:spPr>
          <p:txBody>
            <a:bodyPr lIns="40640" tIns="40640" rIns="40640" bIns="40640" rtlCol="0" anchor="ctr"/>
            <a:lstStyle/>
            <a:p>
              <a:pPr algn="ctr">
                <a:lnSpc>
                  <a:spcPts val="1679"/>
                </a:lnSpc>
              </a:pPr>
              <a:endParaRPr sz="1440">
                <a:solidFill>
                  <a:schemeClr val="bg1"/>
                </a:solidFill>
                <a:latin typeface="Yekan Bakh FaNum" panose="00000500000000000000" pitchFamily="2" charset="-78"/>
                <a:cs typeface="Yekan Bakh FaNum" panose="00000500000000000000" pitchFamily="2" charset="-78"/>
              </a:endParaRPr>
            </a:p>
          </p:txBody>
        </p:sp>
      </p:grpSp>
      <p:grpSp>
        <p:nvGrpSpPr>
          <p:cNvPr id="222" name="Group 29">
            <a:extLst>
              <a:ext uri="{FF2B5EF4-FFF2-40B4-BE49-F238E27FC236}">
                <a16:creationId xmlns:a16="http://schemas.microsoft.com/office/drawing/2014/main" id="{1181FDB0-8948-27BB-C4E2-9FD56D10D972}"/>
              </a:ext>
            </a:extLst>
          </p:cNvPr>
          <p:cNvGrpSpPr/>
          <p:nvPr/>
        </p:nvGrpSpPr>
        <p:grpSpPr>
          <a:xfrm>
            <a:off x="8702189" y="3320883"/>
            <a:ext cx="2394503" cy="2266242"/>
            <a:chOff x="0" y="0"/>
            <a:chExt cx="870921" cy="824270"/>
          </a:xfrm>
          <a:solidFill>
            <a:srgbClr val="3E3E3E"/>
          </a:solidFill>
        </p:grpSpPr>
        <p:sp>
          <p:nvSpPr>
            <p:cNvPr id="223" name="Freeform 30">
              <a:extLst>
                <a:ext uri="{FF2B5EF4-FFF2-40B4-BE49-F238E27FC236}">
                  <a16:creationId xmlns:a16="http://schemas.microsoft.com/office/drawing/2014/main" id="{70E995E3-0E81-E49A-FC0B-8D39A0FD3F3F}"/>
                </a:ext>
              </a:extLst>
            </p:cNvPr>
            <p:cNvSpPr/>
            <p:nvPr/>
          </p:nvSpPr>
          <p:spPr>
            <a:xfrm>
              <a:off x="0" y="0"/>
              <a:ext cx="870921" cy="824270"/>
            </a:xfrm>
            <a:custGeom>
              <a:avLst/>
              <a:gdLst/>
              <a:ahLst/>
              <a:cxnLst/>
              <a:rect l="l" t="t" r="r" b="b"/>
              <a:pathLst>
                <a:path w="870921" h="824270">
                  <a:moveTo>
                    <a:pt x="51972" y="0"/>
                  </a:moveTo>
                  <a:lnTo>
                    <a:pt x="818949" y="0"/>
                  </a:lnTo>
                  <a:cubicBezTo>
                    <a:pt x="832733" y="0"/>
                    <a:pt x="845952" y="5476"/>
                    <a:pt x="855699" y="15222"/>
                  </a:cubicBezTo>
                  <a:cubicBezTo>
                    <a:pt x="865445" y="24969"/>
                    <a:pt x="870921" y="38188"/>
                    <a:pt x="870921" y="51972"/>
                  </a:cubicBezTo>
                  <a:lnTo>
                    <a:pt x="870921" y="772299"/>
                  </a:lnTo>
                  <a:cubicBezTo>
                    <a:pt x="870921" y="786083"/>
                    <a:pt x="865445" y="799302"/>
                    <a:pt x="855699" y="809048"/>
                  </a:cubicBezTo>
                  <a:cubicBezTo>
                    <a:pt x="845952" y="818795"/>
                    <a:pt x="832733" y="824270"/>
                    <a:pt x="818949" y="824270"/>
                  </a:cubicBezTo>
                  <a:lnTo>
                    <a:pt x="51972" y="824270"/>
                  </a:lnTo>
                  <a:cubicBezTo>
                    <a:pt x="38188" y="824270"/>
                    <a:pt x="24969" y="818795"/>
                    <a:pt x="15222" y="809048"/>
                  </a:cubicBezTo>
                  <a:cubicBezTo>
                    <a:pt x="5476" y="799302"/>
                    <a:pt x="0" y="786083"/>
                    <a:pt x="0" y="772299"/>
                  </a:cubicBezTo>
                  <a:lnTo>
                    <a:pt x="0" y="51972"/>
                  </a:lnTo>
                  <a:cubicBezTo>
                    <a:pt x="0" y="38188"/>
                    <a:pt x="5476" y="24969"/>
                    <a:pt x="15222" y="15222"/>
                  </a:cubicBezTo>
                  <a:cubicBezTo>
                    <a:pt x="24969" y="5476"/>
                    <a:pt x="38188" y="0"/>
                    <a:pt x="51972" y="0"/>
                  </a:cubicBezTo>
                  <a:close/>
                </a:path>
              </a:pathLst>
            </a:custGeom>
            <a:grpFill/>
          </p:spPr>
        </p:sp>
        <p:sp>
          <p:nvSpPr>
            <p:cNvPr id="224" name="TextBox 31">
              <a:extLst>
                <a:ext uri="{FF2B5EF4-FFF2-40B4-BE49-F238E27FC236}">
                  <a16:creationId xmlns:a16="http://schemas.microsoft.com/office/drawing/2014/main" id="{7ECF8EE1-EE76-4D62-5EA3-82DC005B98EF}"/>
                </a:ext>
              </a:extLst>
            </p:cNvPr>
            <p:cNvSpPr txBox="1"/>
            <p:nvPr/>
          </p:nvSpPr>
          <p:spPr>
            <a:xfrm>
              <a:off x="0" y="-19050"/>
              <a:ext cx="870921" cy="843320"/>
            </a:xfrm>
            <a:prstGeom prst="rect">
              <a:avLst/>
            </a:prstGeom>
            <a:grpFill/>
          </p:spPr>
          <p:txBody>
            <a:bodyPr lIns="40640" tIns="40640" rIns="40640" bIns="40640" rtlCol="0" anchor="ctr"/>
            <a:lstStyle/>
            <a:p>
              <a:pPr algn="ctr">
                <a:lnSpc>
                  <a:spcPts val="1679"/>
                </a:lnSpc>
              </a:pPr>
              <a:endParaRPr sz="1440">
                <a:latin typeface="Yekan Bakh FaNum" panose="00000500000000000000" pitchFamily="2" charset="-78"/>
                <a:cs typeface="Yekan Bakh FaNum" panose="00000500000000000000" pitchFamily="2" charset="-78"/>
              </a:endParaRPr>
            </a:p>
          </p:txBody>
        </p:sp>
      </p:grpSp>
      <p:sp>
        <p:nvSpPr>
          <p:cNvPr id="225" name="TextBox 32">
            <a:extLst>
              <a:ext uri="{FF2B5EF4-FFF2-40B4-BE49-F238E27FC236}">
                <a16:creationId xmlns:a16="http://schemas.microsoft.com/office/drawing/2014/main" id="{4EEEB124-1E44-3855-BC27-887FB469261F}"/>
              </a:ext>
            </a:extLst>
          </p:cNvPr>
          <p:cNvSpPr txBox="1"/>
          <p:nvPr/>
        </p:nvSpPr>
        <p:spPr>
          <a:xfrm>
            <a:off x="3545926" y="1106937"/>
            <a:ext cx="1770695" cy="455381"/>
          </a:xfrm>
          <a:prstGeom prst="rect">
            <a:avLst/>
          </a:prstGeom>
        </p:spPr>
        <p:txBody>
          <a:bodyPr wrap="square" lIns="0" tIns="0" rIns="0" bIns="0" rtlCol="0" anchor="t">
            <a:spAutoFit/>
          </a:bodyPr>
          <a:lstStyle/>
          <a:p>
            <a:pPr>
              <a:lnSpc>
                <a:spcPts val="1730"/>
              </a:lnSpc>
              <a:spcBef>
                <a:spcPct val="0"/>
              </a:spcBef>
            </a:pPr>
            <a:r>
              <a:rPr lang="ar-EG" sz="1920" b="1" dirty="0">
                <a:solidFill>
                  <a:srgbClr val="FFFF00"/>
                </a:solidFill>
                <a:latin typeface="Yekan Bakh FaNum" panose="00000500000000000000" pitchFamily="2" charset="-78"/>
                <a:ea typeface="Josefin Sans Bold"/>
                <a:cs typeface="Yekan Bakh FaNum" panose="00000500000000000000" pitchFamily="2" charset="-78"/>
                <a:sym typeface="Josefin Sans Bold"/>
                <a:rtl/>
              </a:rPr>
              <a:t>فعالیت‌های کلیدی</a:t>
            </a:r>
          </a:p>
        </p:txBody>
      </p:sp>
      <p:grpSp>
        <p:nvGrpSpPr>
          <p:cNvPr id="226" name="Group 33">
            <a:extLst>
              <a:ext uri="{FF2B5EF4-FFF2-40B4-BE49-F238E27FC236}">
                <a16:creationId xmlns:a16="http://schemas.microsoft.com/office/drawing/2014/main" id="{87787509-1F61-53B4-9CDC-C12C57CCF3B7}"/>
              </a:ext>
            </a:extLst>
          </p:cNvPr>
          <p:cNvGrpSpPr/>
          <p:nvPr/>
        </p:nvGrpSpPr>
        <p:grpSpPr>
          <a:xfrm>
            <a:off x="2708451" y="963819"/>
            <a:ext cx="583389" cy="546907"/>
            <a:chOff x="0" y="0"/>
            <a:chExt cx="191174" cy="179219"/>
          </a:xfrm>
        </p:grpSpPr>
        <p:sp>
          <p:nvSpPr>
            <p:cNvPr id="227" name="Freeform 34">
              <a:extLst>
                <a:ext uri="{FF2B5EF4-FFF2-40B4-BE49-F238E27FC236}">
                  <a16:creationId xmlns:a16="http://schemas.microsoft.com/office/drawing/2014/main" id="{3F70D6B9-697D-BA2A-1831-7ED7B1AA55AF}"/>
                </a:ext>
              </a:extLst>
            </p:cNvPr>
            <p:cNvSpPr/>
            <p:nvPr/>
          </p:nvSpPr>
          <p:spPr>
            <a:xfrm>
              <a:off x="0" y="0"/>
              <a:ext cx="191174" cy="179219"/>
            </a:xfrm>
            <a:custGeom>
              <a:avLst/>
              <a:gdLst/>
              <a:ahLst/>
              <a:cxnLst/>
              <a:rect l="l" t="t" r="r" b="b"/>
              <a:pathLst>
                <a:path w="191174" h="179219">
                  <a:moveTo>
                    <a:pt x="89610" y="0"/>
                  </a:moveTo>
                  <a:lnTo>
                    <a:pt x="101564" y="0"/>
                  </a:lnTo>
                  <a:cubicBezTo>
                    <a:pt x="151054" y="0"/>
                    <a:pt x="191174" y="40120"/>
                    <a:pt x="191174" y="89610"/>
                  </a:cubicBezTo>
                  <a:lnTo>
                    <a:pt x="191174" y="89610"/>
                  </a:lnTo>
                  <a:cubicBezTo>
                    <a:pt x="191174" y="139100"/>
                    <a:pt x="151054" y="179219"/>
                    <a:pt x="101564" y="179219"/>
                  </a:cubicBezTo>
                  <a:lnTo>
                    <a:pt x="89610" y="179219"/>
                  </a:lnTo>
                  <a:cubicBezTo>
                    <a:pt x="40120" y="179219"/>
                    <a:pt x="0" y="139100"/>
                    <a:pt x="0" y="89610"/>
                  </a:cubicBezTo>
                  <a:lnTo>
                    <a:pt x="0" y="89610"/>
                  </a:lnTo>
                  <a:cubicBezTo>
                    <a:pt x="0" y="40120"/>
                    <a:pt x="40120" y="0"/>
                    <a:pt x="89610" y="0"/>
                  </a:cubicBezTo>
                  <a:close/>
                </a:path>
              </a:pathLst>
            </a:custGeom>
            <a:solidFill>
              <a:srgbClr val="4E62AF"/>
            </a:solidFill>
          </p:spPr>
        </p:sp>
        <p:sp>
          <p:nvSpPr>
            <p:cNvPr id="228" name="TextBox 35">
              <a:extLst>
                <a:ext uri="{FF2B5EF4-FFF2-40B4-BE49-F238E27FC236}">
                  <a16:creationId xmlns:a16="http://schemas.microsoft.com/office/drawing/2014/main" id="{E6303CC9-4407-B4C2-6A84-D3EB52FA8DA6}"/>
                </a:ext>
              </a:extLst>
            </p:cNvPr>
            <p:cNvSpPr txBox="1"/>
            <p:nvPr/>
          </p:nvSpPr>
          <p:spPr>
            <a:xfrm>
              <a:off x="0" y="-19050"/>
              <a:ext cx="191174" cy="198269"/>
            </a:xfrm>
            <a:prstGeom prst="rect">
              <a:avLst/>
            </a:prstGeom>
          </p:spPr>
          <p:txBody>
            <a:bodyPr lIns="40640" tIns="40640" rIns="40640" bIns="40640" rtlCol="0" anchor="ctr"/>
            <a:lstStyle/>
            <a:p>
              <a:pPr algn="ctr">
                <a:lnSpc>
                  <a:spcPts val="1679"/>
                </a:lnSpc>
              </a:pPr>
              <a:endParaRPr sz="1440">
                <a:latin typeface="Yekan Bakh FaNum" panose="00000500000000000000" pitchFamily="2" charset="-78"/>
                <a:cs typeface="Yekan Bakh FaNum" panose="00000500000000000000" pitchFamily="2" charset="-78"/>
              </a:endParaRPr>
            </a:p>
          </p:txBody>
        </p:sp>
      </p:grpSp>
      <p:grpSp>
        <p:nvGrpSpPr>
          <p:cNvPr id="229" name="Group 36">
            <a:extLst>
              <a:ext uri="{FF2B5EF4-FFF2-40B4-BE49-F238E27FC236}">
                <a16:creationId xmlns:a16="http://schemas.microsoft.com/office/drawing/2014/main" id="{6F28D707-CFA1-6EAF-BE3D-6F095F5BDFED}"/>
              </a:ext>
            </a:extLst>
          </p:cNvPr>
          <p:cNvGrpSpPr/>
          <p:nvPr/>
        </p:nvGrpSpPr>
        <p:grpSpPr>
          <a:xfrm>
            <a:off x="5182898" y="963819"/>
            <a:ext cx="583389" cy="546907"/>
            <a:chOff x="0" y="0"/>
            <a:chExt cx="191174" cy="179219"/>
          </a:xfrm>
        </p:grpSpPr>
        <p:sp>
          <p:nvSpPr>
            <p:cNvPr id="230" name="Freeform 37">
              <a:extLst>
                <a:ext uri="{FF2B5EF4-FFF2-40B4-BE49-F238E27FC236}">
                  <a16:creationId xmlns:a16="http://schemas.microsoft.com/office/drawing/2014/main" id="{F9EEC5C4-F913-1041-23EC-E5AFF1AC63E9}"/>
                </a:ext>
              </a:extLst>
            </p:cNvPr>
            <p:cNvSpPr/>
            <p:nvPr/>
          </p:nvSpPr>
          <p:spPr>
            <a:xfrm>
              <a:off x="0" y="0"/>
              <a:ext cx="191174" cy="179219"/>
            </a:xfrm>
            <a:custGeom>
              <a:avLst/>
              <a:gdLst/>
              <a:ahLst/>
              <a:cxnLst/>
              <a:rect l="l" t="t" r="r" b="b"/>
              <a:pathLst>
                <a:path w="191174" h="179219">
                  <a:moveTo>
                    <a:pt x="89610" y="0"/>
                  </a:moveTo>
                  <a:lnTo>
                    <a:pt x="101564" y="0"/>
                  </a:lnTo>
                  <a:cubicBezTo>
                    <a:pt x="151054" y="0"/>
                    <a:pt x="191174" y="40120"/>
                    <a:pt x="191174" y="89610"/>
                  </a:cubicBezTo>
                  <a:lnTo>
                    <a:pt x="191174" y="89610"/>
                  </a:lnTo>
                  <a:cubicBezTo>
                    <a:pt x="191174" y="139100"/>
                    <a:pt x="151054" y="179219"/>
                    <a:pt x="101564" y="179219"/>
                  </a:cubicBezTo>
                  <a:lnTo>
                    <a:pt x="89610" y="179219"/>
                  </a:lnTo>
                  <a:cubicBezTo>
                    <a:pt x="40120" y="179219"/>
                    <a:pt x="0" y="139100"/>
                    <a:pt x="0" y="89610"/>
                  </a:cubicBezTo>
                  <a:lnTo>
                    <a:pt x="0" y="89610"/>
                  </a:lnTo>
                  <a:cubicBezTo>
                    <a:pt x="0" y="40120"/>
                    <a:pt x="40120" y="0"/>
                    <a:pt x="89610" y="0"/>
                  </a:cubicBezTo>
                  <a:close/>
                </a:path>
              </a:pathLst>
            </a:custGeom>
            <a:solidFill>
              <a:srgbClr val="4E62AF"/>
            </a:solidFill>
          </p:spPr>
        </p:sp>
        <p:sp>
          <p:nvSpPr>
            <p:cNvPr id="231" name="TextBox 38">
              <a:extLst>
                <a:ext uri="{FF2B5EF4-FFF2-40B4-BE49-F238E27FC236}">
                  <a16:creationId xmlns:a16="http://schemas.microsoft.com/office/drawing/2014/main" id="{585FCB1F-BB10-80D2-FDFA-A4B78A3A572F}"/>
                </a:ext>
              </a:extLst>
            </p:cNvPr>
            <p:cNvSpPr txBox="1"/>
            <p:nvPr/>
          </p:nvSpPr>
          <p:spPr>
            <a:xfrm>
              <a:off x="0" y="-19050"/>
              <a:ext cx="191174" cy="198269"/>
            </a:xfrm>
            <a:prstGeom prst="rect">
              <a:avLst/>
            </a:prstGeom>
          </p:spPr>
          <p:txBody>
            <a:bodyPr lIns="40640" tIns="40640" rIns="40640" bIns="40640" rtlCol="0" anchor="ctr"/>
            <a:lstStyle/>
            <a:p>
              <a:pPr algn="ctr">
                <a:lnSpc>
                  <a:spcPts val="1679"/>
                </a:lnSpc>
              </a:pPr>
              <a:endParaRPr sz="1440">
                <a:latin typeface="Yekan Bakh FaNum" panose="00000500000000000000" pitchFamily="2" charset="-78"/>
                <a:cs typeface="Yekan Bakh FaNum" panose="00000500000000000000" pitchFamily="2" charset="-78"/>
              </a:endParaRPr>
            </a:p>
          </p:txBody>
        </p:sp>
      </p:grpSp>
      <p:grpSp>
        <p:nvGrpSpPr>
          <p:cNvPr id="232" name="Group 39">
            <a:extLst>
              <a:ext uri="{FF2B5EF4-FFF2-40B4-BE49-F238E27FC236}">
                <a16:creationId xmlns:a16="http://schemas.microsoft.com/office/drawing/2014/main" id="{3B439645-1C19-4B47-A08B-979315781C9E}"/>
              </a:ext>
            </a:extLst>
          </p:cNvPr>
          <p:cNvGrpSpPr/>
          <p:nvPr/>
        </p:nvGrpSpPr>
        <p:grpSpPr>
          <a:xfrm>
            <a:off x="5179630" y="3328834"/>
            <a:ext cx="583389" cy="546907"/>
            <a:chOff x="0" y="0"/>
            <a:chExt cx="191174" cy="179219"/>
          </a:xfrm>
        </p:grpSpPr>
        <p:sp>
          <p:nvSpPr>
            <p:cNvPr id="233" name="Freeform 40">
              <a:extLst>
                <a:ext uri="{FF2B5EF4-FFF2-40B4-BE49-F238E27FC236}">
                  <a16:creationId xmlns:a16="http://schemas.microsoft.com/office/drawing/2014/main" id="{23E48750-CB16-F6CD-0E84-22C96DE83C3C}"/>
                </a:ext>
              </a:extLst>
            </p:cNvPr>
            <p:cNvSpPr/>
            <p:nvPr/>
          </p:nvSpPr>
          <p:spPr>
            <a:xfrm>
              <a:off x="0" y="0"/>
              <a:ext cx="191174" cy="179219"/>
            </a:xfrm>
            <a:custGeom>
              <a:avLst/>
              <a:gdLst/>
              <a:ahLst/>
              <a:cxnLst/>
              <a:rect l="l" t="t" r="r" b="b"/>
              <a:pathLst>
                <a:path w="191174" h="179219">
                  <a:moveTo>
                    <a:pt x="89610" y="0"/>
                  </a:moveTo>
                  <a:lnTo>
                    <a:pt x="101564" y="0"/>
                  </a:lnTo>
                  <a:cubicBezTo>
                    <a:pt x="151054" y="0"/>
                    <a:pt x="191174" y="40120"/>
                    <a:pt x="191174" y="89610"/>
                  </a:cubicBezTo>
                  <a:lnTo>
                    <a:pt x="191174" y="89610"/>
                  </a:lnTo>
                  <a:cubicBezTo>
                    <a:pt x="191174" y="139100"/>
                    <a:pt x="151054" y="179219"/>
                    <a:pt x="101564" y="179219"/>
                  </a:cubicBezTo>
                  <a:lnTo>
                    <a:pt x="89610" y="179219"/>
                  </a:lnTo>
                  <a:cubicBezTo>
                    <a:pt x="40120" y="179219"/>
                    <a:pt x="0" y="139100"/>
                    <a:pt x="0" y="89610"/>
                  </a:cubicBezTo>
                  <a:lnTo>
                    <a:pt x="0" y="89610"/>
                  </a:lnTo>
                  <a:cubicBezTo>
                    <a:pt x="0" y="40120"/>
                    <a:pt x="40120" y="0"/>
                    <a:pt x="89610" y="0"/>
                  </a:cubicBezTo>
                  <a:close/>
                </a:path>
              </a:pathLst>
            </a:custGeom>
            <a:solidFill>
              <a:srgbClr val="4E62AF"/>
            </a:solidFill>
          </p:spPr>
        </p:sp>
        <p:sp>
          <p:nvSpPr>
            <p:cNvPr id="234" name="TextBox 41">
              <a:extLst>
                <a:ext uri="{FF2B5EF4-FFF2-40B4-BE49-F238E27FC236}">
                  <a16:creationId xmlns:a16="http://schemas.microsoft.com/office/drawing/2014/main" id="{0831DFCE-0404-4BE5-2C48-4FFDF3D5EE91}"/>
                </a:ext>
              </a:extLst>
            </p:cNvPr>
            <p:cNvSpPr txBox="1"/>
            <p:nvPr/>
          </p:nvSpPr>
          <p:spPr>
            <a:xfrm>
              <a:off x="0" y="-19050"/>
              <a:ext cx="191174" cy="198269"/>
            </a:xfrm>
            <a:prstGeom prst="rect">
              <a:avLst/>
            </a:prstGeom>
          </p:spPr>
          <p:txBody>
            <a:bodyPr lIns="40640" tIns="40640" rIns="40640" bIns="40640" rtlCol="0" anchor="ctr"/>
            <a:lstStyle/>
            <a:p>
              <a:pPr algn="ctr">
                <a:lnSpc>
                  <a:spcPts val="1679"/>
                </a:lnSpc>
              </a:pPr>
              <a:endParaRPr sz="1440">
                <a:latin typeface="Yekan Bakh FaNum" panose="00000500000000000000" pitchFamily="2" charset="-78"/>
                <a:cs typeface="Yekan Bakh FaNum" panose="00000500000000000000" pitchFamily="2" charset="-78"/>
              </a:endParaRPr>
            </a:p>
          </p:txBody>
        </p:sp>
      </p:grpSp>
      <p:grpSp>
        <p:nvGrpSpPr>
          <p:cNvPr id="235" name="Group 42">
            <a:extLst>
              <a:ext uri="{FF2B5EF4-FFF2-40B4-BE49-F238E27FC236}">
                <a16:creationId xmlns:a16="http://schemas.microsoft.com/office/drawing/2014/main" id="{991EF08E-786D-B6EA-FE9C-587810C21D48}"/>
              </a:ext>
            </a:extLst>
          </p:cNvPr>
          <p:cNvGrpSpPr/>
          <p:nvPr/>
        </p:nvGrpSpPr>
        <p:grpSpPr>
          <a:xfrm>
            <a:off x="6605996" y="5685827"/>
            <a:ext cx="583389" cy="546907"/>
            <a:chOff x="0" y="0"/>
            <a:chExt cx="191174" cy="179219"/>
          </a:xfrm>
        </p:grpSpPr>
        <p:sp>
          <p:nvSpPr>
            <p:cNvPr id="236" name="Freeform 43">
              <a:extLst>
                <a:ext uri="{FF2B5EF4-FFF2-40B4-BE49-F238E27FC236}">
                  <a16:creationId xmlns:a16="http://schemas.microsoft.com/office/drawing/2014/main" id="{6CD2B182-94D3-A8FA-E341-7A9579001519}"/>
                </a:ext>
              </a:extLst>
            </p:cNvPr>
            <p:cNvSpPr/>
            <p:nvPr/>
          </p:nvSpPr>
          <p:spPr>
            <a:xfrm>
              <a:off x="0" y="0"/>
              <a:ext cx="191174" cy="179219"/>
            </a:xfrm>
            <a:custGeom>
              <a:avLst/>
              <a:gdLst/>
              <a:ahLst/>
              <a:cxnLst/>
              <a:rect l="l" t="t" r="r" b="b"/>
              <a:pathLst>
                <a:path w="191174" h="179219">
                  <a:moveTo>
                    <a:pt x="89610" y="0"/>
                  </a:moveTo>
                  <a:lnTo>
                    <a:pt x="101564" y="0"/>
                  </a:lnTo>
                  <a:cubicBezTo>
                    <a:pt x="151054" y="0"/>
                    <a:pt x="191174" y="40120"/>
                    <a:pt x="191174" y="89610"/>
                  </a:cubicBezTo>
                  <a:lnTo>
                    <a:pt x="191174" y="89610"/>
                  </a:lnTo>
                  <a:cubicBezTo>
                    <a:pt x="191174" y="139100"/>
                    <a:pt x="151054" y="179219"/>
                    <a:pt x="101564" y="179219"/>
                  </a:cubicBezTo>
                  <a:lnTo>
                    <a:pt x="89610" y="179219"/>
                  </a:lnTo>
                  <a:cubicBezTo>
                    <a:pt x="40120" y="179219"/>
                    <a:pt x="0" y="139100"/>
                    <a:pt x="0" y="89610"/>
                  </a:cubicBezTo>
                  <a:lnTo>
                    <a:pt x="0" y="89610"/>
                  </a:lnTo>
                  <a:cubicBezTo>
                    <a:pt x="0" y="40120"/>
                    <a:pt x="40120" y="0"/>
                    <a:pt x="89610" y="0"/>
                  </a:cubicBezTo>
                  <a:close/>
                </a:path>
              </a:pathLst>
            </a:custGeom>
            <a:solidFill>
              <a:srgbClr val="4E62AF"/>
            </a:solidFill>
          </p:spPr>
        </p:sp>
        <p:sp>
          <p:nvSpPr>
            <p:cNvPr id="237" name="TextBox 44">
              <a:extLst>
                <a:ext uri="{FF2B5EF4-FFF2-40B4-BE49-F238E27FC236}">
                  <a16:creationId xmlns:a16="http://schemas.microsoft.com/office/drawing/2014/main" id="{3C13BA85-DD96-68A3-B452-7AB4DC088DA2}"/>
                </a:ext>
              </a:extLst>
            </p:cNvPr>
            <p:cNvSpPr txBox="1"/>
            <p:nvPr/>
          </p:nvSpPr>
          <p:spPr>
            <a:xfrm>
              <a:off x="0" y="-19050"/>
              <a:ext cx="191174" cy="198269"/>
            </a:xfrm>
            <a:prstGeom prst="rect">
              <a:avLst/>
            </a:prstGeom>
          </p:spPr>
          <p:txBody>
            <a:bodyPr lIns="40640" tIns="40640" rIns="40640" bIns="40640" rtlCol="0" anchor="ctr"/>
            <a:lstStyle/>
            <a:p>
              <a:pPr algn="ctr">
                <a:lnSpc>
                  <a:spcPts val="1679"/>
                </a:lnSpc>
              </a:pPr>
              <a:endParaRPr sz="1440">
                <a:latin typeface="Yekan Bakh FaNum" panose="00000500000000000000" pitchFamily="2" charset="-78"/>
                <a:cs typeface="Yekan Bakh FaNum" panose="00000500000000000000" pitchFamily="2" charset="-78"/>
              </a:endParaRPr>
            </a:p>
          </p:txBody>
        </p:sp>
      </p:grpSp>
      <p:grpSp>
        <p:nvGrpSpPr>
          <p:cNvPr id="238" name="Group 45">
            <a:extLst>
              <a:ext uri="{FF2B5EF4-FFF2-40B4-BE49-F238E27FC236}">
                <a16:creationId xmlns:a16="http://schemas.microsoft.com/office/drawing/2014/main" id="{F3080976-B726-2F44-C0BB-738BBB012CC8}"/>
              </a:ext>
            </a:extLst>
          </p:cNvPr>
          <p:cNvGrpSpPr/>
          <p:nvPr/>
        </p:nvGrpSpPr>
        <p:grpSpPr>
          <a:xfrm>
            <a:off x="13341899" y="5685827"/>
            <a:ext cx="583389" cy="546907"/>
            <a:chOff x="0" y="0"/>
            <a:chExt cx="191174" cy="179219"/>
          </a:xfrm>
        </p:grpSpPr>
        <p:sp>
          <p:nvSpPr>
            <p:cNvPr id="239" name="Freeform 46">
              <a:extLst>
                <a:ext uri="{FF2B5EF4-FFF2-40B4-BE49-F238E27FC236}">
                  <a16:creationId xmlns:a16="http://schemas.microsoft.com/office/drawing/2014/main" id="{0122C483-A9CC-A567-F614-4109FD1509A2}"/>
                </a:ext>
              </a:extLst>
            </p:cNvPr>
            <p:cNvSpPr/>
            <p:nvPr/>
          </p:nvSpPr>
          <p:spPr>
            <a:xfrm>
              <a:off x="0" y="0"/>
              <a:ext cx="191174" cy="179219"/>
            </a:xfrm>
            <a:custGeom>
              <a:avLst/>
              <a:gdLst/>
              <a:ahLst/>
              <a:cxnLst/>
              <a:rect l="l" t="t" r="r" b="b"/>
              <a:pathLst>
                <a:path w="191174" h="179219">
                  <a:moveTo>
                    <a:pt x="89610" y="0"/>
                  </a:moveTo>
                  <a:lnTo>
                    <a:pt x="101564" y="0"/>
                  </a:lnTo>
                  <a:cubicBezTo>
                    <a:pt x="151054" y="0"/>
                    <a:pt x="191174" y="40120"/>
                    <a:pt x="191174" y="89610"/>
                  </a:cubicBezTo>
                  <a:lnTo>
                    <a:pt x="191174" y="89610"/>
                  </a:lnTo>
                  <a:cubicBezTo>
                    <a:pt x="191174" y="139100"/>
                    <a:pt x="151054" y="179219"/>
                    <a:pt x="101564" y="179219"/>
                  </a:cubicBezTo>
                  <a:lnTo>
                    <a:pt x="89610" y="179219"/>
                  </a:lnTo>
                  <a:cubicBezTo>
                    <a:pt x="40120" y="179219"/>
                    <a:pt x="0" y="139100"/>
                    <a:pt x="0" y="89610"/>
                  </a:cubicBezTo>
                  <a:lnTo>
                    <a:pt x="0" y="89610"/>
                  </a:lnTo>
                  <a:cubicBezTo>
                    <a:pt x="0" y="40120"/>
                    <a:pt x="40120" y="0"/>
                    <a:pt x="89610" y="0"/>
                  </a:cubicBezTo>
                  <a:close/>
                </a:path>
              </a:pathLst>
            </a:custGeom>
            <a:solidFill>
              <a:srgbClr val="4E62AF"/>
            </a:solidFill>
          </p:spPr>
        </p:sp>
        <p:sp>
          <p:nvSpPr>
            <p:cNvPr id="240" name="TextBox 47">
              <a:extLst>
                <a:ext uri="{FF2B5EF4-FFF2-40B4-BE49-F238E27FC236}">
                  <a16:creationId xmlns:a16="http://schemas.microsoft.com/office/drawing/2014/main" id="{1B91413E-C408-3401-6C0A-BAE33143B2CD}"/>
                </a:ext>
              </a:extLst>
            </p:cNvPr>
            <p:cNvSpPr txBox="1"/>
            <p:nvPr/>
          </p:nvSpPr>
          <p:spPr>
            <a:xfrm>
              <a:off x="0" y="-19050"/>
              <a:ext cx="191174" cy="198269"/>
            </a:xfrm>
            <a:prstGeom prst="rect">
              <a:avLst/>
            </a:prstGeom>
          </p:spPr>
          <p:txBody>
            <a:bodyPr lIns="40640" tIns="40640" rIns="40640" bIns="40640" rtlCol="0" anchor="ctr"/>
            <a:lstStyle/>
            <a:p>
              <a:pPr algn="ctr">
                <a:lnSpc>
                  <a:spcPts val="1679"/>
                </a:lnSpc>
              </a:pPr>
              <a:endParaRPr sz="1440">
                <a:latin typeface="Yekan Bakh FaNum" panose="00000500000000000000" pitchFamily="2" charset="-78"/>
                <a:cs typeface="Yekan Bakh FaNum" panose="00000500000000000000" pitchFamily="2" charset="-78"/>
              </a:endParaRPr>
            </a:p>
          </p:txBody>
        </p:sp>
      </p:grpSp>
      <p:grpSp>
        <p:nvGrpSpPr>
          <p:cNvPr id="241" name="Group 48">
            <a:extLst>
              <a:ext uri="{FF2B5EF4-FFF2-40B4-BE49-F238E27FC236}">
                <a16:creationId xmlns:a16="http://schemas.microsoft.com/office/drawing/2014/main" id="{85AFA5E3-F1C6-2A77-452C-F36340AB92AA}"/>
              </a:ext>
            </a:extLst>
          </p:cNvPr>
          <p:cNvGrpSpPr/>
          <p:nvPr/>
        </p:nvGrpSpPr>
        <p:grpSpPr>
          <a:xfrm>
            <a:off x="10504928" y="3328834"/>
            <a:ext cx="583389" cy="546907"/>
            <a:chOff x="0" y="0"/>
            <a:chExt cx="191174" cy="179219"/>
          </a:xfrm>
        </p:grpSpPr>
        <p:sp>
          <p:nvSpPr>
            <p:cNvPr id="242" name="Freeform 49">
              <a:extLst>
                <a:ext uri="{FF2B5EF4-FFF2-40B4-BE49-F238E27FC236}">
                  <a16:creationId xmlns:a16="http://schemas.microsoft.com/office/drawing/2014/main" id="{9DFA346F-9FE7-19F0-A995-C449840772E7}"/>
                </a:ext>
              </a:extLst>
            </p:cNvPr>
            <p:cNvSpPr/>
            <p:nvPr/>
          </p:nvSpPr>
          <p:spPr>
            <a:xfrm>
              <a:off x="0" y="0"/>
              <a:ext cx="191174" cy="179219"/>
            </a:xfrm>
            <a:custGeom>
              <a:avLst/>
              <a:gdLst/>
              <a:ahLst/>
              <a:cxnLst/>
              <a:rect l="l" t="t" r="r" b="b"/>
              <a:pathLst>
                <a:path w="191174" h="179219">
                  <a:moveTo>
                    <a:pt x="89610" y="0"/>
                  </a:moveTo>
                  <a:lnTo>
                    <a:pt x="101564" y="0"/>
                  </a:lnTo>
                  <a:cubicBezTo>
                    <a:pt x="151054" y="0"/>
                    <a:pt x="191174" y="40120"/>
                    <a:pt x="191174" y="89610"/>
                  </a:cubicBezTo>
                  <a:lnTo>
                    <a:pt x="191174" y="89610"/>
                  </a:lnTo>
                  <a:cubicBezTo>
                    <a:pt x="191174" y="139100"/>
                    <a:pt x="151054" y="179219"/>
                    <a:pt x="101564" y="179219"/>
                  </a:cubicBezTo>
                  <a:lnTo>
                    <a:pt x="89610" y="179219"/>
                  </a:lnTo>
                  <a:cubicBezTo>
                    <a:pt x="40120" y="179219"/>
                    <a:pt x="0" y="139100"/>
                    <a:pt x="0" y="89610"/>
                  </a:cubicBezTo>
                  <a:lnTo>
                    <a:pt x="0" y="89610"/>
                  </a:lnTo>
                  <a:cubicBezTo>
                    <a:pt x="0" y="40120"/>
                    <a:pt x="40120" y="0"/>
                    <a:pt x="89610" y="0"/>
                  </a:cubicBezTo>
                  <a:close/>
                </a:path>
              </a:pathLst>
            </a:custGeom>
            <a:solidFill>
              <a:srgbClr val="4E62AF"/>
            </a:solidFill>
          </p:spPr>
        </p:sp>
        <p:sp>
          <p:nvSpPr>
            <p:cNvPr id="243" name="TextBox 50">
              <a:extLst>
                <a:ext uri="{FF2B5EF4-FFF2-40B4-BE49-F238E27FC236}">
                  <a16:creationId xmlns:a16="http://schemas.microsoft.com/office/drawing/2014/main" id="{B5B4DAA0-E739-D0BD-B2BD-8F69A03F3C07}"/>
                </a:ext>
              </a:extLst>
            </p:cNvPr>
            <p:cNvSpPr txBox="1"/>
            <p:nvPr/>
          </p:nvSpPr>
          <p:spPr>
            <a:xfrm>
              <a:off x="0" y="-19050"/>
              <a:ext cx="191174" cy="198269"/>
            </a:xfrm>
            <a:prstGeom prst="rect">
              <a:avLst/>
            </a:prstGeom>
          </p:spPr>
          <p:txBody>
            <a:bodyPr lIns="40640" tIns="40640" rIns="40640" bIns="40640" rtlCol="0" anchor="ctr"/>
            <a:lstStyle/>
            <a:p>
              <a:pPr algn="ctr">
                <a:lnSpc>
                  <a:spcPts val="1679"/>
                </a:lnSpc>
              </a:pPr>
              <a:endParaRPr sz="1440">
                <a:latin typeface="Yekan Bakh FaNum" panose="00000500000000000000" pitchFamily="2" charset="-78"/>
                <a:cs typeface="Yekan Bakh FaNum" panose="00000500000000000000" pitchFamily="2" charset="-78"/>
              </a:endParaRPr>
            </a:p>
          </p:txBody>
        </p:sp>
      </p:grpSp>
      <p:grpSp>
        <p:nvGrpSpPr>
          <p:cNvPr id="244" name="Group 51">
            <a:extLst>
              <a:ext uri="{FF2B5EF4-FFF2-40B4-BE49-F238E27FC236}">
                <a16:creationId xmlns:a16="http://schemas.microsoft.com/office/drawing/2014/main" id="{397081FE-E01E-57D3-2583-EF033651651E}"/>
              </a:ext>
            </a:extLst>
          </p:cNvPr>
          <p:cNvGrpSpPr/>
          <p:nvPr/>
        </p:nvGrpSpPr>
        <p:grpSpPr>
          <a:xfrm>
            <a:off x="8023538" y="963819"/>
            <a:ext cx="583389" cy="546907"/>
            <a:chOff x="0" y="0"/>
            <a:chExt cx="191174" cy="179219"/>
          </a:xfrm>
        </p:grpSpPr>
        <p:sp>
          <p:nvSpPr>
            <p:cNvPr id="245" name="Freeform 52">
              <a:extLst>
                <a:ext uri="{FF2B5EF4-FFF2-40B4-BE49-F238E27FC236}">
                  <a16:creationId xmlns:a16="http://schemas.microsoft.com/office/drawing/2014/main" id="{4EFF55CA-347D-A3F6-42FE-FAFB4D4E26AE}"/>
                </a:ext>
              </a:extLst>
            </p:cNvPr>
            <p:cNvSpPr/>
            <p:nvPr/>
          </p:nvSpPr>
          <p:spPr>
            <a:xfrm>
              <a:off x="0" y="0"/>
              <a:ext cx="191174" cy="179219"/>
            </a:xfrm>
            <a:custGeom>
              <a:avLst/>
              <a:gdLst/>
              <a:ahLst/>
              <a:cxnLst/>
              <a:rect l="l" t="t" r="r" b="b"/>
              <a:pathLst>
                <a:path w="191174" h="179219">
                  <a:moveTo>
                    <a:pt x="89610" y="0"/>
                  </a:moveTo>
                  <a:lnTo>
                    <a:pt x="101564" y="0"/>
                  </a:lnTo>
                  <a:cubicBezTo>
                    <a:pt x="151054" y="0"/>
                    <a:pt x="191174" y="40120"/>
                    <a:pt x="191174" y="89610"/>
                  </a:cubicBezTo>
                  <a:lnTo>
                    <a:pt x="191174" y="89610"/>
                  </a:lnTo>
                  <a:cubicBezTo>
                    <a:pt x="191174" y="139100"/>
                    <a:pt x="151054" y="179219"/>
                    <a:pt x="101564" y="179219"/>
                  </a:cubicBezTo>
                  <a:lnTo>
                    <a:pt x="89610" y="179219"/>
                  </a:lnTo>
                  <a:cubicBezTo>
                    <a:pt x="40120" y="179219"/>
                    <a:pt x="0" y="139100"/>
                    <a:pt x="0" y="89610"/>
                  </a:cubicBezTo>
                  <a:lnTo>
                    <a:pt x="0" y="89610"/>
                  </a:lnTo>
                  <a:cubicBezTo>
                    <a:pt x="0" y="40120"/>
                    <a:pt x="40120" y="0"/>
                    <a:pt x="89610" y="0"/>
                  </a:cubicBezTo>
                  <a:close/>
                </a:path>
              </a:pathLst>
            </a:custGeom>
            <a:solidFill>
              <a:srgbClr val="4E62AF"/>
            </a:solidFill>
          </p:spPr>
        </p:sp>
        <p:sp>
          <p:nvSpPr>
            <p:cNvPr id="246" name="TextBox 53">
              <a:extLst>
                <a:ext uri="{FF2B5EF4-FFF2-40B4-BE49-F238E27FC236}">
                  <a16:creationId xmlns:a16="http://schemas.microsoft.com/office/drawing/2014/main" id="{6DC849A0-B523-865B-0871-0B777FC9DAEF}"/>
                </a:ext>
              </a:extLst>
            </p:cNvPr>
            <p:cNvSpPr txBox="1"/>
            <p:nvPr/>
          </p:nvSpPr>
          <p:spPr>
            <a:xfrm>
              <a:off x="0" y="-19050"/>
              <a:ext cx="191174" cy="198269"/>
            </a:xfrm>
            <a:prstGeom prst="rect">
              <a:avLst/>
            </a:prstGeom>
          </p:spPr>
          <p:txBody>
            <a:bodyPr lIns="40640" tIns="40640" rIns="40640" bIns="40640" rtlCol="0" anchor="ctr"/>
            <a:lstStyle/>
            <a:p>
              <a:pPr algn="ctr">
                <a:lnSpc>
                  <a:spcPts val="1679"/>
                </a:lnSpc>
              </a:pPr>
              <a:endParaRPr sz="1440">
                <a:latin typeface="Yekan Bakh FaNum" panose="00000500000000000000" pitchFamily="2" charset="-78"/>
                <a:cs typeface="Yekan Bakh FaNum" panose="00000500000000000000" pitchFamily="2" charset="-78"/>
              </a:endParaRPr>
            </a:p>
          </p:txBody>
        </p:sp>
      </p:grpSp>
      <p:grpSp>
        <p:nvGrpSpPr>
          <p:cNvPr id="247" name="Group 54">
            <a:extLst>
              <a:ext uri="{FF2B5EF4-FFF2-40B4-BE49-F238E27FC236}">
                <a16:creationId xmlns:a16="http://schemas.microsoft.com/office/drawing/2014/main" id="{76408087-A22E-7547-541E-453818AB1213}"/>
              </a:ext>
            </a:extLst>
          </p:cNvPr>
          <p:cNvGrpSpPr/>
          <p:nvPr/>
        </p:nvGrpSpPr>
        <p:grpSpPr>
          <a:xfrm>
            <a:off x="10496354" y="963819"/>
            <a:ext cx="583389" cy="546907"/>
            <a:chOff x="0" y="0"/>
            <a:chExt cx="191174" cy="179219"/>
          </a:xfrm>
        </p:grpSpPr>
        <p:sp>
          <p:nvSpPr>
            <p:cNvPr id="248" name="Freeform 55">
              <a:extLst>
                <a:ext uri="{FF2B5EF4-FFF2-40B4-BE49-F238E27FC236}">
                  <a16:creationId xmlns:a16="http://schemas.microsoft.com/office/drawing/2014/main" id="{39066C9A-C664-A83A-3668-DA895C29A66A}"/>
                </a:ext>
              </a:extLst>
            </p:cNvPr>
            <p:cNvSpPr/>
            <p:nvPr/>
          </p:nvSpPr>
          <p:spPr>
            <a:xfrm>
              <a:off x="0" y="0"/>
              <a:ext cx="191174" cy="179219"/>
            </a:xfrm>
            <a:custGeom>
              <a:avLst/>
              <a:gdLst/>
              <a:ahLst/>
              <a:cxnLst/>
              <a:rect l="l" t="t" r="r" b="b"/>
              <a:pathLst>
                <a:path w="191174" h="179219">
                  <a:moveTo>
                    <a:pt x="89610" y="0"/>
                  </a:moveTo>
                  <a:lnTo>
                    <a:pt x="101564" y="0"/>
                  </a:lnTo>
                  <a:cubicBezTo>
                    <a:pt x="151054" y="0"/>
                    <a:pt x="191174" y="40120"/>
                    <a:pt x="191174" y="89610"/>
                  </a:cubicBezTo>
                  <a:lnTo>
                    <a:pt x="191174" y="89610"/>
                  </a:lnTo>
                  <a:cubicBezTo>
                    <a:pt x="191174" y="139100"/>
                    <a:pt x="151054" y="179219"/>
                    <a:pt x="101564" y="179219"/>
                  </a:cubicBezTo>
                  <a:lnTo>
                    <a:pt x="89610" y="179219"/>
                  </a:lnTo>
                  <a:cubicBezTo>
                    <a:pt x="40120" y="179219"/>
                    <a:pt x="0" y="139100"/>
                    <a:pt x="0" y="89610"/>
                  </a:cubicBezTo>
                  <a:lnTo>
                    <a:pt x="0" y="89610"/>
                  </a:lnTo>
                  <a:cubicBezTo>
                    <a:pt x="0" y="40120"/>
                    <a:pt x="40120" y="0"/>
                    <a:pt x="89610" y="0"/>
                  </a:cubicBezTo>
                  <a:close/>
                </a:path>
              </a:pathLst>
            </a:custGeom>
            <a:solidFill>
              <a:srgbClr val="4E62AF"/>
            </a:solidFill>
          </p:spPr>
        </p:sp>
        <p:sp>
          <p:nvSpPr>
            <p:cNvPr id="249" name="TextBox 56">
              <a:extLst>
                <a:ext uri="{FF2B5EF4-FFF2-40B4-BE49-F238E27FC236}">
                  <a16:creationId xmlns:a16="http://schemas.microsoft.com/office/drawing/2014/main" id="{2BA19DB9-285F-3449-5028-57555376919A}"/>
                </a:ext>
              </a:extLst>
            </p:cNvPr>
            <p:cNvSpPr txBox="1"/>
            <p:nvPr/>
          </p:nvSpPr>
          <p:spPr>
            <a:xfrm>
              <a:off x="0" y="-19050"/>
              <a:ext cx="191174" cy="198269"/>
            </a:xfrm>
            <a:prstGeom prst="rect">
              <a:avLst/>
            </a:prstGeom>
          </p:spPr>
          <p:txBody>
            <a:bodyPr lIns="40640" tIns="40640" rIns="40640" bIns="40640" rtlCol="0" anchor="ctr"/>
            <a:lstStyle/>
            <a:p>
              <a:pPr algn="ctr">
                <a:lnSpc>
                  <a:spcPts val="1679"/>
                </a:lnSpc>
              </a:pPr>
              <a:endParaRPr sz="1440">
                <a:latin typeface="Yekan Bakh FaNum" panose="00000500000000000000" pitchFamily="2" charset="-78"/>
                <a:cs typeface="Yekan Bakh FaNum" panose="00000500000000000000" pitchFamily="2" charset="-78"/>
              </a:endParaRPr>
            </a:p>
          </p:txBody>
        </p:sp>
      </p:grpSp>
      <p:grpSp>
        <p:nvGrpSpPr>
          <p:cNvPr id="250" name="Group 57">
            <a:extLst>
              <a:ext uri="{FF2B5EF4-FFF2-40B4-BE49-F238E27FC236}">
                <a16:creationId xmlns:a16="http://schemas.microsoft.com/office/drawing/2014/main" id="{0931B107-E921-CE29-9E1F-02EAF4F4FDDB}"/>
              </a:ext>
            </a:extLst>
          </p:cNvPr>
          <p:cNvGrpSpPr/>
          <p:nvPr/>
        </p:nvGrpSpPr>
        <p:grpSpPr>
          <a:xfrm>
            <a:off x="13341899" y="963819"/>
            <a:ext cx="583389" cy="546907"/>
            <a:chOff x="0" y="0"/>
            <a:chExt cx="191174" cy="179219"/>
          </a:xfrm>
        </p:grpSpPr>
        <p:sp>
          <p:nvSpPr>
            <p:cNvPr id="251" name="Freeform 58">
              <a:extLst>
                <a:ext uri="{FF2B5EF4-FFF2-40B4-BE49-F238E27FC236}">
                  <a16:creationId xmlns:a16="http://schemas.microsoft.com/office/drawing/2014/main" id="{21E44AE0-6C96-3ABC-8B7C-8B6192A10B86}"/>
                </a:ext>
              </a:extLst>
            </p:cNvPr>
            <p:cNvSpPr/>
            <p:nvPr/>
          </p:nvSpPr>
          <p:spPr>
            <a:xfrm>
              <a:off x="0" y="0"/>
              <a:ext cx="191174" cy="179219"/>
            </a:xfrm>
            <a:custGeom>
              <a:avLst/>
              <a:gdLst/>
              <a:ahLst/>
              <a:cxnLst/>
              <a:rect l="l" t="t" r="r" b="b"/>
              <a:pathLst>
                <a:path w="191174" h="179219">
                  <a:moveTo>
                    <a:pt x="89610" y="0"/>
                  </a:moveTo>
                  <a:lnTo>
                    <a:pt x="101564" y="0"/>
                  </a:lnTo>
                  <a:cubicBezTo>
                    <a:pt x="151054" y="0"/>
                    <a:pt x="191174" y="40120"/>
                    <a:pt x="191174" y="89610"/>
                  </a:cubicBezTo>
                  <a:lnTo>
                    <a:pt x="191174" y="89610"/>
                  </a:lnTo>
                  <a:cubicBezTo>
                    <a:pt x="191174" y="139100"/>
                    <a:pt x="151054" y="179219"/>
                    <a:pt x="101564" y="179219"/>
                  </a:cubicBezTo>
                  <a:lnTo>
                    <a:pt x="89610" y="179219"/>
                  </a:lnTo>
                  <a:cubicBezTo>
                    <a:pt x="40120" y="179219"/>
                    <a:pt x="0" y="139100"/>
                    <a:pt x="0" y="89610"/>
                  </a:cubicBezTo>
                  <a:lnTo>
                    <a:pt x="0" y="89610"/>
                  </a:lnTo>
                  <a:cubicBezTo>
                    <a:pt x="0" y="40120"/>
                    <a:pt x="40120" y="0"/>
                    <a:pt x="89610" y="0"/>
                  </a:cubicBezTo>
                  <a:close/>
                </a:path>
              </a:pathLst>
            </a:custGeom>
            <a:solidFill>
              <a:srgbClr val="4E62AF"/>
            </a:solidFill>
          </p:spPr>
        </p:sp>
        <p:sp>
          <p:nvSpPr>
            <p:cNvPr id="252" name="TextBox 59">
              <a:extLst>
                <a:ext uri="{FF2B5EF4-FFF2-40B4-BE49-F238E27FC236}">
                  <a16:creationId xmlns:a16="http://schemas.microsoft.com/office/drawing/2014/main" id="{46AF1FDA-E50F-9304-F57C-616DFABC972B}"/>
                </a:ext>
              </a:extLst>
            </p:cNvPr>
            <p:cNvSpPr txBox="1"/>
            <p:nvPr/>
          </p:nvSpPr>
          <p:spPr>
            <a:xfrm>
              <a:off x="0" y="-19050"/>
              <a:ext cx="191174" cy="198269"/>
            </a:xfrm>
            <a:prstGeom prst="rect">
              <a:avLst/>
            </a:prstGeom>
          </p:spPr>
          <p:txBody>
            <a:bodyPr lIns="40640" tIns="40640" rIns="40640" bIns="40640" rtlCol="0" anchor="ctr"/>
            <a:lstStyle/>
            <a:p>
              <a:pPr algn="ctr">
                <a:lnSpc>
                  <a:spcPts val="1679"/>
                </a:lnSpc>
              </a:pPr>
              <a:endParaRPr sz="1440">
                <a:latin typeface="Yekan Bakh FaNum" panose="00000500000000000000" pitchFamily="2" charset="-78"/>
                <a:cs typeface="Yekan Bakh FaNum" panose="00000500000000000000" pitchFamily="2" charset="-78"/>
              </a:endParaRPr>
            </a:p>
          </p:txBody>
        </p:sp>
      </p:grpSp>
      <p:sp>
        <p:nvSpPr>
          <p:cNvPr id="253" name="Freeform 60">
            <a:extLst>
              <a:ext uri="{FF2B5EF4-FFF2-40B4-BE49-F238E27FC236}">
                <a16:creationId xmlns:a16="http://schemas.microsoft.com/office/drawing/2014/main" id="{CDF804FF-584A-4AC3-F908-07F949A03377}"/>
              </a:ext>
            </a:extLst>
          </p:cNvPr>
          <p:cNvSpPr/>
          <p:nvPr/>
        </p:nvSpPr>
        <p:spPr>
          <a:xfrm>
            <a:off x="5309447" y="1073217"/>
            <a:ext cx="329116" cy="329116"/>
          </a:xfrm>
          <a:custGeom>
            <a:avLst/>
            <a:gdLst/>
            <a:ahLst/>
            <a:cxnLst/>
            <a:rect l="l" t="t" r="r" b="b"/>
            <a:pathLst>
              <a:path w="409493" h="409493">
                <a:moveTo>
                  <a:pt x="0" y="0"/>
                </a:moveTo>
                <a:lnTo>
                  <a:pt x="409493" y="0"/>
                </a:lnTo>
                <a:lnTo>
                  <a:pt x="409493" y="409493"/>
                </a:lnTo>
                <a:lnTo>
                  <a:pt x="0" y="4094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4" name="Freeform 61">
            <a:extLst>
              <a:ext uri="{FF2B5EF4-FFF2-40B4-BE49-F238E27FC236}">
                <a16:creationId xmlns:a16="http://schemas.microsoft.com/office/drawing/2014/main" id="{F1F58A1E-2A01-611D-D6A5-FB2B6899866E}"/>
              </a:ext>
            </a:extLst>
          </p:cNvPr>
          <p:cNvSpPr/>
          <p:nvPr/>
        </p:nvSpPr>
        <p:spPr>
          <a:xfrm>
            <a:off x="2817957" y="1076590"/>
            <a:ext cx="363362" cy="322401"/>
          </a:xfrm>
          <a:custGeom>
            <a:avLst/>
            <a:gdLst/>
            <a:ahLst/>
            <a:cxnLst/>
            <a:rect l="l" t="t" r="r" b="b"/>
            <a:pathLst>
              <a:path w="452103" h="401138">
                <a:moveTo>
                  <a:pt x="0" y="0"/>
                </a:moveTo>
                <a:lnTo>
                  <a:pt x="452103" y="0"/>
                </a:lnTo>
                <a:lnTo>
                  <a:pt x="452103" y="401139"/>
                </a:lnTo>
                <a:lnTo>
                  <a:pt x="0" y="40113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55" name="Freeform 62">
            <a:extLst>
              <a:ext uri="{FF2B5EF4-FFF2-40B4-BE49-F238E27FC236}">
                <a16:creationId xmlns:a16="http://schemas.microsoft.com/office/drawing/2014/main" id="{C46D06F0-79BC-FF0B-884B-8C6E9E6A32F8}"/>
              </a:ext>
            </a:extLst>
          </p:cNvPr>
          <p:cNvSpPr/>
          <p:nvPr/>
        </p:nvSpPr>
        <p:spPr>
          <a:xfrm>
            <a:off x="6738445" y="5797017"/>
            <a:ext cx="317263" cy="325550"/>
          </a:xfrm>
          <a:custGeom>
            <a:avLst/>
            <a:gdLst/>
            <a:ahLst/>
            <a:cxnLst/>
            <a:rect l="l" t="t" r="r" b="b"/>
            <a:pathLst>
              <a:path w="394745" h="405055">
                <a:moveTo>
                  <a:pt x="0" y="0"/>
                </a:moveTo>
                <a:lnTo>
                  <a:pt x="394744" y="0"/>
                </a:lnTo>
                <a:lnTo>
                  <a:pt x="394744" y="405055"/>
                </a:lnTo>
                <a:lnTo>
                  <a:pt x="0" y="40505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56" name="Freeform 63">
            <a:extLst>
              <a:ext uri="{FF2B5EF4-FFF2-40B4-BE49-F238E27FC236}">
                <a16:creationId xmlns:a16="http://schemas.microsoft.com/office/drawing/2014/main" id="{7479B9FA-04BE-0D88-8D61-3DB70B8F7764}"/>
              </a:ext>
            </a:extLst>
          </p:cNvPr>
          <p:cNvSpPr/>
          <p:nvPr/>
        </p:nvSpPr>
        <p:spPr>
          <a:xfrm>
            <a:off x="10688780" y="3442473"/>
            <a:ext cx="213977" cy="320674"/>
          </a:xfrm>
          <a:custGeom>
            <a:avLst/>
            <a:gdLst/>
            <a:ahLst/>
            <a:cxnLst/>
            <a:rect l="l" t="t" r="r" b="b"/>
            <a:pathLst>
              <a:path w="266234" h="398988">
                <a:moveTo>
                  <a:pt x="0" y="0"/>
                </a:moveTo>
                <a:lnTo>
                  <a:pt x="266233" y="0"/>
                </a:lnTo>
                <a:lnTo>
                  <a:pt x="266233" y="398988"/>
                </a:lnTo>
                <a:lnTo>
                  <a:pt x="0" y="39898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7" name="Freeform 64">
            <a:extLst>
              <a:ext uri="{FF2B5EF4-FFF2-40B4-BE49-F238E27FC236}">
                <a16:creationId xmlns:a16="http://schemas.microsoft.com/office/drawing/2014/main" id="{2FA87394-7E7E-905A-3961-13B31EAC1341}"/>
              </a:ext>
            </a:extLst>
          </p:cNvPr>
          <p:cNvSpPr/>
          <p:nvPr/>
        </p:nvSpPr>
        <p:spPr>
          <a:xfrm>
            <a:off x="13458899" y="1065807"/>
            <a:ext cx="348301" cy="343868"/>
          </a:xfrm>
          <a:custGeom>
            <a:avLst/>
            <a:gdLst/>
            <a:ahLst/>
            <a:cxnLst/>
            <a:rect l="l" t="t" r="r" b="b"/>
            <a:pathLst>
              <a:path w="433363" h="427848">
                <a:moveTo>
                  <a:pt x="0" y="0"/>
                </a:moveTo>
                <a:lnTo>
                  <a:pt x="433364" y="0"/>
                </a:lnTo>
                <a:lnTo>
                  <a:pt x="433364" y="427848"/>
                </a:lnTo>
                <a:lnTo>
                  <a:pt x="0" y="42784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58" name="Freeform 65">
            <a:extLst>
              <a:ext uri="{FF2B5EF4-FFF2-40B4-BE49-F238E27FC236}">
                <a16:creationId xmlns:a16="http://schemas.microsoft.com/office/drawing/2014/main" id="{2A673060-8E76-841A-88DA-DAC26FCA6237}"/>
              </a:ext>
            </a:extLst>
          </p:cNvPr>
          <p:cNvSpPr/>
          <p:nvPr/>
        </p:nvSpPr>
        <p:spPr>
          <a:xfrm>
            <a:off x="10630520" y="1100681"/>
            <a:ext cx="313810" cy="274441"/>
          </a:xfrm>
          <a:custGeom>
            <a:avLst/>
            <a:gdLst/>
            <a:ahLst/>
            <a:cxnLst/>
            <a:rect l="l" t="t" r="r" b="b"/>
            <a:pathLst>
              <a:path w="390449" h="341465">
                <a:moveTo>
                  <a:pt x="0" y="0"/>
                </a:moveTo>
                <a:lnTo>
                  <a:pt x="390449" y="0"/>
                </a:lnTo>
                <a:lnTo>
                  <a:pt x="390449" y="341465"/>
                </a:lnTo>
                <a:lnTo>
                  <a:pt x="0" y="34146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59" name="Freeform 66">
            <a:extLst>
              <a:ext uri="{FF2B5EF4-FFF2-40B4-BE49-F238E27FC236}">
                <a16:creationId xmlns:a16="http://schemas.microsoft.com/office/drawing/2014/main" id="{89539EBD-0448-4913-674A-5D2091198A09}"/>
              </a:ext>
            </a:extLst>
          </p:cNvPr>
          <p:cNvSpPr/>
          <p:nvPr/>
        </p:nvSpPr>
        <p:spPr>
          <a:xfrm>
            <a:off x="5291617" y="3464490"/>
            <a:ext cx="358373" cy="276843"/>
          </a:xfrm>
          <a:custGeom>
            <a:avLst/>
            <a:gdLst/>
            <a:ahLst/>
            <a:cxnLst/>
            <a:rect l="l" t="t" r="r" b="b"/>
            <a:pathLst>
              <a:path w="445895" h="344454">
                <a:moveTo>
                  <a:pt x="0" y="0"/>
                </a:moveTo>
                <a:lnTo>
                  <a:pt x="445895" y="0"/>
                </a:lnTo>
                <a:lnTo>
                  <a:pt x="445895" y="344454"/>
                </a:lnTo>
                <a:lnTo>
                  <a:pt x="0" y="34445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60" name="Freeform 67">
            <a:extLst>
              <a:ext uri="{FF2B5EF4-FFF2-40B4-BE49-F238E27FC236}">
                <a16:creationId xmlns:a16="http://schemas.microsoft.com/office/drawing/2014/main" id="{6C339BA3-D5D3-283B-B899-896AD366612D}"/>
              </a:ext>
            </a:extLst>
          </p:cNvPr>
          <p:cNvSpPr/>
          <p:nvPr/>
        </p:nvSpPr>
        <p:spPr>
          <a:xfrm>
            <a:off x="13465991" y="5797017"/>
            <a:ext cx="334053" cy="325550"/>
          </a:xfrm>
          <a:custGeom>
            <a:avLst/>
            <a:gdLst/>
            <a:ahLst/>
            <a:cxnLst/>
            <a:rect l="l" t="t" r="r" b="b"/>
            <a:pathLst>
              <a:path w="415635" h="405055">
                <a:moveTo>
                  <a:pt x="0" y="0"/>
                </a:moveTo>
                <a:lnTo>
                  <a:pt x="415635" y="0"/>
                </a:lnTo>
                <a:lnTo>
                  <a:pt x="415635" y="405055"/>
                </a:lnTo>
                <a:lnTo>
                  <a:pt x="0" y="40505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61" name="Freeform 68">
            <a:extLst>
              <a:ext uri="{FF2B5EF4-FFF2-40B4-BE49-F238E27FC236}">
                <a16:creationId xmlns:a16="http://schemas.microsoft.com/office/drawing/2014/main" id="{79EF2B9E-2A51-A9A2-7CFD-2F5682771999}"/>
              </a:ext>
            </a:extLst>
          </p:cNvPr>
          <p:cNvSpPr/>
          <p:nvPr/>
        </p:nvSpPr>
        <p:spPr>
          <a:xfrm>
            <a:off x="8144312" y="1067389"/>
            <a:ext cx="340720" cy="340720"/>
          </a:xfrm>
          <a:custGeom>
            <a:avLst/>
            <a:gdLst/>
            <a:ahLst/>
            <a:cxnLst/>
            <a:rect l="l" t="t" r="r" b="b"/>
            <a:pathLst>
              <a:path w="423931" h="423931">
                <a:moveTo>
                  <a:pt x="0" y="0"/>
                </a:moveTo>
                <a:lnTo>
                  <a:pt x="423931" y="0"/>
                </a:lnTo>
                <a:lnTo>
                  <a:pt x="423931" y="423931"/>
                </a:lnTo>
                <a:lnTo>
                  <a:pt x="0" y="42393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66" name="TextBox 74">
            <a:extLst>
              <a:ext uri="{FF2B5EF4-FFF2-40B4-BE49-F238E27FC236}">
                <a16:creationId xmlns:a16="http://schemas.microsoft.com/office/drawing/2014/main" id="{29F2C49B-3C56-43E8-5A7F-058A5A28553D}"/>
              </a:ext>
            </a:extLst>
          </p:cNvPr>
          <p:cNvSpPr txBox="1"/>
          <p:nvPr/>
        </p:nvSpPr>
        <p:spPr>
          <a:xfrm>
            <a:off x="6091250" y="1106937"/>
            <a:ext cx="1757637" cy="237373"/>
          </a:xfrm>
          <a:prstGeom prst="rect">
            <a:avLst/>
          </a:prstGeom>
        </p:spPr>
        <p:txBody>
          <a:bodyPr wrap="square" lIns="0" tIns="0" rIns="0" bIns="0" rtlCol="0" anchor="t">
            <a:spAutoFit/>
          </a:bodyPr>
          <a:lstStyle/>
          <a:p>
            <a:pPr algn="ctr">
              <a:lnSpc>
                <a:spcPts val="1730"/>
              </a:lnSpc>
              <a:spcBef>
                <a:spcPct val="0"/>
              </a:spcBef>
            </a:pPr>
            <a:r>
              <a:rPr lang="ar-EG" sz="1920" b="1" dirty="0">
                <a:solidFill>
                  <a:srgbClr val="FFFF00"/>
                </a:solidFill>
                <a:latin typeface="Yekan Bakh FaNum" panose="00000500000000000000" pitchFamily="2" charset="-78"/>
                <a:ea typeface="Josefin Sans Bold"/>
                <a:cs typeface="Yekan Bakh FaNum" panose="00000500000000000000" pitchFamily="2" charset="-78"/>
                <a:sym typeface="Josefin Sans Bold"/>
                <a:rtl/>
              </a:rPr>
              <a:t>ارزش پیشنهادی</a:t>
            </a:r>
          </a:p>
        </p:txBody>
      </p:sp>
      <p:sp>
        <p:nvSpPr>
          <p:cNvPr id="267" name="TextBox 75">
            <a:extLst>
              <a:ext uri="{FF2B5EF4-FFF2-40B4-BE49-F238E27FC236}">
                <a16:creationId xmlns:a16="http://schemas.microsoft.com/office/drawing/2014/main" id="{8E7A8D09-73FA-A1D1-7739-ED3BAB224571}"/>
              </a:ext>
            </a:extLst>
          </p:cNvPr>
          <p:cNvSpPr txBox="1"/>
          <p:nvPr/>
        </p:nvSpPr>
        <p:spPr>
          <a:xfrm>
            <a:off x="8748814" y="1106937"/>
            <a:ext cx="1757637" cy="237373"/>
          </a:xfrm>
          <a:prstGeom prst="rect">
            <a:avLst/>
          </a:prstGeom>
        </p:spPr>
        <p:txBody>
          <a:bodyPr wrap="square" lIns="0" tIns="0" rIns="0" bIns="0" rtlCol="0" anchor="t">
            <a:spAutoFit/>
          </a:bodyPr>
          <a:lstStyle/>
          <a:p>
            <a:pPr algn="ctr">
              <a:lnSpc>
                <a:spcPts val="1730"/>
              </a:lnSpc>
              <a:spcBef>
                <a:spcPct val="0"/>
              </a:spcBef>
            </a:pPr>
            <a:r>
              <a:rPr lang="ar-EG" sz="1920" b="1" dirty="0">
                <a:solidFill>
                  <a:srgbClr val="FFFF00"/>
                </a:solidFill>
                <a:latin typeface="Yekan Bakh FaNum" panose="00000500000000000000" pitchFamily="2" charset="-78"/>
                <a:ea typeface="Josefin Sans Bold"/>
                <a:cs typeface="Yekan Bakh FaNum" panose="00000500000000000000" pitchFamily="2" charset="-78"/>
                <a:sym typeface="Josefin Sans Bold"/>
                <a:rtl/>
              </a:rPr>
              <a:t>روابط با مشتریان</a:t>
            </a:r>
          </a:p>
        </p:txBody>
      </p:sp>
      <p:sp>
        <p:nvSpPr>
          <p:cNvPr id="268" name="TextBox 76">
            <a:extLst>
              <a:ext uri="{FF2B5EF4-FFF2-40B4-BE49-F238E27FC236}">
                <a16:creationId xmlns:a16="http://schemas.microsoft.com/office/drawing/2014/main" id="{1FBB242F-D21B-F27A-60B7-272E831401EC}"/>
              </a:ext>
            </a:extLst>
          </p:cNvPr>
          <p:cNvSpPr txBox="1"/>
          <p:nvPr/>
        </p:nvSpPr>
        <p:spPr>
          <a:xfrm>
            <a:off x="11336125" y="1106937"/>
            <a:ext cx="1757637" cy="237373"/>
          </a:xfrm>
          <a:prstGeom prst="rect">
            <a:avLst/>
          </a:prstGeom>
        </p:spPr>
        <p:txBody>
          <a:bodyPr wrap="square" lIns="0" tIns="0" rIns="0" bIns="0" rtlCol="0" anchor="t">
            <a:spAutoFit/>
          </a:bodyPr>
          <a:lstStyle/>
          <a:p>
            <a:pPr algn="ctr" rtl="1">
              <a:lnSpc>
                <a:spcPts val="1730"/>
              </a:lnSpc>
              <a:spcBef>
                <a:spcPct val="0"/>
              </a:spcBef>
            </a:pPr>
            <a:r>
              <a:rPr lang="ar-EG" sz="1920" b="1" dirty="0">
                <a:solidFill>
                  <a:srgbClr val="FFFF00"/>
                </a:solidFill>
                <a:latin typeface="Yekan Bakh FaNum" panose="00000500000000000000" pitchFamily="2" charset="-78"/>
                <a:ea typeface="Josefin Sans Bold"/>
                <a:cs typeface="Yekan Bakh FaNum" panose="00000500000000000000" pitchFamily="2" charset="-78"/>
                <a:sym typeface="Josefin Sans Bold"/>
                <a:rtl/>
              </a:rPr>
              <a:t>بخش </a:t>
            </a:r>
            <a:r>
              <a:rPr lang="ar-EG" b="1" dirty="0">
                <a:solidFill>
                  <a:srgbClr val="FFFF00"/>
                </a:solidFill>
                <a:latin typeface="Yekan Bakh FaNum" panose="00000500000000000000" pitchFamily="2" charset="-78"/>
                <a:cs typeface="Yekan Bakh FaNum" panose="00000500000000000000" pitchFamily="2" charset="-78"/>
                <a:sym typeface="Josefin Sans Bold"/>
              </a:rPr>
              <a:t>مشتریان</a:t>
            </a:r>
            <a:endParaRPr lang="ar-EG" sz="1920" b="1" dirty="0">
              <a:solidFill>
                <a:srgbClr val="FFFF00"/>
              </a:solidFill>
              <a:latin typeface="Yekan Bakh FaNum" panose="00000500000000000000" pitchFamily="2" charset="-78"/>
              <a:ea typeface="Josefin Sans Bold"/>
              <a:cs typeface="Yekan Bakh FaNum" panose="00000500000000000000" pitchFamily="2" charset="-78"/>
              <a:sym typeface="Josefin Sans Bold"/>
              <a:rtl/>
            </a:endParaRPr>
          </a:p>
        </p:txBody>
      </p:sp>
      <p:sp>
        <p:nvSpPr>
          <p:cNvPr id="269" name="TextBox 77">
            <a:extLst>
              <a:ext uri="{FF2B5EF4-FFF2-40B4-BE49-F238E27FC236}">
                <a16:creationId xmlns:a16="http://schemas.microsoft.com/office/drawing/2014/main" id="{5C3F3400-0934-09D6-2EE2-70CD226C61A5}"/>
              </a:ext>
            </a:extLst>
          </p:cNvPr>
          <p:cNvSpPr txBox="1"/>
          <p:nvPr/>
        </p:nvSpPr>
        <p:spPr>
          <a:xfrm>
            <a:off x="701040" y="1106937"/>
            <a:ext cx="1794643" cy="237373"/>
          </a:xfrm>
          <a:prstGeom prst="rect">
            <a:avLst/>
          </a:prstGeom>
        </p:spPr>
        <p:txBody>
          <a:bodyPr wrap="square" lIns="0" tIns="0" rIns="0" bIns="0" rtlCol="0" anchor="t">
            <a:spAutoFit/>
          </a:bodyPr>
          <a:lstStyle/>
          <a:p>
            <a:pPr algn="ctr">
              <a:lnSpc>
                <a:spcPts val="1730"/>
              </a:lnSpc>
            </a:pPr>
            <a:r>
              <a:rPr lang="ar-EG" sz="1920" b="1" dirty="0">
                <a:solidFill>
                  <a:srgbClr val="FFFF00"/>
                </a:solidFill>
                <a:latin typeface="Yekan Bakh FaNum" panose="00000500000000000000" pitchFamily="2" charset="-78"/>
                <a:ea typeface="Josefin Sans Bold"/>
                <a:cs typeface="Yekan Bakh FaNum" panose="00000500000000000000" pitchFamily="2" charset="-78"/>
                <a:sym typeface="Josefin Sans Bold"/>
                <a:rtl/>
              </a:rPr>
              <a:t>شرکای کلیدی</a:t>
            </a:r>
          </a:p>
        </p:txBody>
      </p:sp>
      <p:sp>
        <p:nvSpPr>
          <p:cNvPr id="270" name="TextBox 78">
            <a:extLst>
              <a:ext uri="{FF2B5EF4-FFF2-40B4-BE49-F238E27FC236}">
                <a16:creationId xmlns:a16="http://schemas.microsoft.com/office/drawing/2014/main" id="{9D984660-D268-850A-FC5A-4EB1CC42742E}"/>
              </a:ext>
            </a:extLst>
          </p:cNvPr>
          <p:cNvSpPr txBox="1"/>
          <p:nvPr/>
        </p:nvSpPr>
        <p:spPr>
          <a:xfrm>
            <a:off x="4194407" y="5814596"/>
            <a:ext cx="2204614" cy="237373"/>
          </a:xfrm>
          <a:prstGeom prst="rect">
            <a:avLst/>
          </a:prstGeom>
        </p:spPr>
        <p:txBody>
          <a:bodyPr wrap="square" lIns="0" tIns="0" rIns="0" bIns="0" rtlCol="0" anchor="t">
            <a:spAutoFit/>
          </a:bodyPr>
          <a:lstStyle/>
          <a:p>
            <a:pPr algn="r" rtl="1">
              <a:lnSpc>
                <a:spcPts val="1730"/>
              </a:lnSpc>
            </a:pPr>
            <a:r>
              <a:rPr lang="ar-EG" sz="1920" b="1" dirty="0">
                <a:solidFill>
                  <a:srgbClr val="FFFF00"/>
                </a:solidFill>
                <a:latin typeface="Yekan Bakh FaNum" panose="00000500000000000000" pitchFamily="2" charset="-78"/>
                <a:ea typeface="Josefin Sans Bold"/>
                <a:cs typeface="Yekan Bakh FaNum" panose="00000500000000000000" pitchFamily="2" charset="-78"/>
                <a:sym typeface="Josefin Sans Bold"/>
                <a:rtl/>
              </a:rPr>
              <a:t>ساختار هزینه‌ها</a:t>
            </a:r>
          </a:p>
        </p:txBody>
      </p:sp>
      <p:sp>
        <p:nvSpPr>
          <p:cNvPr id="271" name="TextBox 79">
            <a:extLst>
              <a:ext uri="{FF2B5EF4-FFF2-40B4-BE49-F238E27FC236}">
                <a16:creationId xmlns:a16="http://schemas.microsoft.com/office/drawing/2014/main" id="{88EDA5E3-71AE-8309-EDE2-947D3B7B0787}"/>
              </a:ext>
            </a:extLst>
          </p:cNvPr>
          <p:cNvSpPr txBox="1"/>
          <p:nvPr/>
        </p:nvSpPr>
        <p:spPr>
          <a:xfrm>
            <a:off x="10614456" y="5900457"/>
            <a:ext cx="2468374" cy="240450"/>
          </a:xfrm>
          <a:prstGeom prst="rect">
            <a:avLst/>
          </a:prstGeom>
        </p:spPr>
        <p:txBody>
          <a:bodyPr wrap="square" lIns="0" tIns="0" rIns="0" bIns="0" rtlCol="0" anchor="t">
            <a:spAutoFit/>
          </a:bodyPr>
          <a:lstStyle/>
          <a:p>
            <a:pPr algn="r" rtl="1">
              <a:lnSpc>
                <a:spcPts val="1730"/>
              </a:lnSpc>
            </a:pPr>
            <a:r>
              <a:rPr lang="ar-EG" sz="2000" b="1" dirty="0">
                <a:solidFill>
                  <a:srgbClr val="FFFF00"/>
                </a:solidFill>
                <a:latin typeface="Yekan Bakh FaNum" panose="00000500000000000000" pitchFamily="2" charset="-78"/>
                <a:ea typeface="Josefin Sans Bold"/>
                <a:cs typeface="Yekan Bakh FaNum" panose="00000500000000000000" pitchFamily="2" charset="-78"/>
                <a:sym typeface="Josefin Sans Bold"/>
                <a:rtl/>
              </a:rPr>
              <a:t>جریان‌های درآمدی</a:t>
            </a:r>
          </a:p>
        </p:txBody>
      </p:sp>
      <p:sp>
        <p:nvSpPr>
          <p:cNvPr id="272" name="TextBox 80">
            <a:extLst>
              <a:ext uri="{FF2B5EF4-FFF2-40B4-BE49-F238E27FC236}">
                <a16:creationId xmlns:a16="http://schemas.microsoft.com/office/drawing/2014/main" id="{178AF27C-C32D-7C55-FA3D-95E42E457F59}"/>
              </a:ext>
            </a:extLst>
          </p:cNvPr>
          <p:cNvSpPr txBox="1"/>
          <p:nvPr/>
        </p:nvSpPr>
        <p:spPr>
          <a:xfrm>
            <a:off x="3545926" y="3517104"/>
            <a:ext cx="1770695" cy="237373"/>
          </a:xfrm>
          <a:prstGeom prst="rect">
            <a:avLst/>
          </a:prstGeom>
        </p:spPr>
        <p:txBody>
          <a:bodyPr wrap="square" lIns="0" tIns="0" rIns="0" bIns="0" rtlCol="0" anchor="t">
            <a:spAutoFit/>
          </a:bodyPr>
          <a:lstStyle/>
          <a:p>
            <a:pPr algn="ctr" rtl="1">
              <a:lnSpc>
                <a:spcPts val="1730"/>
              </a:lnSpc>
              <a:spcBef>
                <a:spcPct val="0"/>
              </a:spcBef>
            </a:pPr>
            <a:r>
              <a:rPr lang="ar-EG" sz="1920" b="1" dirty="0">
                <a:solidFill>
                  <a:srgbClr val="FFFF00"/>
                </a:solidFill>
                <a:latin typeface="Yekan Bakh FaNum" panose="00000500000000000000" pitchFamily="2" charset="-78"/>
                <a:ea typeface="Josefin Sans Bold"/>
                <a:cs typeface="Yekan Bakh FaNum" panose="00000500000000000000" pitchFamily="2" charset="-78"/>
                <a:sym typeface="Josefin Sans Bold"/>
                <a:rtl/>
              </a:rPr>
              <a:t>منابع</a:t>
            </a:r>
            <a:r>
              <a:rPr lang="ar-EG" sz="1920" b="1" dirty="0">
                <a:solidFill>
                  <a:srgbClr val="2F3B69"/>
                </a:solidFill>
                <a:latin typeface="Yekan Bakh FaNum" panose="00000500000000000000" pitchFamily="2" charset="-78"/>
                <a:ea typeface="Josefin Sans Bold"/>
                <a:cs typeface="Yekan Bakh FaNum" panose="00000500000000000000" pitchFamily="2" charset="-78"/>
                <a:sym typeface="Josefin Sans Bold"/>
                <a:rtl/>
              </a:rPr>
              <a:t> </a:t>
            </a:r>
            <a:r>
              <a:rPr lang="ar-EG" sz="1920" b="1" dirty="0">
                <a:solidFill>
                  <a:srgbClr val="FFFF00"/>
                </a:solidFill>
                <a:latin typeface="Yekan Bakh FaNum" panose="00000500000000000000" pitchFamily="2" charset="-78"/>
                <a:ea typeface="Josefin Sans Bold"/>
                <a:cs typeface="Yekan Bakh FaNum" panose="00000500000000000000" pitchFamily="2" charset="-78"/>
                <a:sym typeface="Josefin Sans Bold"/>
                <a:rtl/>
              </a:rPr>
              <a:t>کلیدی</a:t>
            </a:r>
          </a:p>
        </p:txBody>
      </p:sp>
      <p:sp>
        <p:nvSpPr>
          <p:cNvPr id="273" name="TextBox 81">
            <a:extLst>
              <a:ext uri="{FF2B5EF4-FFF2-40B4-BE49-F238E27FC236}">
                <a16:creationId xmlns:a16="http://schemas.microsoft.com/office/drawing/2014/main" id="{3BF53B93-8330-9D7A-6A3C-D3E3D6327C58}"/>
              </a:ext>
            </a:extLst>
          </p:cNvPr>
          <p:cNvSpPr txBox="1"/>
          <p:nvPr/>
        </p:nvSpPr>
        <p:spPr>
          <a:xfrm>
            <a:off x="8736350" y="3490945"/>
            <a:ext cx="1770695" cy="455381"/>
          </a:xfrm>
          <a:prstGeom prst="rect">
            <a:avLst/>
          </a:prstGeom>
        </p:spPr>
        <p:txBody>
          <a:bodyPr wrap="square" lIns="0" tIns="0" rIns="0" bIns="0" rtlCol="0" anchor="t">
            <a:spAutoFit/>
          </a:bodyPr>
          <a:lstStyle/>
          <a:p>
            <a:pPr algn="ctr" rtl="1">
              <a:lnSpc>
                <a:spcPts val="1730"/>
              </a:lnSpc>
              <a:spcBef>
                <a:spcPct val="0"/>
              </a:spcBef>
            </a:pPr>
            <a:r>
              <a:rPr lang="ar-EG" sz="1920" b="1" dirty="0">
                <a:solidFill>
                  <a:srgbClr val="FFFF00"/>
                </a:solidFill>
                <a:latin typeface="Yekan Bakh FaNum" panose="00000500000000000000" pitchFamily="2" charset="-78"/>
                <a:ea typeface="Josefin Sans Bold"/>
                <a:cs typeface="Yekan Bakh FaNum" panose="00000500000000000000" pitchFamily="2" charset="-78"/>
                <a:sym typeface="Josefin Sans Bold"/>
                <a:rtl/>
              </a:rPr>
              <a:t>کانال‌های ارتباطی و توزیع</a:t>
            </a:r>
          </a:p>
        </p:txBody>
      </p:sp>
      <p:sp>
        <p:nvSpPr>
          <p:cNvPr id="274" name="TextBox 82">
            <a:extLst>
              <a:ext uri="{FF2B5EF4-FFF2-40B4-BE49-F238E27FC236}">
                <a16:creationId xmlns:a16="http://schemas.microsoft.com/office/drawing/2014/main" id="{23D2DDD5-542C-9B63-1570-869E456474AB}"/>
              </a:ext>
            </a:extLst>
          </p:cNvPr>
          <p:cNvSpPr txBox="1"/>
          <p:nvPr/>
        </p:nvSpPr>
        <p:spPr>
          <a:xfrm>
            <a:off x="11358218" y="1633223"/>
            <a:ext cx="2567070" cy="3562514"/>
          </a:xfrm>
          <a:prstGeom prst="rect">
            <a:avLst/>
          </a:prstGeom>
        </p:spPr>
        <p:txBody>
          <a:bodyPr wrap="square" lIns="0" tIns="0" rIns="0" bIns="0" rtlCol="0" anchor="t">
            <a:spAutoFit/>
          </a:bodyPr>
          <a:lstStyle/>
          <a:p>
            <a:pPr marL="436910" lvl="1" indent="-218455" algn="r" rtl="1">
              <a:lnSpc>
                <a:spcPts val="2833"/>
              </a:lnSpc>
              <a:buFont typeface="Arial"/>
              <a:buChar char="•"/>
            </a:pPr>
            <a:r>
              <a:rPr lang="ar-EG" sz="1600" spc="52" dirty="0">
                <a:solidFill>
                  <a:schemeClr val="bg1"/>
                </a:solidFill>
                <a:latin typeface="Yekan Bakh FaNum" panose="00000500000000000000" pitchFamily="2" charset="-78"/>
                <a:ea typeface="Prompt Light"/>
                <a:cs typeface="Yekan Bakh FaNum" panose="00000500000000000000" pitchFamily="2" charset="-78"/>
                <a:sym typeface="Prompt Light"/>
                <a:rtl/>
              </a:rPr>
              <a:t>باشگاه‌های ورزشی کوچک و بزرگ</a:t>
            </a:r>
            <a:endParaRPr lang="fa-IR" sz="1600" spc="52" dirty="0">
              <a:solidFill>
                <a:schemeClr val="bg1"/>
              </a:solidFill>
              <a:latin typeface="Yekan Bakh FaNum" panose="00000500000000000000" pitchFamily="2" charset="-78"/>
              <a:ea typeface="Prompt Light"/>
              <a:cs typeface="Yekan Bakh FaNum" panose="00000500000000000000" pitchFamily="2" charset="-78"/>
              <a:sym typeface="Prompt Light"/>
              <a:rtl/>
            </a:endParaRPr>
          </a:p>
          <a:p>
            <a:pPr marL="436910" lvl="1" indent="-218455" algn="r" rtl="1">
              <a:lnSpc>
                <a:spcPts val="2833"/>
              </a:lnSpc>
              <a:buFont typeface="Arial"/>
              <a:buChar char="•"/>
            </a:pPr>
            <a:r>
              <a:rPr lang="ar-EG" sz="1600" spc="52" dirty="0">
                <a:solidFill>
                  <a:schemeClr val="bg1"/>
                </a:solidFill>
                <a:latin typeface="Yekan Bakh FaNum" panose="00000500000000000000" pitchFamily="2" charset="-78"/>
                <a:ea typeface="Prompt Light"/>
                <a:cs typeface="Yekan Bakh FaNum" panose="00000500000000000000" pitchFamily="2" charset="-78"/>
                <a:sym typeface="Prompt Light"/>
                <a:rtl/>
              </a:rPr>
              <a:t>سالن‌های بدنسازی چند شعبه</a:t>
            </a:r>
            <a:endParaRPr lang="fa-IR" sz="1600" spc="52" dirty="0">
              <a:solidFill>
                <a:schemeClr val="bg1"/>
              </a:solidFill>
              <a:latin typeface="Yekan Bakh FaNum" panose="00000500000000000000" pitchFamily="2" charset="-78"/>
              <a:ea typeface="Prompt Light"/>
              <a:cs typeface="Yekan Bakh FaNum" panose="00000500000000000000" pitchFamily="2" charset="-78"/>
              <a:sym typeface="Prompt Light"/>
              <a:rtl/>
            </a:endParaRPr>
          </a:p>
          <a:p>
            <a:pPr marL="436910" lvl="1" indent="-218455" algn="r" rtl="1">
              <a:lnSpc>
                <a:spcPts val="2833"/>
              </a:lnSpc>
              <a:buFont typeface="Arial"/>
              <a:buChar char="•"/>
            </a:pPr>
            <a:r>
              <a:rPr lang="ar-EG" sz="1600" spc="52" dirty="0">
                <a:solidFill>
                  <a:schemeClr val="bg1"/>
                </a:solidFill>
                <a:latin typeface="Yekan Bakh FaNum" panose="00000500000000000000" pitchFamily="2" charset="-78"/>
                <a:ea typeface="Prompt Light"/>
                <a:cs typeface="Yekan Bakh FaNum" panose="00000500000000000000" pitchFamily="2" charset="-78"/>
                <a:sym typeface="Prompt Light"/>
                <a:rtl/>
              </a:rPr>
              <a:t>‌ایاستخرها و مراکز تفریحی ورزشی</a:t>
            </a:r>
            <a:endParaRPr lang="fa-IR" sz="1600" spc="52" dirty="0">
              <a:solidFill>
                <a:schemeClr val="bg1"/>
              </a:solidFill>
              <a:latin typeface="Yekan Bakh FaNum" panose="00000500000000000000" pitchFamily="2" charset="-78"/>
              <a:ea typeface="Prompt Light"/>
              <a:cs typeface="Yekan Bakh FaNum" panose="00000500000000000000" pitchFamily="2" charset="-78"/>
              <a:sym typeface="Prompt Light"/>
              <a:rtl/>
            </a:endParaRPr>
          </a:p>
          <a:p>
            <a:pPr marL="436910" lvl="1" indent="-218455" algn="r" rtl="1">
              <a:lnSpc>
                <a:spcPts val="2833"/>
              </a:lnSpc>
              <a:buFont typeface="Arial"/>
              <a:buChar char="•"/>
            </a:pPr>
            <a:r>
              <a:rPr lang="ar-EG" sz="1600" spc="52" dirty="0">
                <a:solidFill>
                  <a:schemeClr val="bg1"/>
                </a:solidFill>
                <a:latin typeface="Yekan Bakh FaNum" panose="00000500000000000000" pitchFamily="2" charset="-78"/>
                <a:ea typeface="Prompt Light"/>
                <a:cs typeface="Yekan Bakh FaNum" panose="00000500000000000000" pitchFamily="2" charset="-78"/>
                <a:sym typeface="Prompt Light"/>
                <a:rtl/>
              </a:rPr>
              <a:t>مربیان شخصی و مستقلمراکز فیتنس آنلاین (کلاس‌های مجازی)</a:t>
            </a:r>
          </a:p>
        </p:txBody>
      </p:sp>
      <p:sp>
        <p:nvSpPr>
          <p:cNvPr id="275" name="TextBox 83">
            <a:extLst>
              <a:ext uri="{FF2B5EF4-FFF2-40B4-BE49-F238E27FC236}">
                <a16:creationId xmlns:a16="http://schemas.microsoft.com/office/drawing/2014/main" id="{BB28BE00-D5B8-2093-1C9E-F1A682CAC923}"/>
              </a:ext>
            </a:extLst>
          </p:cNvPr>
          <p:cNvSpPr txBox="1"/>
          <p:nvPr/>
        </p:nvSpPr>
        <p:spPr>
          <a:xfrm>
            <a:off x="3217813" y="4103847"/>
            <a:ext cx="2377127" cy="450764"/>
          </a:xfrm>
          <a:prstGeom prst="rect">
            <a:avLst/>
          </a:prstGeom>
        </p:spPr>
        <p:txBody>
          <a:bodyPr wrap="square" lIns="0" tIns="0" rIns="0" bIns="0" rtlCol="0" anchor="t">
            <a:spAutoFit/>
          </a:bodyPr>
          <a:lstStyle/>
          <a:p>
            <a:pPr algn="r" rtl="1">
              <a:lnSpc>
                <a:spcPts val="1679"/>
              </a:lnSpc>
              <a:spcBef>
                <a:spcPct val="0"/>
              </a:spcBef>
            </a:pPr>
            <a:r>
              <a:rPr lang="fa-IR" sz="1400" dirty="0">
                <a:solidFill>
                  <a:schemeClr val="bg1"/>
                </a:solidFill>
                <a:latin typeface="Yekan Bakh FaNum" panose="00000500000000000000" pitchFamily="2" charset="-78"/>
                <a:cs typeface="Yekan Bakh FaNum" panose="00000500000000000000" pitchFamily="2" charset="-78"/>
              </a:rPr>
              <a:t>داده‌های رفتاری اعضا برای بهینه‌سازی خدمات</a:t>
            </a:r>
            <a:endParaRPr lang="ar-EG" sz="1400" spc="30" dirty="0">
              <a:solidFill>
                <a:schemeClr val="bg1"/>
              </a:solidFill>
              <a:latin typeface="Yekan Bakh FaNum" panose="00000500000000000000" pitchFamily="2" charset="-78"/>
              <a:ea typeface="Prompt Light"/>
              <a:cs typeface="Yekan Bakh FaNum" panose="00000500000000000000" pitchFamily="2" charset="-78"/>
              <a:sym typeface="Prompt Light"/>
              <a:rtl/>
            </a:endParaRPr>
          </a:p>
        </p:txBody>
      </p:sp>
      <p:sp>
        <p:nvSpPr>
          <p:cNvPr id="276" name="TextBox 84">
            <a:extLst>
              <a:ext uri="{FF2B5EF4-FFF2-40B4-BE49-F238E27FC236}">
                <a16:creationId xmlns:a16="http://schemas.microsoft.com/office/drawing/2014/main" id="{26C26016-BE64-6DBD-11B0-F2DBB058F169}"/>
              </a:ext>
            </a:extLst>
          </p:cNvPr>
          <p:cNvSpPr txBox="1"/>
          <p:nvPr/>
        </p:nvSpPr>
        <p:spPr>
          <a:xfrm>
            <a:off x="571457" y="1710374"/>
            <a:ext cx="2753234" cy="2564805"/>
          </a:xfrm>
          <a:prstGeom prst="rect">
            <a:avLst/>
          </a:prstGeom>
        </p:spPr>
        <p:txBody>
          <a:bodyPr wrap="square" lIns="0" tIns="0" rIns="0" bIns="0" rtlCol="0" anchor="t">
            <a:spAutoFit/>
          </a:bodyPr>
          <a:lstStyle/>
          <a:p>
            <a:pPr marL="285750" indent="-285750" algn="ctr" rtl="1">
              <a:lnSpc>
                <a:spcPts val="2015"/>
              </a:lnSpc>
              <a:spcBef>
                <a:spcPct val="0"/>
              </a:spcBef>
              <a:buFont typeface="Arial" panose="020B0604020202020204" pitchFamily="34" charset="0"/>
              <a:buChar char="•"/>
            </a:pPr>
            <a:r>
              <a:rPr lang="fa-IR" sz="1600" spc="37" dirty="0">
                <a:solidFill>
                  <a:schemeClr val="bg1"/>
                </a:solidFill>
                <a:latin typeface="Yekan Bakh FaNum" panose="00000500000000000000" pitchFamily="2" charset="-78"/>
                <a:ea typeface="Prompt Light"/>
                <a:cs typeface="Yekan Bakh FaNum" panose="00000500000000000000" pitchFamily="2" charset="-78"/>
                <a:sym typeface="Prompt Light"/>
                <a:rtl/>
              </a:rPr>
              <a:t>ا</a:t>
            </a:r>
            <a:r>
              <a:rPr lang="ar-EG" sz="1600" spc="37" dirty="0">
                <a:solidFill>
                  <a:schemeClr val="bg1"/>
                </a:solidFill>
                <a:latin typeface="Yekan Bakh FaNum" panose="00000500000000000000" pitchFamily="2" charset="-78"/>
                <a:ea typeface="Prompt Light"/>
                <a:cs typeface="Yekan Bakh FaNum" panose="00000500000000000000" pitchFamily="2" charset="-78"/>
                <a:sym typeface="Prompt Light"/>
                <a:rtl/>
              </a:rPr>
              <a:t>نجمن‌ها و اتحادیه‌های ورزشی</a:t>
            </a:r>
            <a:endParaRPr lang="fa-IR" sz="1600" spc="37" dirty="0">
              <a:solidFill>
                <a:schemeClr val="bg1"/>
              </a:solidFill>
              <a:latin typeface="Yekan Bakh FaNum" panose="00000500000000000000" pitchFamily="2" charset="-78"/>
              <a:ea typeface="Prompt Light"/>
              <a:cs typeface="Yekan Bakh FaNum" panose="00000500000000000000" pitchFamily="2" charset="-78"/>
              <a:sym typeface="Prompt Light"/>
              <a:rtl/>
            </a:endParaRPr>
          </a:p>
          <a:p>
            <a:pPr marL="285750" indent="-285750" algn="ctr" rtl="1">
              <a:lnSpc>
                <a:spcPts val="2015"/>
              </a:lnSpc>
              <a:spcBef>
                <a:spcPct val="0"/>
              </a:spcBef>
              <a:buFont typeface="Arial" panose="020B0604020202020204" pitchFamily="34" charset="0"/>
              <a:buChar char="•"/>
            </a:pPr>
            <a:endParaRPr lang="fa-IR" sz="1600" spc="37" dirty="0">
              <a:solidFill>
                <a:schemeClr val="bg1"/>
              </a:solidFill>
              <a:latin typeface="Yekan Bakh FaNum" panose="00000500000000000000" pitchFamily="2" charset="-78"/>
              <a:ea typeface="Prompt Light"/>
              <a:cs typeface="Yekan Bakh FaNum" panose="00000500000000000000" pitchFamily="2" charset="-78"/>
              <a:sym typeface="Prompt Light"/>
              <a:rtl/>
            </a:endParaRPr>
          </a:p>
          <a:p>
            <a:pPr marL="285750" indent="-285750" algn="ctr" rtl="1">
              <a:lnSpc>
                <a:spcPts val="2015"/>
              </a:lnSpc>
              <a:spcBef>
                <a:spcPct val="0"/>
              </a:spcBef>
              <a:buFont typeface="Arial" panose="020B0604020202020204" pitchFamily="34" charset="0"/>
              <a:buChar char="•"/>
            </a:pPr>
            <a:r>
              <a:rPr lang="ar-EG" sz="1600" spc="37" dirty="0">
                <a:solidFill>
                  <a:schemeClr val="bg1"/>
                </a:solidFill>
                <a:latin typeface="Yekan Bakh FaNum" panose="00000500000000000000" pitchFamily="2" charset="-78"/>
                <a:ea typeface="Prompt Light"/>
                <a:cs typeface="Yekan Bakh FaNum" panose="00000500000000000000" pitchFamily="2" charset="-78"/>
                <a:sym typeface="Prompt Light"/>
                <a:rtl/>
              </a:rPr>
              <a:t>برندهای مکمل غذایی و تجهیزات ورزشی (برای همکاری</a:t>
            </a:r>
            <a:endParaRPr lang="fa-IR" sz="1600" spc="37" dirty="0">
              <a:solidFill>
                <a:schemeClr val="bg1"/>
              </a:solidFill>
              <a:latin typeface="Yekan Bakh FaNum" panose="00000500000000000000" pitchFamily="2" charset="-78"/>
              <a:ea typeface="Prompt Light"/>
              <a:cs typeface="Yekan Bakh FaNum" panose="00000500000000000000" pitchFamily="2" charset="-78"/>
              <a:sym typeface="Prompt Light"/>
              <a:rtl/>
            </a:endParaRPr>
          </a:p>
          <a:p>
            <a:pPr marL="285750" indent="-285750" algn="ctr" rtl="1">
              <a:lnSpc>
                <a:spcPts val="2015"/>
              </a:lnSpc>
              <a:spcBef>
                <a:spcPct val="0"/>
              </a:spcBef>
              <a:buFont typeface="Arial" panose="020B0604020202020204" pitchFamily="34" charset="0"/>
              <a:buChar char="•"/>
            </a:pPr>
            <a:endParaRPr lang="fa-IR" sz="1600" spc="37" dirty="0">
              <a:solidFill>
                <a:schemeClr val="bg1"/>
              </a:solidFill>
              <a:latin typeface="Yekan Bakh FaNum" panose="00000500000000000000" pitchFamily="2" charset="-78"/>
              <a:ea typeface="Prompt Light"/>
              <a:cs typeface="Yekan Bakh FaNum" panose="00000500000000000000" pitchFamily="2" charset="-78"/>
              <a:sym typeface="Prompt Light"/>
              <a:rtl/>
            </a:endParaRPr>
          </a:p>
          <a:p>
            <a:pPr marL="285750" indent="-285750" algn="ctr" rtl="1">
              <a:lnSpc>
                <a:spcPts val="2015"/>
              </a:lnSpc>
              <a:spcBef>
                <a:spcPct val="0"/>
              </a:spcBef>
              <a:buFont typeface="Arial" panose="020B0604020202020204" pitchFamily="34" charset="0"/>
              <a:buChar char="•"/>
            </a:pPr>
            <a:r>
              <a:rPr lang="ar-EG" sz="1600" spc="37" dirty="0">
                <a:solidFill>
                  <a:schemeClr val="bg1"/>
                </a:solidFill>
                <a:latin typeface="Yekan Bakh FaNum" panose="00000500000000000000" pitchFamily="2" charset="-78"/>
                <a:ea typeface="Prompt Light"/>
                <a:cs typeface="Yekan Bakh FaNum" panose="00000500000000000000" pitchFamily="2" charset="-78"/>
                <a:sym typeface="Prompt Light"/>
                <a:rtl/>
              </a:rPr>
              <a:t> تبلیغاتی)فریلنسرها یا شرکت‌های مشاوره‌ای برای توسعه ماژول‌های خاص</a:t>
            </a:r>
          </a:p>
        </p:txBody>
      </p:sp>
      <p:sp>
        <p:nvSpPr>
          <p:cNvPr id="277" name="TextBox 85">
            <a:extLst>
              <a:ext uri="{FF2B5EF4-FFF2-40B4-BE49-F238E27FC236}">
                <a16:creationId xmlns:a16="http://schemas.microsoft.com/office/drawing/2014/main" id="{72FBACA0-47D5-7FC7-D210-97390E00375F}"/>
              </a:ext>
            </a:extLst>
          </p:cNvPr>
          <p:cNvSpPr txBox="1"/>
          <p:nvPr/>
        </p:nvSpPr>
        <p:spPr>
          <a:xfrm>
            <a:off x="2646634" y="6228725"/>
            <a:ext cx="3972586" cy="1333698"/>
          </a:xfrm>
          <a:prstGeom prst="rect">
            <a:avLst/>
          </a:prstGeom>
        </p:spPr>
        <p:txBody>
          <a:bodyPr wrap="square" lIns="0" tIns="0" rIns="0" bIns="0" rtlCol="0" anchor="t">
            <a:spAutoFit/>
          </a:bodyPr>
          <a:lstStyle/>
          <a:p>
            <a:pPr marL="397250" lvl="1" indent="-198625" algn="r" rtl="1">
              <a:lnSpc>
                <a:spcPts val="2575"/>
              </a:lnSpc>
              <a:buFont typeface="Arial"/>
              <a:buChar char="•"/>
            </a:pPr>
            <a:r>
              <a:rPr lang="ar-EG" sz="1600" spc="47" dirty="0">
                <a:solidFill>
                  <a:schemeClr val="bg1"/>
                </a:solidFill>
                <a:latin typeface="Yekan Bakh FaNum" panose="00000500000000000000" pitchFamily="2" charset="-78"/>
                <a:ea typeface="Prompt Bold"/>
                <a:cs typeface="Yekan Bakh FaNum" panose="00000500000000000000" pitchFamily="2" charset="-78"/>
                <a:sym typeface="Prompt Bold"/>
                <a:rtl/>
              </a:rPr>
              <a:t>هزینه توسعه و نگهداری نرم‌افزار</a:t>
            </a:r>
            <a:endParaRPr lang="fa-IR" sz="1600" spc="47" dirty="0">
              <a:solidFill>
                <a:schemeClr val="bg1"/>
              </a:solidFill>
              <a:latin typeface="Yekan Bakh FaNum" panose="00000500000000000000" pitchFamily="2" charset="-78"/>
              <a:ea typeface="Prompt Bold"/>
              <a:cs typeface="Yekan Bakh FaNum" panose="00000500000000000000" pitchFamily="2" charset="-78"/>
              <a:sym typeface="Prompt Bold"/>
              <a:rtl/>
            </a:endParaRPr>
          </a:p>
          <a:p>
            <a:pPr marL="397250" lvl="1" indent="-198625" algn="r" rtl="1">
              <a:lnSpc>
                <a:spcPts val="2575"/>
              </a:lnSpc>
              <a:buFont typeface="Arial"/>
              <a:buChar char="•"/>
            </a:pPr>
            <a:r>
              <a:rPr lang="ar-EG" sz="1600" spc="47" dirty="0">
                <a:solidFill>
                  <a:schemeClr val="bg1"/>
                </a:solidFill>
                <a:latin typeface="Yekan Bakh FaNum" panose="00000500000000000000" pitchFamily="2" charset="-78"/>
                <a:ea typeface="Prompt Bold"/>
                <a:cs typeface="Yekan Bakh FaNum" panose="00000500000000000000" pitchFamily="2" charset="-78"/>
                <a:sym typeface="Prompt Bold"/>
                <a:rtl/>
              </a:rPr>
              <a:t>هزینه سرورها و هاستینگ ابری</a:t>
            </a:r>
            <a:endParaRPr lang="fa-IR" sz="1600" spc="47" dirty="0">
              <a:solidFill>
                <a:schemeClr val="bg1"/>
              </a:solidFill>
              <a:latin typeface="Yekan Bakh FaNum" panose="00000500000000000000" pitchFamily="2" charset="-78"/>
              <a:ea typeface="Prompt Bold"/>
              <a:cs typeface="Yekan Bakh FaNum" panose="00000500000000000000" pitchFamily="2" charset="-78"/>
              <a:sym typeface="Prompt Bold"/>
              <a:rtl/>
            </a:endParaRPr>
          </a:p>
          <a:p>
            <a:pPr marL="397250" lvl="1" indent="-198625" algn="r" rtl="1">
              <a:lnSpc>
                <a:spcPts val="2575"/>
              </a:lnSpc>
              <a:buFont typeface="Arial"/>
              <a:buChar char="•"/>
            </a:pPr>
            <a:r>
              <a:rPr lang="ar-EG" sz="1600" spc="47" dirty="0">
                <a:solidFill>
                  <a:schemeClr val="bg1"/>
                </a:solidFill>
                <a:latin typeface="Yekan Bakh FaNum" panose="00000500000000000000" pitchFamily="2" charset="-78"/>
                <a:ea typeface="Prompt Bold"/>
                <a:cs typeface="Yekan Bakh FaNum" panose="00000500000000000000" pitchFamily="2" charset="-78"/>
                <a:sym typeface="Prompt Bold"/>
                <a:rtl/>
              </a:rPr>
              <a:t>هزینه مارکتینگ و تبلیغات</a:t>
            </a:r>
            <a:endParaRPr lang="fa-IR" sz="1600" spc="47" dirty="0">
              <a:solidFill>
                <a:schemeClr val="bg1"/>
              </a:solidFill>
              <a:latin typeface="Yekan Bakh FaNum" panose="00000500000000000000" pitchFamily="2" charset="-78"/>
              <a:ea typeface="Prompt Bold"/>
              <a:cs typeface="Yekan Bakh FaNum" panose="00000500000000000000" pitchFamily="2" charset="-78"/>
              <a:sym typeface="Prompt Bold"/>
              <a:rtl/>
            </a:endParaRPr>
          </a:p>
          <a:p>
            <a:pPr marL="397250" lvl="1" indent="-198625" algn="r" rtl="1">
              <a:lnSpc>
                <a:spcPts val="2575"/>
              </a:lnSpc>
              <a:buFont typeface="Arial"/>
              <a:buChar char="•"/>
            </a:pPr>
            <a:r>
              <a:rPr lang="ar-EG" sz="1600" spc="47" dirty="0">
                <a:solidFill>
                  <a:schemeClr val="bg1"/>
                </a:solidFill>
                <a:latin typeface="Yekan Bakh FaNum" panose="00000500000000000000" pitchFamily="2" charset="-78"/>
                <a:ea typeface="Prompt Bold"/>
                <a:cs typeface="Yekan Bakh FaNum" panose="00000500000000000000" pitchFamily="2" charset="-78"/>
                <a:sym typeface="Prompt Bold"/>
                <a:rtl/>
              </a:rPr>
              <a:t>هزینه پشتیبانی و خدمات مشتریان</a:t>
            </a:r>
          </a:p>
        </p:txBody>
      </p:sp>
      <p:sp>
        <p:nvSpPr>
          <p:cNvPr id="278" name="TextBox 86">
            <a:extLst>
              <a:ext uri="{FF2B5EF4-FFF2-40B4-BE49-F238E27FC236}">
                <a16:creationId xmlns:a16="http://schemas.microsoft.com/office/drawing/2014/main" id="{CDF7B931-9253-4DCD-3F23-68481405D8B0}"/>
              </a:ext>
            </a:extLst>
          </p:cNvPr>
          <p:cNvSpPr txBox="1"/>
          <p:nvPr/>
        </p:nvSpPr>
        <p:spPr>
          <a:xfrm>
            <a:off x="7454096" y="6281949"/>
            <a:ext cx="6180792" cy="1731243"/>
          </a:xfrm>
          <a:prstGeom prst="rect">
            <a:avLst/>
          </a:prstGeom>
        </p:spPr>
        <p:txBody>
          <a:bodyPr wrap="square" lIns="0" tIns="0" rIns="0" bIns="0" rtlCol="0" anchor="t">
            <a:spAutoFit/>
          </a:bodyPr>
          <a:lstStyle/>
          <a:p>
            <a:pPr marL="414522" lvl="1" indent="-207261" algn="r" rtl="1">
              <a:lnSpc>
                <a:spcPts val="2687"/>
              </a:lnSpc>
              <a:buFont typeface="Arial"/>
              <a:buChar char="•"/>
            </a:pPr>
            <a:r>
              <a:rPr lang="ar-EG" sz="1600" spc="50" dirty="0">
                <a:solidFill>
                  <a:schemeClr val="bg1"/>
                </a:solidFill>
                <a:latin typeface="Yekan Bakh FaNum" panose="00000500000000000000" pitchFamily="2" charset="-78"/>
                <a:ea typeface="Prompt Bold"/>
                <a:cs typeface="Yekan Bakh FaNum" panose="00000500000000000000" pitchFamily="2" charset="-78"/>
                <a:sym typeface="Prompt Bold"/>
                <a:rtl/>
              </a:rPr>
              <a:t>مدل اشتراک ماهیانه/سالانه</a:t>
            </a:r>
            <a:endParaRPr lang="en-US" sz="1600" spc="50" dirty="0">
              <a:solidFill>
                <a:schemeClr val="bg1"/>
              </a:solidFill>
              <a:latin typeface="Yekan Bakh FaNum" panose="00000500000000000000" pitchFamily="2" charset="-78"/>
              <a:ea typeface="Prompt Bold"/>
              <a:cs typeface="Yekan Bakh FaNum" panose="00000500000000000000" pitchFamily="2" charset="-78"/>
              <a:sym typeface="Prompt Bold"/>
              <a:rtl/>
            </a:endParaRPr>
          </a:p>
          <a:p>
            <a:pPr marL="414522" lvl="1" indent="-207261" algn="r" rtl="1">
              <a:lnSpc>
                <a:spcPts val="2687"/>
              </a:lnSpc>
              <a:buFont typeface="Arial"/>
              <a:buChar char="•"/>
            </a:pPr>
            <a:r>
              <a:rPr lang="ar-EG" sz="1600" spc="50" dirty="0">
                <a:solidFill>
                  <a:schemeClr val="bg1"/>
                </a:solidFill>
                <a:latin typeface="Yekan Bakh FaNum" panose="00000500000000000000" pitchFamily="2" charset="-78"/>
                <a:ea typeface="Prompt Bold"/>
                <a:cs typeface="Yekan Bakh FaNum" panose="00000500000000000000" pitchFamily="2" charset="-78"/>
                <a:sym typeface="Prompt Bold"/>
                <a:rtl/>
              </a:rPr>
              <a:t>فروش ماژول‌ها و خدمات جانبی </a:t>
            </a:r>
            <a:endParaRPr lang="en-US" sz="1600" spc="50" dirty="0">
              <a:solidFill>
                <a:schemeClr val="bg1"/>
              </a:solidFill>
              <a:latin typeface="Yekan Bakh FaNum" panose="00000500000000000000" pitchFamily="2" charset="-78"/>
              <a:ea typeface="Prompt Bold"/>
              <a:cs typeface="Yekan Bakh FaNum" panose="00000500000000000000" pitchFamily="2" charset="-78"/>
              <a:sym typeface="Prompt Bold"/>
              <a:rtl/>
            </a:endParaRPr>
          </a:p>
          <a:p>
            <a:pPr marL="207261" lvl="1" algn="r" rtl="1">
              <a:lnSpc>
                <a:spcPts val="2687"/>
              </a:lnSpc>
            </a:pPr>
            <a:r>
              <a:rPr lang="ar-EG" sz="1600" spc="50" dirty="0">
                <a:solidFill>
                  <a:schemeClr val="bg1"/>
                </a:solidFill>
                <a:latin typeface="Yekan Bakh FaNum" panose="00000500000000000000" pitchFamily="2" charset="-78"/>
                <a:ea typeface="Prompt Bold"/>
                <a:cs typeface="Yekan Bakh FaNum" panose="00000500000000000000" pitchFamily="2" charset="-78"/>
                <a:sym typeface="Prompt Bold"/>
                <a:rtl/>
              </a:rPr>
              <a:t>سفارش‌سازی و برندسازی برای باشگاه‌های خاصهمکاری </a:t>
            </a:r>
            <a:r>
              <a:rPr lang="en-US" sz="1600" spc="50" dirty="0">
                <a:solidFill>
                  <a:schemeClr val="bg1"/>
                </a:solidFill>
                <a:latin typeface="Yekan Bakh FaNum" panose="00000500000000000000" pitchFamily="2" charset="-78"/>
                <a:ea typeface="Prompt Bold"/>
                <a:cs typeface="Yekan Bakh FaNum" panose="00000500000000000000" pitchFamily="2" charset="-78"/>
                <a:sym typeface="Prompt Bold"/>
                <a:rtl/>
              </a:rPr>
              <a:t>B2B </a:t>
            </a:r>
            <a:r>
              <a:rPr lang="fa-IR" sz="1600" spc="50" dirty="0">
                <a:solidFill>
                  <a:schemeClr val="bg1"/>
                </a:solidFill>
                <a:latin typeface="Yekan Bakh FaNum" panose="00000500000000000000" pitchFamily="2" charset="-78"/>
                <a:ea typeface="Prompt Bold"/>
                <a:cs typeface="Yekan Bakh FaNum" panose="00000500000000000000" pitchFamily="2" charset="-78"/>
                <a:sym typeface="Prompt Bold"/>
                <a:rtl/>
              </a:rPr>
              <a:t> </a:t>
            </a:r>
            <a:r>
              <a:rPr lang="ar-EG" sz="1600" spc="50" dirty="0">
                <a:solidFill>
                  <a:schemeClr val="bg1"/>
                </a:solidFill>
                <a:latin typeface="Yekan Bakh FaNum" panose="00000500000000000000" pitchFamily="2" charset="-78"/>
                <a:ea typeface="Prompt Bold"/>
                <a:cs typeface="Yekan Bakh FaNum" panose="00000500000000000000" pitchFamily="2" charset="-78"/>
                <a:sym typeface="Prompt Bold"/>
                <a:rtl/>
              </a:rPr>
              <a:t>با برندهای مکمل ورزشی یا تجهیزات باشگاهی (تبلیغات و کمیسیون فروش)</a:t>
            </a:r>
          </a:p>
        </p:txBody>
      </p:sp>
      <p:sp>
        <p:nvSpPr>
          <p:cNvPr id="279" name="TextBox 87">
            <a:extLst>
              <a:ext uri="{FF2B5EF4-FFF2-40B4-BE49-F238E27FC236}">
                <a16:creationId xmlns:a16="http://schemas.microsoft.com/office/drawing/2014/main" id="{BEC1C28B-AEBE-B194-267B-A97C576F12C1}"/>
              </a:ext>
            </a:extLst>
          </p:cNvPr>
          <p:cNvSpPr txBox="1"/>
          <p:nvPr/>
        </p:nvSpPr>
        <p:spPr>
          <a:xfrm>
            <a:off x="5873108" y="1635100"/>
            <a:ext cx="2753234" cy="3429785"/>
          </a:xfrm>
          <a:prstGeom prst="rect">
            <a:avLst/>
          </a:prstGeom>
        </p:spPr>
        <p:txBody>
          <a:bodyPr wrap="square" lIns="0" tIns="0" rIns="0" bIns="0" rtlCol="0" anchor="t">
            <a:spAutoFit/>
          </a:bodyPr>
          <a:lstStyle/>
          <a:p>
            <a:pPr marL="414522" lvl="1" indent="-207261" algn="r" rtl="1">
              <a:lnSpc>
                <a:spcPts val="2687"/>
              </a:lnSpc>
              <a:buFont typeface="Arial"/>
              <a:buChar char="•"/>
            </a:pPr>
            <a:r>
              <a:rPr lang="ar-EG" sz="1400" spc="50" dirty="0">
                <a:solidFill>
                  <a:schemeClr val="bg1"/>
                </a:solidFill>
                <a:latin typeface="Yekan Bakh FaNum" panose="00000500000000000000" pitchFamily="2" charset="-78"/>
                <a:ea typeface="Prompt"/>
                <a:cs typeface="Yekan Bakh FaNum" panose="00000500000000000000" pitchFamily="2" charset="-78"/>
                <a:sym typeface="Prompt"/>
                <a:rtl/>
              </a:rPr>
              <a:t>مدیریت یکپارچه اعضا، مربیان و خدمات</a:t>
            </a:r>
            <a:endParaRPr lang="fa-IR" sz="1400" spc="50" dirty="0">
              <a:solidFill>
                <a:schemeClr val="bg1"/>
              </a:solidFill>
              <a:latin typeface="Yekan Bakh FaNum" panose="00000500000000000000" pitchFamily="2" charset="-78"/>
              <a:ea typeface="Prompt"/>
              <a:cs typeface="Yekan Bakh FaNum" panose="00000500000000000000" pitchFamily="2" charset="-78"/>
              <a:sym typeface="Prompt"/>
              <a:rtl/>
            </a:endParaRPr>
          </a:p>
          <a:p>
            <a:pPr marL="414522" lvl="1" indent="-207261" algn="r" rtl="1">
              <a:lnSpc>
                <a:spcPts val="2687"/>
              </a:lnSpc>
              <a:buFont typeface="Arial"/>
              <a:buChar char="•"/>
            </a:pPr>
            <a:r>
              <a:rPr lang="ar-EG" sz="1400" spc="50" dirty="0">
                <a:solidFill>
                  <a:schemeClr val="bg1"/>
                </a:solidFill>
                <a:latin typeface="Yekan Bakh FaNum" panose="00000500000000000000" pitchFamily="2" charset="-78"/>
                <a:ea typeface="Prompt"/>
                <a:cs typeface="Yekan Bakh FaNum" panose="00000500000000000000" pitchFamily="2" charset="-78"/>
                <a:sym typeface="Prompt"/>
                <a:rtl/>
              </a:rPr>
              <a:t>ثبت‌نام و پرداخت آنلاین بدون نیاز به کاغذ</a:t>
            </a:r>
            <a:endParaRPr lang="fa-IR" sz="1400" spc="50" dirty="0">
              <a:solidFill>
                <a:schemeClr val="bg1"/>
              </a:solidFill>
              <a:latin typeface="Yekan Bakh FaNum" panose="00000500000000000000" pitchFamily="2" charset="-78"/>
              <a:ea typeface="Prompt"/>
              <a:cs typeface="Yekan Bakh FaNum" panose="00000500000000000000" pitchFamily="2" charset="-78"/>
              <a:sym typeface="Prompt"/>
              <a:rtl/>
            </a:endParaRPr>
          </a:p>
          <a:p>
            <a:pPr marL="414522" lvl="1" indent="-207261" algn="r" rtl="1">
              <a:lnSpc>
                <a:spcPts val="2687"/>
              </a:lnSpc>
              <a:buFont typeface="Arial"/>
              <a:buChar char="•"/>
            </a:pPr>
            <a:r>
              <a:rPr lang="ar-EG" sz="1400" spc="50" dirty="0">
                <a:solidFill>
                  <a:schemeClr val="bg1"/>
                </a:solidFill>
                <a:latin typeface="Yekan Bakh FaNum" panose="00000500000000000000" pitchFamily="2" charset="-78"/>
                <a:ea typeface="Prompt"/>
                <a:cs typeface="Yekan Bakh FaNum" panose="00000500000000000000" pitchFamily="2" charset="-78"/>
                <a:sym typeface="Prompt"/>
                <a:rtl/>
              </a:rPr>
              <a:t>داشبوردهای مدیریتی و تحلیل داده برای تصمیم‌گیری بهتر</a:t>
            </a:r>
            <a:endParaRPr lang="fa-IR" sz="1400" spc="50" dirty="0">
              <a:solidFill>
                <a:schemeClr val="bg1"/>
              </a:solidFill>
              <a:latin typeface="Yekan Bakh FaNum" panose="00000500000000000000" pitchFamily="2" charset="-78"/>
              <a:ea typeface="Prompt"/>
              <a:cs typeface="Yekan Bakh FaNum" panose="00000500000000000000" pitchFamily="2" charset="-78"/>
              <a:sym typeface="Prompt"/>
              <a:rtl/>
            </a:endParaRPr>
          </a:p>
          <a:p>
            <a:pPr marL="414522" lvl="1" indent="-207261" algn="r" rtl="1">
              <a:lnSpc>
                <a:spcPts val="2687"/>
              </a:lnSpc>
              <a:buFont typeface="Arial"/>
              <a:buChar char="•"/>
            </a:pPr>
            <a:r>
              <a:rPr lang="ar-EG" sz="1400" spc="50" dirty="0">
                <a:solidFill>
                  <a:schemeClr val="bg1"/>
                </a:solidFill>
                <a:latin typeface="Yekan Bakh FaNum" panose="00000500000000000000" pitchFamily="2" charset="-78"/>
                <a:ea typeface="Prompt"/>
                <a:cs typeface="Yekan Bakh FaNum" panose="00000500000000000000" pitchFamily="2" charset="-78"/>
                <a:sym typeface="Prompt"/>
                <a:rtl/>
              </a:rPr>
              <a:t>قابلیت استفاده روی موبایل و وب (در دسترس بودن همیشه و همه‌جا)</a:t>
            </a:r>
          </a:p>
        </p:txBody>
      </p:sp>
      <p:sp>
        <p:nvSpPr>
          <p:cNvPr id="280" name="TextBox 88">
            <a:extLst>
              <a:ext uri="{FF2B5EF4-FFF2-40B4-BE49-F238E27FC236}">
                <a16:creationId xmlns:a16="http://schemas.microsoft.com/office/drawing/2014/main" id="{967081C9-FBB6-0224-A84F-AE7F00FA1D99}"/>
              </a:ext>
            </a:extLst>
          </p:cNvPr>
          <p:cNvSpPr txBox="1"/>
          <p:nvPr/>
        </p:nvSpPr>
        <p:spPr>
          <a:xfrm>
            <a:off x="8702189" y="4163287"/>
            <a:ext cx="2414513" cy="1218923"/>
          </a:xfrm>
          <a:prstGeom prst="rect">
            <a:avLst/>
          </a:prstGeom>
        </p:spPr>
        <p:txBody>
          <a:bodyPr wrap="square" lIns="0" tIns="0" rIns="0" bIns="0" rtlCol="0" anchor="t">
            <a:spAutoFit/>
          </a:bodyPr>
          <a:lstStyle/>
          <a:p>
            <a:pPr marL="274320" indent="-274320" algn="r" rtl="1">
              <a:lnSpc>
                <a:spcPts val="1903"/>
              </a:lnSpc>
              <a:buFont typeface="Arial" panose="020B0604020202020204" pitchFamily="34" charset="0"/>
              <a:buChar char="•"/>
            </a:pPr>
            <a:r>
              <a:rPr lang="en-US" sz="1200" spc="35" dirty="0">
                <a:solidFill>
                  <a:schemeClr val="bg1"/>
                </a:solidFill>
                <a:latin typeface="Yekan Bakh FaNum" panose="00000500000000000000" pitchFamily="2" charset="-78"/>
                <a:ea typeface="Prompt Light"/>
                <a:cs typeface="Yekan Bakh FaNum" panose="00000500000000000000" pitchFamily="2" charset="-78"/>
                <a:sym typeface="Prompt Light"/>
              </a:rPr>
              <a:t> </a:t>
            </a:r>
            <a:r>
              <a:rPr lang="ar-EG" sz="1600" spc="35" dirty="0">
                <a:solidFill>
                  <a:schemeClr val="bg1"/>
                </a:solidFill>
                <a:latin typeface="Yekan Bakh FaNum" panose="00000500000000000000" pitchFamily="2" charset="-78"/>
                <a:ea typeface="Prompt Light"/>
                <a:cs typeface="Yekan Bakh FaNum" panose="00000500000000000000" pitchFamily="2" charset="-78"/>
                <a:sym typeface="Prompt Light"/>
                <a:rtl/>
              </a:rPr>
              <a:t>خدمات پشتیبانی و راهنمایی</a:t>
            </a:r>
          </a:p>
          <a:p>
            <a:pPr marL="274320" indent="-274320" algn="r" rtl="1">
              <a:lnSpc>
                <a:spcPts val="1903"/>
              </a:lnSpc>
              <a:buFont typeface="Arial" panose="020B0604020202020204" pitchFamily="34" charset="0"/>
              <a:buChar char="•"/>
            </a:pPr>
            <a:r>
              <a:rPr lang="ar-EG" sz="1600" spc="35" dirty="0">
                <a:solidFill>
                  <a:schemeClr val="bg1"/>
                </a:solidFill>
                <a:latin typeface="Yekan Bakh FaNum" panose="00000500000000000000" pitchFamily="2" charset="-78"/>
                <a:ea typeface="Prompt Light"/>
                <a:cs typeface="Yekan Bakh FaNum" panose="00000500000000000000" pitchFamily="2" charset="-78"/>
                <a:sym typeface="Prompt Light"/>
                <a:rtl/>
              </a:rPr>
              <a:t>شبکه‌های اجتماعی</a:t>
            </a:r>
          </a:p>
          <a:p>
            <a:pPr marL="274320" indent="-274320" algn="r" rtl="1">
              <a:lnSpc>
                <a:spcPts val="1903"/>
              </a:lnSpc>
              <a:buFont typeface="Arial" panose="020B0604020202020204" pitchFamily="34" charset="0"/>
              <a:buChar char="•"/>
            </a:pPr>
            <a:r>
              <a:rPr lang="fa-IR" sz="1600" dirty="0">
                <a:solidFill>
                  <a:schemeClr val="bg1"/>
                </a:solidFill>
                <a:latin typeface="Yekan Bakh FaNum" panose="00000500000000000000" pitchFamily="2" charset="-78"/>
                <a:cs typeface="Yekan Bakh FaNum" panose="00000500000000000000" pitchFamily="2" charset="-78"/>
              </a:rPr>
              <a:t>همکاری با اتحادیه‌ها و انجمن‌های ورزشی</a:t>
            </a:r>
            <a:endParaRPr lang="ar-EG" sz="1200" spc="35" dirty="0">
              <a:solidFill>
                <a:schemeClr val="bg1"/>
              </a:solidFill>
              <a:latin typeface="Yekan Bakh FaNum" panose="00000500000000000000" pitchFamily="2" charset="-78"/>
              <a:ea typeface="Prompt Light"/>
              <a:cs typeface="Yekan Bakh FaNum" panose="00000500000000000000" pitchFamily="2" charset="-78"/>
              <a:sym typeface="Prompt Light"/>
              <a:rtl/>
            </a:endParaRPr>
          </a:p>
        </p:txBody>
      </p:sp>
      <p:sp>
        <p:nvSpPr>
          <p:cNvPr id="281" name="TextBox 89">
            <a:extLst>
              <a:ext uri="{FF2B5EF4-FFF2-40B4-BE49-F238E27FC236}">
                <a16:creationId xmlns:a16="http://schemas.microsoft.com/office/drawing/2014/main" id="{19CC3C66-E219-44B4-7F6A-074CB20980D7}"/>
              </a:ext>
            </a:extLst>
          </p:cNvPr>
          <p:cNvSpPr txBox="1"/>
          <p:nvPr/>
        </p:nvSpPr>
        <p:spPr>
          <a:xfrm>
            <a:off x="8691729" y="1656403"/>
            <a:ext cx="2334250" cy="1462580"/>
          </a:xfrm>
          <a:prstGeom prst="rect">
            <a:avLst/>
          </a:prstGeom>
        </p:spPr>
        <p:txBody>
          <a:bodyPr wrap="square" lIns="0" tIns="0" rIns="0" bIns="0" rtlCol="0" anchor="t">
            <a:spAutoFit/>
          </a:bodyPr>
          <a:lstStyle/>
          <a:p>
            <a:pPr marL="274320" indent="-274320" algn="r" rtl="1">
              <a:lnSpc>
                <a:spcPts val="1903"/>
              </a:lnSpc>
              <a:buFont typeface="Arial" panose="020B0604020202020204" pitchFamily="34" charset="0"/>
              <a:buChar char="•"/>
            </a:pPr>
            <a:r>
              <a:rPr lang="en-US" sz="1200" spc="35" dirty="0">
                <a:solidFill>
                  <a:schemeClr val="bg1"/>
                </a:solidFill>
                <a:latin typeface="Yekan Bakh FaNum" panose="00000500000000000000" pitchFamily="2" charset="-78"/>
                <a:ea typeface="Prompt Light"/>
                <a:cs typeface="Yekan Bakh FaNum" panose="00000500000000000000" pitchFamily="2" charset="-78"/>
                <a:sym typeface="Prompt Light"/>
              </a:rPr>
              <a:t> </a:t>
            </a:r>
            <a:r>
              <a:rPr lang="ar-EG" sz="1600" spc="35" dirty="0">
                <a:solidFill>
                  <a:schemeClr val="bg1"/>
                </a:solidFill>
                <a:latin typeface="Yekan Bakh FaNum" panose="00000500000000000000" pitchFamily="2" charset="-78"/>
                <a:ea typeface="Prompt Light"/>
                <a:cs typeface="Yekan Bakh FaNum" panose="00000500000000000000" pitchFamily="2" charset="-78"/>
                <a:sym typeface="Prompt Light"/>
                <a:rtl/>
              </a:rPr>
              <a:t>پشتیبانی ۲۴/۷ آنلاین</a:t>
            </a:r>
            <a:endParaRPr lang="fa-IR" sz="1600" spc="35" dirty="0">
              <a:solidFill>
                <a:schemeClr val="bg1"/>
              </a:solidFill>
              <a:latin typeface="Yekan Bakh FaNum" panose="00000500000000000000" pitchFamily="2" charset="-78"/>
              <a:ea typeface="Prompt Light"/>
              <a:cs typeface="Yekan Bakh FaNum" panose="00000500000000000000" pitchFamily="2" charset="-78"/>
              <a:sym typeface="Prompt Light"/>
              <a:rtl/>
            </a:endParaRPr>
          </a:p>
          <a:p>
            <a:pPr marL="274320" indent="-274320" algn="r" rtl="1">
              <a:lnSpc>
                <a:spcPts val="1903"/>
              </a:lnSpc>
              <a:buFont typeface="Arial" panose="020B0604020202020204" pitchFamily="34" charset="0"/>
              <a:buChar char="•"/>
            </a:pPr>
            <a:r>
              <a:rPr lang="ar-EG" sz="1600" spc="35" dirty="0">
                <a:solidFill>
                  <a:schemeClr val="bg1"/>
                </a:solidFill>
                <a:latin typeface="Yekan Bakh FaNum" panose="00000500000000000000" pitchFamily="2" charset="-78"/>
                <a:ea typeface="Prompt Light"/>
                <a:cs typeface="Yekan Bakh FaNum" panose="00000500000000000000" pitchFamily="2" charset="-78"/>
                <a:sym typeface="Prompt Light"/>
                <a:rtl/>
              </a:rPr>
              <a:t>پشتیبانی اختصاصی برای باشگاه‌های بزرگ (</a:t>
            </a:r>
            <a:r>
              <a:rPr lang="en-US" sz="1600" spc="35" dirty="0">
                <a:solidFill>
                  <a:schemeClr val="bg1"/>
                </a:solidFill>
                <a:latin typeface="Yekan Bakh FaNum" panose="00000500000000000000" pitchFamily="2" charset="-78"/>
                <a:ea typeface="Prompt Light"/>
                <a:cs typeface="Yekan Bakh FaNum" panose="00000500000000000000" pitchFamily="2" charset="-78"/>
                <a:sym typeface="Prompt Light"/>
                <a:rtl/>
              </a:rPr>
              <a:t>VIP Support</a:t>
            </a:r>
            <a:endParaRPr lang="ar-EG" sz="1600" spc="35" dirty="0">
              <a:solidFill>
                <a:schemeClr val="bg1"/>
              </a:solidFill>
              <a:latin typeface="Yekan Bakh FaNum" panose="00000500000000000000" pitchFamily="2" charset="-78"/>
              <a:ea typeface="Prompt Light"/>
              <a:cs typeface="Yekan Bakh FaNum" panose="00000500000000000000" pitchFamily="2" charset="-78"/>
              <a:sym typeface="Prompt Light"/>
              <a:rtl/>
            </a:endParaRPr>
          </a:p>
          <a:p>
            <a:pPr marL="274320" indent="-274320" algn="r" rtl="1">
              <a:lnSpc>
                <a:spcPts val="1903"/>
              </a:lnSpc>
              <a:buFont typeface="Arial" panose="020B0604020202020204" pitchFamily="34" charset="0"/>
              <a:buChar char="•"/>
            </a:pPr>
            <a:r>
              <a:rPr lang="fa-IR" sz="1600" dirty="0">
                <a:solidFill>
                  <a:schemeClr val="bg1"/>
                </a:solidFill>
                <a:latin typeface="Yekan Bakh FaNum" panose="00000500000000000000" pitchFamily="2" charset="-78"/>
                <a:cs typeface="Yekan Bakh FaNum" panose="00000500000000000000" pitchFamily="2" charset="-78"/>
              </a:rPr>
              <a:t>ارائه دمو و نسخه آزمایشی رایگان</a:t>
            </a:r>
            <a:endParaRPr lang="ar-EG" sz="1200" spc="35" dirty="0">
              <a:solidFill>
                <a:schemeClr val="bg1"/>
              </a:solidFill>
              <a:latin typeface="Yekan Bakh FaNum" panose="00000500000000000000" pitchFamily="2" charset="-78"/>
              <a:ea typeface="Prompt Light"/>
              <a:cs typeface="Yekan Bakh FaNum" panose="00000500000000000000" pitchFamily="2" charset="-78"/>
              <a:sym typeface="Prompt Light"/>
              <a:rtl/>
            </a:endParaRPr>
          </a:p>
        </p:txBody>
      </p:sp>
      <p:sp>
        <p:nvSpPr>
          <p:cNvPr id="282" name="TextBox 281">
            <a:extLst>
              <a:ext uri="{FF2B5EF4-FFF2-40B4-BE49-F238E27FC236}">
                <a16:creationId xmlns:a16="http://schemas.microsoft.com/office/drawing/2014/main" id="{E2B24C1E-5C82-2056-D259-02DA18ABAF73}"/>
              </a:ext>
            </a:extLst>
          </p:cNvPr>
          <p:cNvSpPr txBox="1"/>
          <p:nvPr/>
        </p:nvSpPr>
        <p:spPr>
          <a:xfrm>
            <a:off x="5470804" y="227244"/>
            <a:ext cx="3231385" cy="646331"/>
          </a:xfrm>
          <a:prstGeom prst="rect">
            <a:avLst/>
          </a:prstGeom>
          <a:noFill/>
        </p:spPr>
        <p:txBody>
          <a:bodyPr wrap="square" rtlCol="1">
            <a:spAutoFit/>
          </a:bodyPr>
          <a:lstStyle/>
          <a:p>
            <a:r>
              <a:rPr lang="en-US" sz="3600" b="1" dirty="0">
                <a:solidFill>
                  <a:srgbClr val="FFFF00"/>
                </a:solidFill>
                <a:cs typeface="Yekan Bakh FaNum" panose="00000500000000000000" pitchFamily="2" charset="-78"/>
              </a:rPr>
              <a:t>Business Model</a:t>
            </a:r>
            <a:endParaRPr lang="fa-IR" sz="3600" b="1" dirty="0">
              <a:solidFill>
                <a:srgbClr val="FFFF00"/>
              </a:solidFill>
              <a:cs typeface="Yekan Bakh FaNum" panose="00000500000000000000" pitchFamily="2" charset="-78"/>
            </a:endParaRPr>
          </a:p>
        </p:txBody>
      </p:sp>
    </p:spTree>
    <p:extLst>
      <p:ext uri="{BB962C8B-B14F-4D97-AF65-F5344CB8AC3E}">
        <p14:creationId xmlns:p14="http://schemas.microsoft.com/office/powerpoint/2010/main" val="2741868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1"/>
                                        </p:tgtEl>
                                        <p:attrNameLst>
                                          <p:attrName>style.visibility</p:attrName>
                                        </p:attrNameLst>
                                      </p:cBhvr>
                                      <p:to>
                                        <p:strVal val="visible"/>
                                      </p:to>
                                    </p:set>
                                    <p:animEffect transition="in" filter="fade">
                                      <p:cBhvr>
                                        <p:cTn id="7" dur="250"/>
                                        <p:tgtEl>
                                          <p:spTgt spid="201"/>
                                        </p:tgtEl>
                                      </p:cBhvr>
                                    </p:animEffect>
                                  </p:childTnLst>
                                </p:cTn>
                              </p:par>
                              <p:par>
                                <p:cTn id="8" presetID="10" presetClass="entr" presetSubtype="0" fill="hold" nodeType="withEffect">
                                  <p:stCondLst>
                                    <p:cond delay="250"/>
                                  </p:stCondLst>
                                  <p:childTnLst>
                                    <p:set>
                                      <p:cBhvr>
                                        <p:cTn id="9" dur="1" fill="hold">
                                          <p:stCondLst>
                                            <p:cond delay="0"/>
                                          </p:stCondLst>
                                        </p:cTn>
                                        <p:tgtEl>
                                          <p:spTgt spid="216"/>
                                        </p:tgtEl>
                                        <p:attrNameLst>
                                          <p:attrName>style.visibility</p:attrName>
                                        </p:attrNameLst>
                                      </p:cBhvr>
                                      <p:to>
                                        <p:strVal val="visible"/>
                                      </p:to>
                                    </p:set>
                                    <p:animEffect transition="in" filter="fade">
                                      <p:cBhvr>
                                        <p:cTn id="10" dur="250"/>
                                        <p:tgtEl>
                                          <p:spTgt spid="216"/>
                                        </p:tgtEl>
                                      </p:cBhvr>
                                    </p:animEffect>
                                  </p:childTnLst>
                                </p:cTn>
                              </p:par>
                              <p:par>
                                <p:cTn id="11" presetID="10" presetClass="entr" presetSubtype="0" fill="hold" nodeType="withEffect">
                                  <p:stCondLst>
                                    <p:cond delay="500"/>
                                  </p:stCondLst>
                                  <p:childTnLst>
                                    <p:set>
                                      <p:cBhvr>
                                        <p:cTn id="12" dur="1" fill="hold">
                                          <p:stCondLst>
                                            <p:cond delay="0"/>
                                          </p:stCondLst>
                                        </p:cTn>
                                        <p:tgtEl>
                                          <p:spTgt spid="222"/>
                                        </p:tgtEl>
                                        <p:attrNameLst>
                                          <p:attrName>style.visibility</p:attrName>
                                        </p:attrNameLst>
                                      </p:cBhvr>
                                      <p:to>
                                        <p:strVal val="visible"/>
                                      </p:to>
                                    </p:set>
                                    <p:animEffect transition="in" filter="fade">
                                      <p:cBhvr>
                                        <p:cTn id="13" dur="250"/>
                                        <p:tgtEl>
                                          <p:spTgt spid="222"/>
                                        </p:tgtEl>
                                      </p:cBhvr>
                                    </p:animEffect>
                                  </p:childTnLst>
                                </p:cTn>
                              </p:par>
                              <p:par>
                                <p:cTn id="14" presetID="10" presetClass="entr" presetSubtype="0" fill="hold" nodeType="withEffect">
                                  <p:stCondLst>
                                    <p:cond delay="750"/>
                                  </p:stCondLst>
                                  <p:childTnLst>
                                    <p:set>
                                      <p:cBhvr>
                                        <p:cTn id="15" dur="1" fill="hold">
                                          <p:stCondLst>
                                            <p:cond delay="0"/>
                                          </p:stCondLst>
                                        </p:cTn>
                                        <p:tgtEl>
                                          <p:spTgt spid="204"/>
                                        </p:tgtEl>
                                        <p:attrNameLst>
                                          <p:attrName>style.visibility</p:attrName>
                                        </p:attrNameLst>
                                      </p:cBhvr>
                                      <p:to>
                                        <p:strVal val="visible"/>
                                      </p:to>
                                    </p:set>
                                    <p:animEffect transition="in" filter="fade">
                                      <p:cBhvr>
                                        <p:cTn id="16" dur="250"/>
                                        <p:tgtEl>
                                          <p:spTgt spid="204"/>
                                        </p:tgtEl>
                                      </p:cBhvr>
                                    </p:animEffect>
                                  </p:childTnLst>
                                </p:cTn>
                              </p:par>
                              <p:par>
                                <p:cTn id="17" presetID="10" presetClass="entr" presetSubtype="0" fill="hold" nodeType="withEffect">
                                  <p:stCondLst>
                                    <p:cond delay="1000"/>
                                  </p:stCondLst>
                                  <p:childTnLst>
                                    <p:set>
                                      <p:cBhvr>
                                        <p:cTn id="18" dur="1" fill="hold">
                                          <p:stCondLst>
                                            <p:cond delay="0"/>
                                          </p:stCondLst>
                                        </p:cTn>
                                        <p:tgtEl>
                                          <p:spTgt spid="213"/>
                                        </p:tgtEl>
                                        <p:attrNameLst>
                                          <p:attrName>style.visibility</p:attrName>
                                        </p:attrNameLst>
                                      </p:cBhvr>
                                      <p:to>
                                        <p:strVal val="visible"/>
                                      </p:to>
                                    </p:set>
                                    <p:animEffect transition="in" filter="fade">
                                      <p:cBhvr>
                                        <p:cTn id="19" dur="250"/>
                                        <p:tgtEl>
                                          <p:spTgt spid="213"/>
                                        </p:tgtEl>
                                      </p:cBhvr>
                                    </p:animEffect>
                                  </p:childTnLst>
                                </p:cTn>
                              </p:par>
                              <p:par>
                                <p:cTn id="20" presetID="10" presetClass="entr" presetSubtype="0" fill="hold" nodeType="withEffect">
                                  <p:stCondLst>
                                    <p:cond delay="1250"/>
                                  </p:stCondLst>
                                  <p:childTnLst>
                                    <p:set>
                                      <p:cBhvr>
                                        <p:cTn id="21" dur="1" fill="hold">
                                          <p:stCondLst>
                                            <p:cond delay="0"/>
                                          </p:stCondLst>
                                        </p:cTn>
                                        <p:tgtEl>
                                          <p:spTgt spid="219"/>
                                        </p:tgtEl>
                                        <p:attrNameLst>
                                          <p:attrName>style.visibility</p:attrName>
                                        </p:attrNameLst>
                                      </p:cBhvr>
                                      <p:to>
                                        <p:strVal val="visible"/>
                                      </p:to>
                                    </p:set>
                                    <p:animEffect transition="in" filter="fade">
                                      <p:cBhvr>
                                        <p:cTn id="22" dur="500"/>
                                        <p:tgtEl>
                                          <p:spTgt spid="219"/>
                                        </p:tgtEl>
                                      </p:cBhvr>
                                    </p:animEffect>
                                  </p:childTnLst>
                                </p:cTn>
                              </p:par>
                              <p:par>
                                <p:cTn id="23" presetID="10" presetClass="entr" presetSubtype="0" fill="hold" nodeType="withEffect">
                                  <p:stCondLst>
                                    <p:cond delay="1500"/>
                                  </p:stCondLst>
                                  <p:childTnLst>
                                    <p:set>
                                      <p:cBhvr>
                                        <p:cTn id="24" dur="1" fill="hold">
                                          <p:stCondLst>
                                            <p:cond delay="0"/>
                                          </p:stCondLst>
                                        </p:cTn>
                                        <p:tgtEl>
                                          <p:spTgt spid="198"/>
                                        </p:tgtEl>
                                        <p:attrNameLst>
                                          <p:attrName>style.visibility</p:attrName>
                                        </p:attrNameLst>
                                      </p:cBhvr>
                                      <p:to>
                                        <p:strVal val="visible"/>
                                      </p:to>
                                    </p:set>
                                    <p:animEffect transition="in" filter="fade">
                                      <p:cBhvr>
                                        <p:cTn id="25" dur="500"/>
                                        <p:tgtEl>
                                          <p:spTgt spid="198"/>
                                        </p:tgtEl>
                                      </p:cBhvr>
                                    </p:animEffect>
                                  </p:childTnLst>
                                </p:cTn>
                              </p:par>
                              <p:par>
                                <p:cTn id="26" presetID="10" presetClass="entr" presetSubtype="0" fill="hold" nodeType="withEffect">
                                  <p:stCondLst>
                                    <p:cond delay="1750"/>
                                  </p:stCondLst>
                                  <p:childTnLst>
                                    <p:set>
                                      <p:cBhvr>
                                        <p:cTn id="27" dur="1" fill="hold">
                                          <p:stCondLst>
                                            <p:cond delay="0"/>
                                          </p:stCondLst>
                                        </p:cTn>
                                        <p:tgtEl>
                                          <p:spTgt spid="210"/>
                                        </p:tgtEl>
                                        <p:attrNameLst>
                                          <p:attrName>style.visibility</p:attrName>
                                        </p:attrNameLst>
                                      </p:cBhvr>
                                      <p:to>
                                        <p:strVal val="visible"/>
                                      </p:to>
                                    </p:set>
                                    <p:animEffect transition="in" filter="fade">
                                      <p:cBhvr>
                                        <p:cTn id="28" dur="250"/>
                                        <p:tgtEl>
                                          <p:spTgt spid="210"/>
                                        </p:tgtEl>
                                      </p:cBhvr>
                                    </p:animEffect>
                                  </p:childTnLst>
                                </p:cTn>
                              </p:par>
                              <p:par>
                                <p:cTn id="29" presetID="10" presetClass="entr" presetSubtype="0" fill="hold" nodeType="withEffect">
                                  <p:stCondLst>
                                    <p:cond delay="2000"/>
                                  </p:stCondLst>
                                  <p:childTnLst>
                                    <p:set>
                                      <p:cBhvr>
                                        <p:cTn id="30" dur="1" fill="hold">
                                          <p:stCondLst>
                                            <p:cond delay="0"/>
                                          </p:stCondLst>
                                        </p:cTn>
                                        <p:tgtEl>
                                          <p:spTgt spid="207"/>
                                        </p:tgtEl>
                                        <p:attrNameLst>
                                          <p:attrName>style.visibility</p:attrName>
                                        </p:attrNameLst>
                                      </p:cBhvr>
                                      <p:to>
                                        <p:strVal val="visible"/>
                                      </p:to>
                                    </p:set>
                                    <p:animEffect transition="in" filter="fade">
                                      <p:cBhvr>
                                        <p:cTn id="31" dur="500"/>
                                        <p:tgtEl>
                                          <p:spTgt spid="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C21B98A8-0187-B499-4494-27AF5A9ADCBB}"/>
              </a:ext>
            </a:extLst>
          </p:cNvPr>
          <p:cNvSpPr txBox="1"/>
          <p:nvPr/>
        </p:nvSpPr>
        <p:spPr>
          <a:xfrm>
            <a:off x="838483" y="2629064"/>
            <a:ext cx="6726521" cy="1015663"/>
          </a:xfrm>
          <a:prstGeom prst="rect">
            <a:avLst/>
          </a:prstGeom>
          <a:noFill/>
        </p:spPr>
        <p:txBody>
          <a:bodyPr wrap="none" rtlCol="0">
            <a:spAutoFit/>
          </a:bodyPr>
          <a:lstStyle/>
          <a:p>
            <a:r>
              <a:rPr lang="fa-IR" sz="6000" b="1" dirty="0">
                <a:solidFill>
                  <a:srgbClr val="FFFF00"/>
                </a:solidFill>
                <a:latin typeface="Yekan Bakh FaNum" panose="00000500000000000000" pitchFamily="2" charset="-78"/>
                <a:cs typeface="Yekan Bakh FaNum" panose="00000500000000000000" pitchFamily="2" charset="-78"/>
              </a:rPr>
              <a:t>از تماشا شما ممنونم</a:t>
            </a:r>
            <a:endParaRPr lang="en-US" sz="6000" b="1" dirty="0">
              <a:solidFill>
                <a:srgbClr val="FFFF00"/>
              </a:solidFill>
              <a:latin typeface="Yekan Bakh FaNum" panose="00000500000000000000" pitchFamily="2" charset="-78"/>
              <a:cs typeface="Yekan Bakh FaNum" panose="00000500000000000000" pitchFamily="2" charset="-78"/>
            </a:endParaRPr>
          </a:p>
        </p:txBody>
      </p:sp>
      <p:grpSp>
        <p:nvGrpSpPr>
          <p:cNvPr id="29" name="Group 3">
            <a:extLst>
              <a:ext uri="{FF2B5EF4-FFF2-40B4-BE49-F238E27FC236}">
                <a16:creationId xmlns:a16="http://schemas.microsoft.com/office/drawing/2014/main" id="{9BB15BB6-B7B4-1321-5F0B-8207114C742C}"/>
              </a:ext>
            </a:extLst>
          </p:cNvPr>
          <p:cNvGrpSpPr/>
          <p:nvPr/>
        </p:nvGrpSpPr>
        <p:grpSpPr>
          <a:xfrm>
            <a:off x="6979721" y="578921"/>
            <a:ext cx="7650679" cy="7650679"/>
            <a:chOff x="0" y="0"/>
            <a:chExt cx="3331210" cy="3331210"/>
          </a:xfrm>
        </p:grpSpPr>
        <p:sp>
          <p:nvSpPr>
            <p:cNvPr id="30" name="Freeform 4">
              <a:extLst>
                <a:ext uri="{FF2B5EF4-FFF2-40B4-BE49-F238E27FC236}">
                  <a16:creationId xmlns:a16="http://schemas.microsoft.com/office/drawing/2014/main" id="{71FCBF8A-61F9-90B1-BC4B-08F4E074E74C}"/>
                </a:ext>
              </a:extLst>
            </p:cNvPr>
            <p:cNvSpPr/>
            <p:nvPr/>
          </p:nvSpPr>
          <p:spPr>
            <a:xfrm>
              <a:off x="0" y="0"/>
              <a:ext cx="3331210" cy="3331210"/>
            </a:xfrm>
            <a:custGeom>
              <a:avLst/>
              <a:gdLst/>
              <a:ahLst/>
              <a:cxnLst/>
              <a:rect l="l" t="t" r="r" b="b"/>
              <a:pathLst>
                <a:path w="3331210" h="3331210">
                  <a:moveTo>
                    <a:pt x="3331210" y="3331210"/>
                  </a:moveTo>
                  <a:lnTo>
                    <a:pt x="0" y="3331210"/>
                  </a:lnTo>
                  <a:cubicBezTo>
                    <a:pt x="0" y="1490980"/>
                    <a:pt x="1490980" y="0"/>
                    <a:pt x="3331210" y="0"/>
                  </a:cubicBezTo>
                  <a:lnTo>
                    <a:pt x="3331210" y="3331210"/>
                  </a:lnTo>
                  <a:close/>
                </a:path>
              </a:pathLst>
            </a:custGeom>
            <a:blipFill>
              <a:blip r:embed="rId3"/>
              <a:stretch>
                <a:fillRect l="-25000" r="-25000"/>
              </a:stretch>
            </a:blipFill>
          </p:spPr>
        </p:sp>
      </p:grpSp>
      <p:sp>
        <p:nvSpPr>
          <p:cNvPr id="38" name="TextBox 37">
            <a:extLst>
              <a:ext uri="{FF2B5EF4-FFF2-40B4-BE49-F238E27FC236}">
                <a16:creationId xmlns:a16="http://schemas.microsoft.com/office/drawing/2014/main" id="{E600E913-4725-0CDA-A173-AB53762FDCF9}"/>
              </a:ext>
            </a:extLst>
          </p:cNvPr>
          <p:cNvSpPr txBox="1"/>
          <p:nvPr/>
        </p:nvSpPr>
        <p:spPr>
          <a:xfrm>
            <a:off x="-635619" y="4986000"/>
            <a:ext cx="7315200" cy="675185"/>
          </a:xfrm>
          <a:prstGeom prst="rect">
            <a:avLst/>
          </a:prstGeom>
          <a:noFill/>
        </p:spPr>
        <p:txBody>
          <a:bodyPr wrap="square">
            <a:spAutoFit/>
          </a:bodyPr>
          <a:lstStyle/>
          <a:p>
            <a:pPr marL="0" lvl="0" indent="0" algn="r">
              <a:lnSpc>
                <a:spcPts val="5099"/>
              </a:lnSpc>
              <a:spcBef>
                <a:spcPct val="0"/>
              </a:spcBef>
            </a:pPr>
            <a:r>
              <a:rPr lang="fa-IR" sz="2400" b="1" dirty="0">
                <a:solidFill>
                  <a:schemeClr val="bg1"/>
                </a:solidFill>
                <a:latin typeface="Yekan Bakh FaNum" panose="00000500000000000000" pitchFamily="2" charset="-78"/>
                <a:ea typeface="DM Sans Bold"/>
                <a:cs typeface="Yekan Bakh FaNum" panose="00000500000000000000" pitchFamily="2" charset="-78"/>
                <a:sym typeface="DM Sans Bold"/>
              </a:rPr>
              <a:t>راه های ارتباطی :</a:t>
            </a:r>
            <a:endParaRPr lang="en-US" sz="2400" b="1" dirty="0">
              <a:solidFill>
                <a:schemeClr val="bg1"/>
              </a:solidFill>
              <a:latin typeface="Yekan Bakh FaNum" panose="00000500000000000000" pitchFamily="2" charset="-78"/>
              <a:ea typeface="DM Sans Bold"/>
              <a:cs typeface="Yekan Bakh FaNum" panose="00000500000000000000" pitchFamily="2" charset="-78"/>
              <a:sym typeface="DM Sans Bold"/>
            </a:endParaRPr>
          </a:p>
        </p:txBody>
      </p:sp>
      <p:sp>
        <p:nvSpPr>
          <p:cNvPr id="41" name="Freeform 7">
            <a:extLst>
              <a:ext uri="{FF2B5EF4-FFF2-40B4-BE49-F238E27FC236}">
                <a16:creationId xmlns:a16="http://schemas.microsoft.com/office/drawing/2014/main" id="{2AEA9FD3-CF7D-CDBB-7E7B-59809652C0F3}"/>
              </a:ext>
            </a:extLst>
          </p:cNvPr>
          <p:cNvSpPr/>
          <p:nvPr/>
        </p:nvSpPr>
        <p:spPr>
          <a:xfrm>
            <a:off x="6208958" y="5752641"/>
            <a:ext cx="512064" cy="508770"/>
          </a:xfrm>
          <a:custGeom>
            <a:avLst/>
            <a:gdLst/>
            <a:ahLst/>
            <a:cxnLst/>
            <a:rect l="l" t="t" r="r" b="b"/>
            <a:pathLst>
              <a:path w="682497" h="682497">
                <a:moveTo>
                  <a:pt x="0" y="0"/>
                </a:moveTo>
                <a:lnTo>
                  <a:pt x="682497" y="0"/>
                </a:lnTo>
                <a:lnTo>
                  <a:pt x="682497" y="682497"/>
                </a:lnTo>
                <a:lnTo>
                  <a:pt x="0" y="6824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3" name="TextBox 42">
            <a:extLst>
              <a:ext uri="{FF2B5EF4-FFF2-40B4-BE49-F238E27FC236}">
                <a16:creationId xmlns:a16="http://schemas.microsoft.com/office/drawing/2014/main" id="{33A58305-2F85-51A9-0A04-F2880952A88D}"/>
              </a:ext>
            </a:extLst>
          </p:cNvPr>
          <p:cNvSpPr txBox="1"/>
          <p:nvPr/>
        </p:nvSpPr>
        <p:spPr>
          <a:xfrm>
            <a:off x="2863076" y="5718635"/>
            <a:ext cx="3481968" cy="485326"/>
          </a:xfrm>
          <a:prstGeom prst="rect">
            <a:avLst/>
          </a:prstGeom>
          <a:noFill/>
        </p:spPr>
        <p:txBody>
          <a:bodyPr wrap="square">
            <a:spAutoFit/>
          </a:bodyPr>
          <a:lstStyle/>
          <a:p>
            <a:pPr marL="0" lvl="0" indent="0" algn="l">
              <a:lnSpc>
                <a:spcPts val="3449"/>
              </a:lnSpc>
              <a:spcBef>
                <a:spcPct val="0"/>
              </a:spcBef>
            </a:pPr>
            <a:r>
              <a:rPr lang="en-US" sz="1800" spc="143" dirty="0">
                <a:solidFill>
                  <a:srgbClr val="FFFBFB"/>
                </a:solidFill>
                <a:latin typeface="DM Sans"/>
                <a:ea typeface="DM Sans"/>
                <a:cs typeface="DM Sans"/>
                <a:sym typeface="DM Sans"/>
              </a:rPr>
              <a:t>5farzinhamzei@gmail.com</a:t>
            </a:r>
          </a:p>
        </p:txBody>
      </p:sp>
      <p:pic>
        <p:nvPicPr>
          <p:cNvPr id="44" name="Graphic 43">
            <a:extLst>
              <a:ext uri="{FF2B5EF4-FFF2-40B4-BE49-F238E27FC236}">
                <a16:creationId xmlns:a16="http://schemas.microsoft.com/office/drawing/2014/main" id="{326470A4-541C-AF17-88E4-7B649C18486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15190" y="538677"/>
            <a:ext cx="914400" cy="914400"/>
          </a:xfrm>
          <a:prstGeom prst="rect">
            <a:avLst/>
          </a:prstGeom>
        </p:spPr>
      </p:pic>
      <p:sp>
        <p:nvSpPr>
          <p:cNvPr id="45" name="TextBox 44">
            <a:extLst>
              <a:ext uri="{FF2B5EF4-FFF2-40B4-BE49-F238E27FC236}">
                <a16:creationId xmlns:a16="http://schemas.microsoft.com/office/drawing/2014/main" id="{68D73C59-6A08-FEF0-BBBB-AA5A039B5485}"/>
              </a:ext>
            </a:extLst>
          </p:cNvPr>
          <p:cNvSpPr txBox="1"/>
          <p:nvPr/>
        </p:nvSpPr>
        <p:spPr>
          <a:xfrm>
            <a:off x="2863076" y="470637"/>
            <a:ext cx="2677336" cy="769441"/>
          </a:xfrm>
          <a:prstGeom prst="rect">
            <a:avLst/>
          </a:prstGeom>
          <a:noFill/>
        </p:spPr>
        <p:txBody>
          <a:bodyPr wrap="none" rtlCol="0">
            <a:spAutoFit/>
          </a:bodyPr>
          <a:lstStyle/>
          <a:p>
            <a:pPr algn="r" rtl="1"/>
            <a:r>
              <a:rPr lang="fa-IR" sz="4400" b="1" dirty="0">
                <a:solidFill>
                  <a:srgbClr val="FFFF00"/>
                </a:solidFill>
                <a:effectLst>
                  <a:outerShdw blurRad="38100" dist="38100" dir="2700000" algn="tl">
                    <a:srgbClr val="000000">
                      <a:alpha val="43137"/>
                    </a:srgbClr>
                  </a:outerShdw>
                </a:effectLst>
                <a:latin typeface="Yekan Bakh FaNum" panose="00000500000000000000" pitchFamily="2" charset="-78"/>
                <a:cs typeface="Yekan Bakh FaNum" panose="00000500000000000000" pitchFamily="2" charset="-78"/>
              </a:rPr>
              <a:t> باشگاه یار</a:t>
            </a:r>
            <a:endParaRPr lang="en-US" sz="4400" b="1" dirty="0">
              <a:solidFill>
                <a:srgbClr val="FFFF00"/>
              </a:solidFill>
              <a:effectLst>
                <a:outerShdw blurRad="38100" dist="38100" dir="2700000" algn="tl">
                  <a:srgbClr val="000000">
                    <a:alpha val="43137"/>
                  </a:srgbClr>
                </a:outerShdw>
              </a:effectLst>
              <a:latin typeface="Yekan Bakh FaNum" panose="00000500000000000000" pitchFamily="2" charset="-78"/>
              <a:cs typeface="Yekan Bakh FaNum" panose="00000500000000000000" pitchFamily="2" charset="-78"/>
            </a:endParaRPr>
          </a:p>
        </p:txBody>
      </p:sp>
      <p:sp>
        <p:nvSpPr>
          <p:cNvPr id="46" name="TextBox 45">
            <a:extLst>
              <a:ext uri="{FF2B5EF4-FFF2-40B4-BE49-F238E27FC236}">
                <a16:creationId xmlns:a16="http://schemas.microsoft.com/office/drawing/2014/main" id="{505AA91E-B9D2-12E2-1BD9-331A6DD79679}"/>
              </a:ext>
            </a:extLst>
          </p:cNvPr>
          <p:cNvSpPr txBox="1"/>
          <p:nvPr/>
        </p:nvSpPr>
        <p:spPr>
          <a:xfrm>
            <a:off x="3088298" y="1175397"/>
            <a:ext cx="2226892" cy="276999"/>
          </a:xfrm>
          <a:prstGeom prst="rect">
            <a:avLst/>
          </a:prstGeom>
          <a:noFill/>
        </p:spPr>
        <p:txBody>
          <a:bodyPr wrap="none" rtlCol="0">
            <a:spAutoFit/>
          </a:bodyPr>
          <a:lstStyle/>
          <a:p>
            <a:r>
              <a:rPr lang="fa-IR" sz="1200" dirty="0">
                <a:solidFill>
                  <a:srgbClr val="FFFF00"/>
                </a:solidFill>
                <a:latin typeface="Yekan Bakh FaNum" panose="00000500000000000000" pitchFamily="2" charset="-78"/>
                <a:cs typeface="Yekan Bakh FaNum" panose="00000500000000000000" pitchFamily="2" charset="-78"/>
              </a:rPr>
              <a:t>باشگاه هوشمند؛ همیشه آنلاین</a:t>
            </a:r>
            <a:endParaRPr lang="en-US" sz="1200" dirty="0">
              <a:solidFill>
                <a:srgbClr val="FFFF00"/>
              </a:solidFill>
              <a:latin typeface="Yekan Bakh FaNum" panose="00000500000000000000" pitchFamily="2" charset="-78"/>
              <a:cs typeface="Yekan Bakh FaNum" panose="00000500000000000000" pitchFamily="2" charset="-78"/>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202</TotalTime>
  <Words>1606</Words>
  <Application>Microsoft Office PowerPoint</Application>
  <PresentationFormat>Custom</PresentationFormat>
  <Paragraphs>138</Paragraphs>
  <Slides>13</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DM Sans Bold</vt:lpstr>
      <vt:lpstr>Yekan Bakh FaNum</vt:lpstr>
      <vt:lpstr>DM Sans</vt:lpstr>
      <vt:lpstr>Instrument Sans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Farzin Hamzehi</dc:creator>
  <cp:lastModifiedBy>Farzin Hamzehi</cp:lastModifiedBy>
  <cp:revision>2</cp:revision>
  <dcterms:created xsi:type="dcterms:W3CDTF">2025-09-06T21:44:36Z</dcterms:created>
  <dcterms:modified xsi:type="dcterms:W3CDTF">2025-09-07T05:43:08Z</dcterms:modified>
</cp:coreProperties>
</file>